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8314" autoAdjust="0"/>
  </p:normalViewPr>
  <p:slideViewPr>
    <p:cSldViewPr snapToGrid="0" snapToObjects="1">
      <p:cViewPr>
        <p:scale>
          <a:sx n="100" d="100"/>
          <a:sy n="100" d="100"/>
        </p:scale>
        <p:origin x="420" y="-2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82364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tous. Je vais vous présenter le travail réalisé dans le cadre du module Superviser et assurer le développement logiciel. On va parcourir ensemble comment j'ai structuré ce projet de A à Z, du processus qualité jusqu'au déploiement automatique en production.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présentation se découpe en trois parties. D'abord le processus qualité — comment on garantit que ce qu'on livre est bien fait. Ensuite la réalisation concrète du prototype. Et enfin l'analyse de sécurité avec un plan d'action.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Petite Maison de l'Epouvante est une société spécialisée dans le genre horrifique avec 10 ans d'existence. Le problème : leur SI est fragmenté et ils n'ont pas de vente en ligne. Ma mission en tant que Lead Dev : poser les bases d'une vraie plateforme numérique moderne.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Commençons par le processus qualité. Comment garantit-on qu'on livre un produit fiable ? C'est la question centrale de cette première partie.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sélectionné 4 indicateurs directement issus de la norme ISO 25010. Ce ne sont pas des métriques arbitraires — chacune est mesurée automatiquement dans le pipeline CI/CD. Si la couverture passe sous le seuil, le build échoue directement.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principe DevSecOps, c'est intégrer la sécurité à chaque étape plutôt qu'à la fin. Plan, Code, Build, Test, Deploy — à chaque phase, des outils automatiques vérifient que rien ne dérape. On appelle ça le Shift Left Security.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pipeline complet avec ses 11 jobs. Les blocs rouges sont les scans de sécurité, les verts les tests fonctionnels. Important à noter : les 3 jobs en bas — build, staging, production — tournent sur mon propre ordinateur grâce au self-hosted runner.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mener ce type de projet, il faut une équipe pluridisciplinaire couvrant 4 profils. La formation CKA pour le DevOps est particulièrement pertinente car Kubernetes est la prochaine étape d'infrastructure. C'est une certification reconnue, 100% en ligne, délivrée par la Linux Foundation.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Passons maintenant à la partie réalisation. Comment a-t-on concrètement traduit les besoins métier en code fonctionnel déployé ?</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d'écrire une seule ligne de code, on formalise les besoins sous forme de User Stories. Les 4 US couvrent les fonctionnalités clés : profil agrégé, authentification SSO, catalogue produits et notifications asynchrones. Toutes sont implémentées et couvertes par des tests.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L'architecture repose sur le pattern BFF, Backend For Frontend. Le client n'a qu'un seul point d'entrée qui agrège les réponses de plusieurs services. Le cache de 60 secondes évite de surcharger les services internes à chaque requête et améliore les performances.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technologie a été testée dans un bac à sable avant intégration. La difficulté principale : Apache mod_php ne transmet pas automatiquement les variables Docker à PHP. J'ai dû ajouter une directive SetEnv dans la configuration Apache pour contourner ce problème.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chiffres valident la qualité de la réalisation. 59 tests, zéro échec, 186 assertions. La couverture de classes dépasse 78%. Les tests k6 confirment des temps de réponse inférieurs à 200ms au 95e percentile. Trivy ne remonte aucune CVE critique sur l'image Docker.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Passons maintenant à l'analyse de sécurité. Un bon logiciel c'est aussi un logiciel sécurisé. Dans cette v1, j'ai identifié plusieurs points d'amélioration et proposé un plan d'action concret.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audité la v1 selon le référentiel OWASP Top 10. Résultat : 7 vulnérabilités identifiées dont 2 critiques. Le contrôle d'accès ouvert en développement et l'APP_SECRET potentiellement exposé sont les risques les plus sérieux à traiter en priorité.</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plan de remédiation est organisé en 3 sprints progressifs. En sprint 1, on traite l'essentiel : fermer le contrôle d'accès, sécuriser les secrets via GitHub Secrets, migrer vers PostgreSQL. Les sprints 2 et 3 adressent les vulnérabilités de niveau haute et basse.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v2, la sécurité devient proactive. HashiCorp Vault pour la gestion des secrets avec rotation automatique, OWASP ZAP intégré dans le pipeline pour les tests dynamiques, et Dependabot pour la surveillance continue des dépendances. On ne réagit plus, on anticipe.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 on a livré une application fonctionnelle avec un pipeline de 11 jobs, une architecture BFF éprouvée, et une analyse de sécurité complète. Les métriques sont au vert et les perspectives v2 sont clairement définies. C'est une base solide pour la suite.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Voilà, c'est la fin de cette présentation. Je suis disponible pour toutes vos questions. N'hésitez pas à demander une démonstration live — les environnements staging et production sont actifs sur ma machine en ce moment.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457200" cy="6858000"/>
          </a:xfrm>
          <a:prstGeom prst="rect">
            <a:avLst/>
          </a:prstGeom>
          <a:solidFill>
            <a:srgbClr val="C0392B"/>
          </a:solidFill>
          <a:ln/>
        </p:spPr>
        <p:txBody>
          <a:bodyPr/>
          <a:lstStyle/>
          <a:p>
            <a:endParaRPr lang="fr-FR"/>
          </a:p>
        </p:txBody>
      </p:sp>
      <p:sp>
        <p:nvSpPr>
          <p:cNvPr id="3" name="Text 1"/>
          <p:cNvSpPr/>
          <p:nvPr/>
        </p:nvSpPr>
        <p:spPr>
          <a:xfrm>
            <a:off x="731520" y="548640"/>
            <a:ext cx="10058400" cy="2926080"/>
          </a:xfrm>
          <a:prstGeom prst="rect">
            <a:avLst/>
          </a:prstGeom>
          <a:noFill/>
          <a:ln/>
        </p:spPr>
        <p:txBody>
          <a:bodyPr wrap="square" rtlCol="0" anchor="ctr"/>
          <a:lstStyle/>
          <a:p>
            <a:pPr marL="0" indent="0">
              <a:buNone/>
            </a:pPr>
            <a:r>
              <a:rPr lang="en-US" sz="4800" b="1" dirty="0">
                <a:solidFill>
                  <a:srgbClr val="F0F0F0"/>
                </a:solidFill>
                <a:latin typeface="Georgia" pitchFamily="34" charset="0"/>
                <a:ea typeface="Georgia" pitchFamily="34" charset="-122"/>
                <a:cs typeface="Georgia" pitchFamily="34" charset="-120"/>
              </a:rPr>
              <a:t>La Petite Maison</a:t>
            </a:r>
            <a:endParaRPr lang="en-US" sz="4800" dirty="0"/>
          </a:p>
          <a:p>
            <a:pPr marL="0" indent="0">
              <a:buNone/>
            </a:pPr>
            <a:r>
              <a:rPr lang="en-US" sz="4800" b="1" dirty="0">
                <a:solidFill>
                  <a:srgbClr val="F0F0F0"/>
                </a:solidFill>
                <a:latin typeface="Georgia" pitchFamily="34" charset="0"/>
                <a:ea typeface="Georgia" pitchFamily="34" charset="-122"/>
                <a:cs typeface="Georgia" pitchFamily="34" charset="-120"/>
              </a:rPr>
              <a:t>de l'Épouvante</a:t>
            </a:r>
            <a:endParaRPr lang="en-US" sz="4800" dirty="0"/>
          </a:p>
        </p:txBody>
      </p:sp>
      <p:sp>
        <p:nvSpPr>
          <p:cNvPr id="4" name="Text 2"/>
          <p:cNvSpPr/>
          <p:nvPr/>
        </p:nvSpPr>
        <p:spPr>
          <a:xfrm>
            <a:off x="731520" y="3474720"/>
            <a:ext cx="9144000" cy="640080"/>
          </a:xfrm>
          <a:prstGeom prst="rect">
            <a:avLst/>
          </a:prstGeom>
          <a:noFill/>
          <a:ln/>
        </p:spPr>
        <p:txBody>
          <a:bodyPr wrap="square" rtlCol="0" anchor="ctr"/>
          <a:lstStyle/>
          <a:p>
            <a:pPr marL="0" indent="0">
              <a:buNone/>
            </a:pPr>
            <a:r>
              <a:rPr lang="en-US" sz="1700" i="1" dirty="0">
                <a:solidFill>
                  <a:srgbClr val="888888"/>
                </a:solidFill>
                <a:latin typeface="Calibri" pitchFamily="34" charset="0"/>
                <a:ea typeface="Calibri" pitchFamily="34" charset="-122"/>
                <a:cs typeface="Calibri" pitchFamily="34" charset="-120"/>
              </a:rPr>
              <a:t>Superviser et assurer le développement des applications logicielles</a:t>
            </a:r>
            <a:endParaRPr lang="en-US" sz="1700" dirty="0"/>
          </a:p>
        </p:txBody>
      </p:sp>
      <p:sp>
        <p:nvSpPr>
          <p:cNvPr id="5" name="Shape 3"/>
          <p:cNvSpPr/>
          <p:nvPr/>
        </p:nvSpPr>
        <p:spPr>
          <a:xfrm>
            <a:off x="731520" y="4297680"/>
            <a:ext cx="5486400" cy="45720"/>
          </a:xfrm>
          <a:prstGeom prst="rect">
            <a:avLst/>
          </a:prstGeom>
          <a:solidFill>
            <a:srgbClr val="C0392B"/>
          </a:solidFill>
          <a:ln/>
        </p:spPr>
        <p:txBody>
          <a:bodyPr/>
          <a:lstStyle/>
          <a:p>
            <a:endParaRPr lang="fr-FR"/>
          </a:p>
        </p:txBody>
      </p:sp>
      <p:sp>
        <p:nvSpPr>
          <p:cNvPr id="6" name="Text 4"/>
          <p:cNvSpPr/>
          <p:nvPr/>
        </p:nvSpPr>
        <p:spPr>
          <a:xfrm>
            <a:off x="731520" y="4434840"/>
            <a:ext cx="7315200" cy="365760"/>
          </a:xfrm>
          <a:prstGeom prst="rect">
            <a:avLst/>
          </a:prstGeom>
          <a:noFill/>
          <a:ln/>
        </p:spPr>
        <p:txBody>
          <a:bodyPr wrap="square" rtlCol="0" anchor="ctr"/>
          <a:lstStyle/>
          <a:p>
            <a:pPr marL="0" indent="0">
              <a:buNone/>
            </a:pPr>
            <a:r>
              <a:rPr lang="en-US" sz="1300" dirty="0">
                <a:solidFill>
                  <a:srgbClr val="F39C12"/>
                </a:solidFill>
                <a:latin typeface="Calibri" pitchFamily="34" charset="0"/>
                <a:ea typeface="Calibri" pitchFamily="34" charset="-122"/>
                <a:cs typeface="Calibri" pitchFamily="34" charset="-120"/>
              </a:rPr>
              <a:t>POC v1  ·  Lead Developer  ·  Mars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10972800" cy="182880"/>
          </a:xfrm>
          <a:prstGeom prst="rect">
            <a:avLst/>
          </a:prstGeom>
          <a:noFill/>
          <a:ln/>
        </p:spPr>
        <p:txBody>
          <a:bodyPr wrap="square" rtlCol="0" anchor="ctr"/>
          <a:lstStyle/>
          <a:p>
            <a:pPr marL="0" indent="0">
              <a:buNone/>
            </a:pPr>
            <a:r>
              <a:rPr lang="en-US" sz="800" dirty="0">
                <a:solidFill>
                  <a:srgbClr val="888888"/>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Shape 3"/>
          <p:cNvSpPr/>
          <p:nvPr/>
        </p:nvSpPr>
        <p:spPr>
          <a:xfrm>
            <a:off x="365760" y="1051560"/>
            <a:ext cx="2377440" cy="54864"/>
          </a:xfrm>
          <a:prstGeom prst="rect">
            <a:avLst/>
          </a:prstGeom>
          <a:solidFill>
            <a:srgbClr val="C0392B"/>
          </a:solidFill>
          <a:ln/>
        </p:spPr>
        <p:txBody>
          <a:bodyPr/>
          <a:lstStyle/>
          <a:p>
            <a:endParaRPr lang="fr-FR"/>
          </a:p>
        </p:txBody>
      </p:sp>
      <p:sp>
        <p:nvSpPr>
          <p:cNvPr id="6" name="Text 4"/>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PLAN DE LA PRÉSENTATION</a:t>
            </a:r>
            <a:endParaRPr lang="en-US" sz="1100" dirty="0"/>
          </a:p>
        </p:txBody>
      </p:sp>
      <p:sp>
        <p:nvSpPr>
          <p:cNvPr id="7" name="Text 5"/>
          <p:cNvSpPr/>
          <p:nvPr/>
        </p:nvSpPr>
        <p:spPr>
          <a:xfrm>
            <a:off x="365760" y="1280160"/>
            <a:ext cx="11430000" cy="822960"/>
          </a:xfrm>
          <a:prstGeom prst="rect">
            <a:avLst/>
          </a:prstGeom>
          <a:noFill/>
          <a:ln/>
        </p:spPr>
        <p:txBody>
          <a:bodyPr wrap="square" rtlCol="0" anchor="ctr"/>
          <a:lstStyle/>
          <a:p>
            <a:pPr marL="0" indent="0">
              <a:buNone/>
            </a:pPr>
            <a:r>
              <a:rPr lang="en-US" sz="3400" b="1" dirty="0">
                <a:solidFill>
                  <a:srgbClr val="F0F0F0"/>
                </a:solidFill>
                <a:latin typeface="Georgia" pitchFamily="34" charset="0"/>
                <a:ea typeface="Georgia" pitchFamily="34" charset="-122"/>
                <a:cs typeface="Georgia" pitchFamily="34" charset="-120"/>
              </a:rPr>
              <a:t>Sommaire</a:t>
            </a:r>
            <a:endParaRPr lang="en-US" sz="3400" dirty="0"/>
          </a:p>
        </p:txBody>
      </p:sp>
      <p:sp>
        <p:nvSpPr>
          <p:cNvPr id="8" name="Shape 6"/>
          <p:cNvSpPr/>
          <p:nvPr/>
        </p:nvSpPr>
        <p:spPr>
          <a:xfrm>
            <a:off x="365760" y="2743200"/>
            <a:ext cx="3657600" cy="3657600"/>
          </a:xfrm>
          <a:prstGeom prst="rect">
            <a:avLst/>
          </a:prstGeom>
          <a:solidFill>
            <a:srgbClr val="2E1A1A"/>
          </a:solidFill>
          <a:ln w="19050">
            <a:solidFill>
              <a:srgbClr val="C0392B"/>
            </a:solidFill>
            <a:prstDash val="solid"/>
          </a:ln>
        </p:spPr>
        <p:txBody>
          <a:bodyPr/>
          <a:lstStyle/>
          <a:p>
            <a:endParaRPr lang="fr-FR"/>
          </a:p>
        </p:txBody>
      </p:sp>
      <p:sp>
        <p:nvSpPr>
          <p:cNvPr id="9" name="Text 7"/>
          <p:cNvSpPr/>
          <p:nvPr/>
        </p:nvSpPr>
        <p:spPr>
          <a:xfrm>
            <a:off x="502920" y="2834640"/>
            <a:ext cx="731520" cy="594360"/>
          </a:xfrm>
          <a:prstGeom prst="rect">
            <a:avLst/>
          </a:prstGeom>
          <a:noFill/>
          <a:ln/>
        </p:spPr>
        <p:txBody>
          <a:bodyPr wrap="square" rtlCol="0" anchor="ctr"/>
          <a:lstStyle/>
          <a:p>
            <a:pPr marL="0" indent="0">
              <a:buNone/>
            </a:pPr>
            <a:r>
              <a:rPr lang="en-US" sz="2800" b="1" dirty="0">
                <a:solidFill>
                  <a:srgbClr val="E74C3C"/>
                </a:solidFill>
                <a:latin typeface="Georgia" pitchFamily="34" charset="0"/>
                <a:ea typeface="Georgia" pitchFamily="34" charset="-122"/>
                <a:cs typeface="Georgia" pitchFamily="34" charset="-120"/>
              </a:rPr>
              <a:t>01</a:t>
            </a:r>
            <a:endParaRPr lang="en-US" sz="2800" dirty="0"/>
          </a:p>
        </p:txBody>
      </p:sp>
      <p:sp>
        <p:nvSpPr>
          <p:cNvPr id="10" name="Text 8"/>
          <p:cNvSpPr/>
          <p:nvPr/>
        </p:nvSpPr>
        <p:spPr>
          <a:xfrm>
            <a:off x="502920" y="3429000"/>
            <a:ext cx="3383280" cy="548640"/>
          </a:xfrm>
          <a:prstGeom prst="rect">
            <a:avLst/>
          </a:prstGeom>
          <a:noFill/>
          <a:ln/>
        </p:spPr>
        <p:txBody>
          <a:bodyPr wrap="square" rtlCol="0" anchor="ctr"/>
          <a:lstStyle/>
          <a:p>
            <a:pPr marL="0" indent="0">
              <a:buNone/>
            </a:pPr>
            <a:r>
              <a:rPr lang="en-US" sz="1300" b="1" dirty="0">
                <a:solidFill>
                  <a:srgbClr val="F0F0F0"/>
                </a:solidFill>
                <a:latin typeface="Calibri" pitchFamily="34" charset="0"/>
                <a:ea typeface="Calibri" pitchFamily="34" charset="-122"/>
                <a:cs typeface="Calibri" pitchFamily="34" charset="-120"/>
              </a:rPr>
              <a:t>Processus Qualité</a:t>
            </a:r>
            <a:endParaRPr lang="en-US" sz="1300" dirty="0"/>
          </a:p>
        </p:txBody>
      </p:sp>
      <p:sp>
        <p:nvSpPr>
          <p:cNvPr id="11" name="Shape 9"/>
          <p:cNvSpPr/>
          <p:nvPr/>
        </p:nvSpPr>
        <p:spPr>
          <a:xfrm>
            <a:off x="502920" y="4023360"/>
            <a:ext cx="3200400" cy="36576"/>
          </a:xfrm>
          <a:prstGeom prst="rect">
            <a:avLst/>
          </a:prstGeom>
          <a:solidFill>
            <a:srgbClr val="C0392B"/>
          </a:solidFill>
          <a:ln/>
        </p:spPr>
        <p:txBody>
          <a:bodyPr/>
          <a:lstStyle/>
          <a:p>
            <a:endParaRPr lang="fr-FR"/>
          </a:p>
        </p:txBody>
      </p:sp>
      <p:sp>
        <p:nvSpPr>
          <p:cNvPr id="12" name="Text 10"/>
          <p:cNvSpPr/>
          <p:nvPr/>
        </p:nvSpPr>
        <p:spPr>
          <a:xfrm>
            <a:off x="548640" y="4114800"/>
            <a:ext cx="3291840" cy="457200"/>
          </a:xfrm>
          <a:prstGeom prst="rect">
            <a:avLst/>
          </a:prstGeom>
          <a:noFill/>
          <a:ln/>
        </p:spPr>
        <p:txBody>
          <a:bodyPr wrap="square" rtlCol="0" anchor="ctr"/>
          <a:lstStyle/>
          <a:p>
            <a:pPr marL="0" indent="0">
              <a:buNone/>
            </a:pPr>
            <a:r>
              <a:rPr lang="en-US" sz="1100" dirty="0">
                <a:solidFill>
                  <a:srgbClr val="888888"/>
                </a:solidFill>
                <a:latin typeface="Calibri" pitchFamily="34" charset="0"/>
                <a:ea typeface="Calibri" pitchFamily="34" charset="-122"/>
                <a:cs typeface="Calibri" pitchFamily="34" charset="-120"/>
              </a:rPr>
              <a:t>▸  4 métriques ISO 25010</a:t>
            </a:r>
            <a:endParaRPr lang="en-US" sz="1100" dirty="0"/>
          </a:p>
        </p:txBody>
      </p:sp>
      <p:sp>
        <p:nvSpPr>
          <p:cNvPr id="13" name="Text 11"/>
          <p:cNvSpPr/>
          <p:nvPr/>
        </p:nvSpPr>
        <p:spPr>
          <a:xfrm>
            <a:off x="548640" y="4636008"/>
            <a:ext cx="3291840" cy="457200"/>
          </a:xfrm>
          <a:prstGeom prst="rect">
            <a:avLst/>
          </a:prstGeom>
          <a:noFill/>
          <a:ln/>
        </p:spPr>
        <p:txBody>
          <a:bodyPr wrap="square" rtlCol="0" anchor="ctr"/>
          <a:lstStyle/>
          <a:p>
            <a:pPr marL="0" indent="0">
              <a:buNone/>
            </a:pPr>
            <a:r>
              <a:rPr lang="en-US" sz="1100" dirty="0">
                <a:solidFill>
                  <a:srgbClr val="888888"/>
                </a:solidFill>
                <a:latin typeface="Calibri" pitchFamily="34" charset="0"/>
                <a:ea typeface="Calibri" pitchFamily="34" charset="-122"/>
                <a:cs typeface="Calibri" pitchFamily="34" charset="-120"/>
              </a:rPr>
              <a:t>▸  Cycle de vie DevSecOps</a:t>
            </a:r>
            <a:endParaRPr lang="en-US" sz="1100" dirty="0"/>
          </a:p>
        </p:txBody>
      </p:sp>
      <p:sp>
        <p:nvSpPr>
          <p:cNvPr id="14" name="Text 12"/>
          <p:cNvSpPr/>
          <p:nvPr/>
        </p:nvSpPr>
        <p:spPr>
          <a:xfrm>
            <a:off x="548640" y="5157216"/>
            <a:ext cx="3291840" cy="457200"/>
          </a:xfrm>
          <a:prstGeom prst="rect">
            <a:avLst/>
          </a:prstGeom>
          <a:noFill/>
          <a:ln/>
        </p:spPr>
        <p:txBody>
          <a:bodyPr wrap="square" rtlCol="0" anchor="ctr"/>
          <a:lstStyle/>
          <a:p>
            <a:pPr marL="0" indent="0">
              <a:buNone/>
            </a:pPr>
            <a:r>
              <a:rPr lang="en-US" sz="1100" dirty="0">
                <a:solidFill>
                  <a:srgbClr val="888888"/>
                </a:solidFill>
                <a:latin typeface="Calibri" pitchFamily="34" charset="0"/>
                <a:ea typeface="Calibri" pitchFamily="34" charset="-122"/>
                <a:cs typeface="Calibri" pitchFamily="34" charset="-120"/>
              </a:rPr>
              <a:t>▸  Pipeline CI/CD détaillé</a:t>
            </a:r>
            <a:endParaRPr lang="en-US" sz="1100" dirty="0"/>
          </a:p>
        </p:txBody>
      </p:sp>
      <p:sp>
        <p:nvSpPr>
          <p:cNvPr id="15" name="Text 13"/>
          <p:cNvSpPr/>
          <p:nvPr/>
        </p:nvSpPr>
        <p:spPr>
          <a:xfrm>
            <a:off x="548640" y="5678424"/>
            <a:ext cx="3291840" cy="457200"/>
          </a:xfrm>
          <a:prstGeom prst="rect">
            <a:avLst/>
          </a:prstGeom>
          <a:noFill/>
          <a:ln/>
        </p:spPr>
        <p:txBody>
          <a:bodyPr wrap="square" rtlCol="0" anchor="ctr"/>
          <a:lstStyle/>
          <a:p>
            <a:pPr marL="0" indent="0">
              <a:buNone/>
            </a:pPr>
            <a:r>
              <a:rPr lang="en-US" sz="1100" dirty="0">
                <a:solidFill>
                  <a:srgbClr val="888888"/>
                </a:solidFill>
                <a:latin typeface="Calibri" pitchFamily="34" charset="0"/>
                <a:ea typeface="Calibri" pitchFamily="34" charset="-122"/>
                <a:cs typeface="Calibri" pitchFamily="34" charset="-120"/>
              </a:rPr>
              <a:t>▸  Compétences &amp; formation</a:t>
            </a:r>
            <a:endParaRPr lang="en-US" sz="1100" dirty="0"/>
          </a:p>
        </p:txBody>
      </p:sp>
      <p:sp>
        <p:nvSpPr>
          <p:cNvPr id="16" name="Shape 14"/>
          <p:cNvSpPr/>
          <p:nvPr/>
        </p:nvSpPr>
        <p:spPr>
          <a:xfrm>
            <a:off x="4297680" y="2743200"/>
            <a:ext cx="3657600" cy="3657600"/>
          </a:xfrm>
          <a:prstGeom prst="rect">
            <a:avLst/>
          </a:prstGeom>
          <a:solidFill>
            <a:srgbClr val="1A1A2E"/>
          </a:solidFill>
          <a:ln w="19050">
            <a:solidFill>
              <a:srgbClr val="C0392B"/>
            </a:solidFill>
            <a:prstDash val="solid"/>
          </a:ln>
        </p:spPr>
        <p:txBody>
          <a:bodyPr/>
          <a:lstStyle/>
          <a:p>
            <a:endParaRPr lang="fr-FR"/>
          </a:p>
        </p:txBody>
      </p:sp>
      <p:sp>
        <p:nvSpPr>
          <p:cNvPr id="17" name="Text 15"/>
          <p:cNvSpPr/>
          <p:nvPr/>
        </p:nvSpPr>
        <p:spPr>
          <a:xfrm>
            <a:off x="4434840" y="2834640"/>
            <a:ext cx="731520" cy="594360"/>
          </a:xfrm>
          <a:prstGeom prst="rect">
            <a:avLst/>
          </a:prstGeom>
          <a:noFill/>
          <a:ln/>
        </p:spPr>
        <p:txBody>
          <a:bodyPr wrap="square" rtlCol="0" anchor="ctr"/>
          <a:lstStyle/>
          <a:p>
            <a:pPr marL="0" indent="0">
              <a:buNone/>
            </a:pPr>
            <a:r>
              <a:rPr lang="en-US" sz="2800" b="1" dirty="0">
                <a:solidFill>
                  <a:srgbClr val="E74C3C"/>
                </a:solidFill>
                <a:latin typeface="Georgia" pitchFamily="34" charset="0"/>
                <a:ea typeface="Georgia" pitchFamily="34" charset="-122"/>
                <a:cs typeface="Georgia" pitchFamily="34" charset="-120"/>
              </a:rPr>
              <a:t>02</a:t>
            </a:r>
            <a:endParaRPr lang="en-US" sz="2800" dirty="0"/>
          </a:p>
        </p:txBody>
      </p:sp>
      <p:sp>
        <p:nvSpPr>
          <p:cNvPr id="18" name="Text 16"/>
          <p:cNvSpPr/>
          <p:nvPr/>
        </p:nvSpPr>
        <p:spPr>
          <a:xfrm>
            <a:off x="4434840" y="3429000"/>
            <a:ext cx="3383280" cy="548640"/>
          </a:xfrm>
          <a:prstGeom prst="rect">
            <a:avLst/>
          </a:prstGeom>
          <a:noFill/>
          <a:ln/>
        </p:spPr>
        <p:txBody>
          <a:bodyPr wrap="square" rtlCol="0" anchor="ctr"/>
          <a:lstStyle/>
          <a:p>
            <a:pPr marL="0" indent="0">
              <a:buNone/>
            </a:pPr>
            <a:r>
              <a:rPr lang="en-US" sz="1300" b="1" dirty="0">
                <a:solidFill>
                  <a:srgbClr val="F0F0F0"/>
                </a:solidFill>
                <a:latin typeface="Calibri" pitchFamily="34" charset="0"/>
                <a:ea typeface="Calibri" pitchFamily="34" charset="-122"/>
                <a:cs typeface="Calibri" pitchFamily="34" charset="-120"/>
              </a:rPr>
              <a:t>Développement &amp; Déploiement</a:t>
            </a:r>
            <a:endParaRPr lang="en-US" sz="1300" dirty="0"/>
          </a:p>
        </p:txBody>
      </p:sp>
      <p:sp>
        <p:nvSpPr>
          <p:cNvPr id="19" name="Shape 17"/>
          <p:cNvSpPr/>
          <p:nvPr/>
        </p:nvSpPr>
        <p:spPr>
          <a:xfrm>
            <a:off x="4434840" y="4023360"/>
            <a:ext cx="3200400" cy="36576"/>
          </a:xfrm>
          <a:prstGeom prst="rect">
            <a:avLst/>
          </a:prstGeom>
          <a:solidFill>
            <a:srgbClr val="C0392B"/>
          </a:solidFill>
          <a:ln/>
        </p:spPr>
        <p:txBody>
          <a:bodyPr/>
          <a:lstStyle/>
          <a:p>
            <a:endParaRPr lang="fr-FR"/>
          </a:p>
        </p:txBody>
      </p:sp>
      <p:sp>
        <p:nvSpPr>
          <p:cNvPr id="20" name="Text 18"/>
          <p:cNvSpPr/>
          <p:nvPr/>
        </p:nvSpPr>
        <p:spPr>
          <a:xfrm>
            <a:off x="4480560" y="4114800"/>
            <a:ext cx="3291840" cy="457200"/>
          </a:xfrm>
          <a:prstGeom prst="rect">
            <a:avLst/>
          </a:prstGeom>
          <a:noFill/>
          <a:ln/>
        </p:spPr>
        <p:txBody>
          <a:bodyPr wrap="square" rtlCol="0" anchor="ctr"/>
          <a:lstStyle/>
          <a:p>
            <a:pPr marL="0" indent="0">
              <a:buNone/>
            </a:pPr>
            <a:r>
              <a:rPr lang="en-US" sz="1100" dirty="0">
                <a:solidFill>
                  <a:srgbClr val="888888"/>
                </a:solidFill>
                <a:latin typeface="Calibri" pitchFamily="34" charset="0"/>
                <a:ea typeface="Calibri" pitchFamily="34" charset="-122"/>
                <a:cs typeface="Calibri" pitchFamily="34" charset="-120"/>
              </a:rPr>
              <a:t>▸  Backlog &amp; User Stories</a:t>
            </a:r>
            <a:endParaRPr lang="en-US" sz="1100" dirty="0"/>
          </a:p>
        </p:txBody>
      </p:sp>
      <p:sp>
        <p:nvSpPr>
          <p:cNvPr id="21" name="Text 19"/>
          <p:cNvSpPr/>
          <p:nvPr/>
        </p:nvSpPr>
        <p:spPr>
          <a:xfrm>
            <a:off x="4480560" y="4636008"/>
            <a:ext cx="3291840" cy="457200"/>
          </a:xfrm>
          <a:prstGeom prst="rect">
            <a:avLst/>
          </a:prstGeom>
          <a:noFill/>
          <a:ln/>
        </p:spPr>
        <p:txBody>
          <a:bodyPr wrap="square" rtlCol="0" anchor="ctr"/>
          <a:lstStyle/>
          <a:p>
            <a:pPr marL="0" indent="0">
              <a:buNone/>
            </a:pPr>
            <a:r>
              <a:rPr lang="en-US" sz="1100" dirty="0">
                <a:solidFill>
                  <a:srgbClr val="888888"/>
                </a:solidFill>
                <a:latin typeface="Calibri" pitchFamily="34" charset="0"/>
                <a:ea typeface="Calibri" pitchFamily="34" charset="-122"/>
                <a:cs typeface="Calibri" pitchFamily="34" charset="-120"/>
              </a:rPr>
              <a:t>▸  Architecture BFF</a:t>
            </a:r>
            <a:endParaRPr lang="en-US" sz="1100" dirty="0"/>
          </a:p>
        </p:txBody>
      </p:sp>
      <p:sp>
        <p:nvSpPr>
          <p:cNvPr id="22" name="Text 20"/>
          <p:cNvSpPr/>
          <p:nvPr/>
        </p:nvSpPr>
        <p:spPr>
          <a:xfrm>
            <a:off x="4480560" y="5157216"/>
            <a:ext cx="3291840" cy="457200"/>
          </a:xfrm>
          <a:prstGeom prst="rect">
            <a:avLst/>
          </a:prstGeom>
          <a:noFill/>
          <a:ln/>
        </p:spPr>
        <p:txBody>
          <a:bodyPr wrap="square" rtlCol="0" anchor="ctr"/>
          <a:lstStyle/>
          <a:p>
            <a:pPr marL="0" indent="0">
              <a:buNone/>
            </a:pPr>
            <a:r>
              <a:rPr lang="en-US" sz="1100" dirty="0">
                <a:solidFill>
                  <a:srgbClr val="888888"/>
                </a:solidFill>
                <a:latin typeface="Calibri" pitchFamily="34" charset="0"/>
                <a:ea typeface="Calibri" pitchFamily="34" charset="-122"/>
                <a:cs typeface="Calibri" pitchFamily="34" charset="-120"/>
              </a:rPr>
              <a:t>▸  Expérimentation technologies</a:t>
            </a:r>
            <a:endParaRPr lang="en-US" sz="1100" dirty="0"/>
          </a:p>
        </p:txBody>
      </p:sp>
      <p:sp>
        <p:nvSpPr>
          <p:cNvPr id="23" name="Text 21"/>
          <p:cNvSpPr/>
          <p:nvPr/>
        </p:nvSpPr>
        <p:spPr>
          <a:xfrm>
            <a:off x="4480560" y="5678424"/>
            <a:ext cx="3291840" cy="457200"/>
          </a:xfrm>
          <a:prstGeom prst="rect">
            <a:avLst/>
          </a:prstGeom>
          <a:noFill/>
          <a:ln/>
        </p:spPr>
        <p:txBody>
          <a:bodyPr wrap="square" rtlCol="0" anchor="ctr"/>
          <a:lstStyle/>
          <a:p>
            <a:pPr marL="0" indent="0">
              <a:buNone/>
            </a:pPr>
            <a:r>
              <a:rPr lang="en-US" sz="1100" dirty="0">
                <a:solidFill>
                  <a:srgbClr val="888888"/>
                </a:solidFill>
                <a:latin typeface="Calibri" pitchFamily="34" charset="0"/>
                <a:ea typeface="Calibri" pitchFamily="34" charset="-122"/>
                <a:cs typeface="Calibri" pitchFamily="34" charset="-120"/>
              </a:rPr>
              <a:t>▸  Résultats &amp; chiffres clés</a:t>
            </a:r>
            <a:endParaRPr lang="en-US" sz="1100" dirty="0"/>
          </a:p>
        </p:txBody>
      </p:sp>
      <p:sp>
        <p:nvSpPr>
          <p:cNvPr id="24" name="Shape 22"/>
          <p:cNvSpPr/>
          <p:nvPr/>
        </p:nvSpPr>
        <p:spPr>
          <a:xfrm>
            <a:off x="8229600" y="2743200"/>
            <a:ext cx="3657600" cy="3657600"/>
          </a:xfrm>
          <a:prstGeom prst="rect">
            <a:avLst/>
          </a:prstGeom>
          <a:solidFill>
            <a:srgbClr val="1A2E1A"/>
          </a:solidFill>
          <a:ln w="19050">
            <a:solidFill>
              <a:srgbClr val="C0392B"/>
            </a:solidFill>
            <a:prstDash val="solid"/>
          </a:ln>
        </p:spPr>
        <p:txBody>
          <a:bodyPr/>
          <a:lstStyle/>
          <a:p>
            <a:endParaRPr lang="fr-FR"/>
          </a:p>
        </p:txBody>
      </p:sp>
      <p:sp>
        <p:nvSpPr>
          <p:cNvPr id="25" name="Text 23"/>
          <p:cNvSpPr/>
          <p:nvPr/>
        </p:nvSpPr>
        <p:spPr>
          <a:xfrm>
            <a:off x="8366760" y="2834640"/>
            <a:ext cx="731520" cy="594360"/>
          </a:xfrm>
          <a:prstGeom prst="rect">
            <a:avLst/>
          </a:prstGeom>
          <a:noFill/>
          <a:ln/>
        </p:spPr>
        <p:txBody>
          <a:bodyPr wrap="square" rtlCol="0" anchor="ctr"/>
          <a:lstStyle/>
          <a:p>
            <a:pPr marL="0" indent="0">
              <a:buNone/>
            </a:pPr>
            <a:r>
              <a:rPr lang="en-US" sz="2800" b="1" dirty="0">
                <a:solidFill>
                  <a:srgbClr val="E74C3C"/>
                </a:solidFill>
                <a:latin typeface="Georgia" pitchFamily="34" charset="0"/>
                <a:ea typeface="Georgia" pitchFamily="34" charset="-122"/>
                <a:cs typeface="Georgia" pitchFamily="34" charset="-120"/>
              </a:rPr>
              <a:t>03</a:t>
            </a:r>
            <a:endParaRPr lang="en-US" sz="2800" dirty="0"/>
          </a:p>
        </p:txBody>
      </p:sp>
      <p:sp>
        <p:nvSpPr>
          <p:cNvPr id="26" name="Text 24"/>
          <p:cNvSpPr/>
          <p:nvPr/>
        </p:nvSpPr>
        <p:spPr>
          <a:xfrm>
            <a:off x="8366760" y="3429000"/>
            <a:ext cx="3383280" cy="548640"/>
          </a:xfrm>
          <a:prstGeom prst="rect">
            <a:avLst/>
          </a:prstGeom>
          <a:noFill/>
          <a:ln/>
        </p:spPr>
        <p:txBody>
          <a:bodyPr wrap="square" rtlCol="0" anchor="ctr"/>
          <a:lstStyle/>
          <a:p>
            <a:pPr marL="0" indent="0">
              <a:buNone/>
            </a:pPr>
            <a:r>
              <a:rPr lang="en-US" sz="1300" b="1" dirty="0">
                <a:solidFill>
                  <a:srgbClr val="F0F0F0"/>
                </a:solidFill>
                <a:latin typeface="Calibri" pitchFamily="34" charset="0"/>
                <a:ea typeface="Calibri" pitchFamily="34" charset="-122"/>
                <a:cs typeface="Calibri" pitchFamily="34" charset="-120"/>
              </a:rPr>
              <a:t>Sécurité &amp; Remédiation</a:t>
            </a:r>
            <a:endParaRPr lang="en-US" sz="1300" dirty="0"/>
          </a:p>
        </p:txBody>
      </p:sp>
      <p:sp>
        <p:nvSpPr>
          <p:cNvPr id="27" name="Shape 25"/>
          <p:cNvSpPr/>
          <p:nvPr/>
        </p:nvSpPr>
        <p:spPr>
          <a:xfrm>
            <a:off x="8366760" y="4023360"/>
            <a:ext cx="3200400" cy="36576"/>
          </a:xfrm>
          <a:prstGeom prst="rect">
            <a:avLst/>
          </a:prstGeom>
          <a:solidFill>
            <a:srgbClr val="C0392B"/>
          </a:solidFill>
          <a:ln/>
        </p:spPr>
        <p:txBody>
          <a:bodyPr/>
          <a:lstStyle/>
          <a:p>
            <a:endParaRPr lang="fr-FR"/>
          </a:p>
        </p:txBody>
      </p:sp>
      <p:sp>
        <p:nvSpPr>
          <p:cNvPr id="28" name="Text 26"/>
          <p:cNvSpPr/>
          <p:nvPr/>
        </p:nvSpPr>
        <p:spPr>
          <a:xfrm>
            <a:off x="8412480" y="4114800"/>
            <a:ext cx="3291840" cy="457200"/>
          </a:xfrm>
          <a:prstGeom prst="rect">
            <a:avLst/>
          </a:prstGeom>
          <a:noFill/>
          <a:ln/>
        </p:spPr>
        <p:txBody>
          <a:bodyPr wrap="square" rtlCol="0" anchor="ctr"/>
          <a:lstStyle/>
          <a:p>
            <a:pPr marL="0" indent="0">
              <a:buNone/>
            </a:pPr>
            <a:r>
              <a:rPr lang="en-US" sz="1100" dirty="0">
                <a:solidFill>
                  <a:srgbClr val="888888"/>
                </a:solidFill>
                <a:latin typeface="Calibri" pitchFamily="34" charset="0"/>
                <a:ea typeface="Calibri" pitchFamily="34" charset="-122"/>
                <a:cs typeface="Calibri" pitchFamily="34" charset="-120"/>
              </a:rPr>
              <a:t>▸  Analyse OWASP Top 10</a:t>
            </a:r>
            <a:endParaRPr lang="en-US" sz="1100" dirty="0"/>
          </a:p>
        </p:txBody>
      </p:sp>
      <p:sp>
        <p:nvSpPr>
          <p:cNvPr id="29" name="Text 27"/>
          <p:cNvSpPr/>
          <p:nvPr/>
        </p:nvSpPr>
        <p:spPr>
          <a:xfrm>
            <a:off x="8412480" y="4636008"/>
            <a:ext cx="3291840" cy="457200"/>
          </a:xfrm>
          <a:prstGeom prst="rect">
            <a:avLst/>
          </a:prstGeom>
          <a:noFill/>
          <a:ln/>
        </p:spPr>
        <p:txBody>
          <a:bodyPr wrap="square" rtlCol="0" anchor="ctr"/>
          <a:lstStyle/>
          <a:p>
            <a:pPr marL="0" indent="0">
              <a:buNone/>
            </a:pPr>
            <a:r>
              <a:rPr lang="en-US" sz="1100" dirty="0">
                <a:solidFill>
                  <a:srgbClr val="888888"/>
                </a:solidFill>
                <a:latin typeface="Calibri" pitchFamily="34" charset="0"/>
                <a:ea typeface="Calibri" pitchFamily="34" charset="-122"/>
                <a:cs typeface="Calibri" pitchFamily="34" charset="-120"/>
              </a:rPr>
              <a:t>▸  Plan de remédiation 3 sprints</a:t>
            </a:r>
            <a:endParaRPr lang="en-US" sz="1100" dirty="0"/>
          </a:p>
        </p:txBody>
      </p:sp>
      <p:sp>
        <p:nvSpPr>
          <p:cNvPr id="30" name="Text 28"/>
          <p:cNvSpPr/>
          <p:nvPr/>
        </p:nvSpPr>
        <p:spPr>
          <a:xfrm>
            <a:off x="8412480" y="5157216"/>
            <a:ext cx="3291840" cy="457200"/>
          </a:xfrm>
          <a:prstGeom prst="rect">
            <a:avLst/>
          </a:prstGeom>
          <a:noFill/>
          <a:ln/>
        </p:spPr>
        <p:txBody>
          <a:bodyPr wrap="square" rtlCol="0" anchor="ctr"/>
          <a:lstStyle/>
          <a:p>
            <a:pPr marL="0" indent="0">
              <a:buNone/>
            </a:pPr>
            <a:r>
              <a:rPr lang="en-US" sz="1100" dirty="0">
                <a:solidFill>
                  <a:srgbClr val="888888"/>
                </a:solidFill>
                <a:latin typeface="Calibri" pitchFamily="34" charset="0"/>
                <a:ea typeface="Calibri" pitchFamily="34" charset="-122"/>
                <a:cs typeface="Calibri" pitchFamily="34" charset="-120"/>
              </a:rPr>
              <a:t>▸  Mesures préventives v2</a:t>
            </a:r>
            <a:endParaRPr lang="en-US" sz="1100" dirty="0"/>
          </a:p>
        </p:txBody>
      </p:sp>
      <p:sp>
        <p:nvSpPr>
          <p:cNvPr id="31" name="Text 29"/>
          <p:cNvSpPr/>
          <p:nvPr/>
        </p:nvSpPr>
        <p:spPr>
          <a:xfrm>
            <a:off x="8412480" y="5678424"/>
            <a:ext cx="3291840" cy="457200"/>
          </a:xfrm>
          <a:prstGeom prst="rect">
            <a:avLst/>
          </a:prstGeom>
          <a:noFill/>
          <a:ln/>
        </p:spPr>
        <p:txBody>
          <a:bodyPr wrap="square" rtlCol="0" anchor="ctr"/>
          <a:lstStyle/>
          <a:p>
            <a:pPr marL="0" indent="0">
              <a:buNone/>
            </a:pPr>
            <a:r>
              <a:rPr lang="en-US" sz="1100" dirty="0">
                <a:solidFill>
                  <a:srgbClr val="888888"/>
                </a:solidFill>
                <a:latin typeface="Calibri" pitchFamily="34" charset="0"/>
                <a:ea typeface="Calibri" pitchFamily="34" charset="-122"/>
                <a:cs typeface="Calibri" pitchFamily="34" charset="-120"/>
              </a:rPr>
              <a:t>▸  Bilan de la mission</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10972800" cy="182880"/>
          </a:xfrm>
          <a:prstGeom prst="rect">
            <a:avLst/>
          </a:prstGeom>
          <a:noFill/>
          <a:ln/>
        </p:spPr>
        <p:txBody>
          <a:bodyPr wrap="square" rtlCol="0" anchor="ctr"/>
          <a:lstStyle/>
          <a:p>
            <a:pPr marL="0" indent="0">
              <a:buNone/>
            </a:pPr>
            <a:r>
              <a:rPr lang="en-US" sz="800" dirty="0">
                <a:solidFill>
                  <a:srgbClr val="888888"/>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Shape 3"/>
          <p:cNvSpPr/>
          <p:nvPr/>
        </p:nvSpPr>
        <p:spPr>
          <a:xfrm>
            <a:off x="365760" y="1051560"/>
            <a:ext cx="2377440" cy="54864"/>
          </a:xfrm>
          <a:prstGeom prst="rect">
            <a:avLst/>
          </a:prstGeom>
          <a:solidFill>
            <a:srgbClr val="C0392B"/>
          </a:solidFill>
          <a:ln/>
        </p:spPr>
        <p:txBody>
          <a:bodyPr/>
          <a:lstStyle/>
          <a:p>
            <a:endParaRPr lang="fr-FR"/>
          </a:p>
        </p:txBody>
      </p:sp>
      <p:sp>
        <p:nvSpPr>
          <p:cNvPr id="6" name="Text 4"/>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CONTEXTE</a:t>
            </a:r>
            <a:endParaRPr lang="en-US" sz="1100" dirty="0"/>
          </a:p>
        </p:txBody>
      </p:sp>
      <p:sp>
        <p:nvSpPr>
          <p:cNvPr id="7" name="Text 5"/>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Georgia" pitchFamily="34" charset="0"/>
                <a:ea typeface="Georgia" pitchFamily="34" charset="-122"/>
                <a:cs typeface="Georgia" pitchFamily="34" charset="-120"/>
              </a:rPr>
              <a:t>La mission</a:t>
            </a:r>
            <a:endParaRPr lang="en-US" sz="3400" dirty="0"/>
          </a:p>
        </p:txBody>
      </p:sp>
      <p:sp>
        <p:nvSpPr>
          <p:cNvPr id="8" name="Shape 6"/>
          <p:cNvSpPr/>
          <p:nvPr/>
        </p:nvSpPr>
        <p:spPr>
          <a:xfrm>
            <a:off x="365760" y="3291840"/>
            <a:ext cx="11430000" cy="822960"/>
          </a:xfrm>
          <a:prstGeom prst="rect">
            <a:avLst/>
          </a:prstGeom>
          <a:solidFill>
            <a:srgbClr val="1A1A2E"/>
          </a:solidFill>
          <a:ln w="19050">
            <a:solidFill>
              <a:srgbClr val="C0392B"/>
            </a:solidFill>
            <a:prstDash val="solid"/>
          </a:ln>
        </p:spPr>
        <p:txBody>
          <a:bodyPr/>
          <a:lstStyle/>
          <a:p>
            <a:endParaRPr lang="fr-FR"/>
          </a:p>
        </p:txBody>
      </p:sp>
      <p:sp>
        <p:nvSpPr>
          <p:cNvPr id="9" name="Text 7"/>
          <p:cNvSpPr/>
          <p:nvPr/>
        </p:nvSpPr>
        <p:spPr>
          <a:xfrm>
            <a:off x="640080" y="3383280"/>
            <a:ext cx="10789920" cy="640080"/>
          </a:xfrm>
          <a:prstGeom prst="rect">
            <a:avLst/>
          </a:prstGeom>
          <a:noFill/>
          <a:ln/>
        </p:spPr>
        <p:txBody>
          <a:bodyPr wrap="square" rtlCol="0" anchor="ctr"/>
          <a:lstStyle/>
          <a:p>
            <a:pPr marL="0" indent="0">
              <a:buNone/>
            </a:pPr>
            <a:r>
              <a:rPr lang="en-US" sz="1400" dirty="0">
                <a:solidFill>
                  <a:srgbClr val="F0F0F0"/>
                </a:solidFill>
                <a:latin typeface="Calibri" pitchFamily="34" charset="0"/>
                <a:ea typeface="Calibri" pitchFamily="34" charset="-122"/>
                <a:cs typeface="Calibri" pitchFamily="34" charset="-120"/>
              </a:rPr>
              <a:t>🏚  Entreprise de 10 ans — SI fragmenté, pas</a:t>
            </a:r>
            <a:endParaRPr lang="en-US" sz="1400" dirty="0"/>
          </a:p>
          <a:p>
            <a:pPr marL="0" indent="0">
              <a:buNone/>
            </a:pPr>
            <a:r>
              <a:rPr lang="en-US" sz="1400" dirty="0">
                <a:solidFill>
                  <a:srgbClr val="F0F0F0"/>
                </a:solidFill>
                <a:latin typeface="Calibri" pitchFamily="34" charset="0"/>
                <a:ea typeface="Calibri" pitchFamily="34" charset="-122"/>
                <a:cs typeface="Calibri" pitchFamily="34" charset="-120"/>
              </a:rPr>
              <a:t>de vente en ligne, CMS basique</a:t>
            </a:r>
            <a:endParaRPr lang="en-US" sz="1400" dirty="0"/>
          </a:p>
        </p:txBody>
      </p:sp>
      <p:sp>
        <p:nvSpPr>
          <p:cNvPr id="10" name="Shape 8"/>
          <p:cNvSpPr/>
          <p:nvPr/>
        </p:nvSpPr>
        <p:spPr>
          <a:xfrm>
            <a:off x="365760" y="4297680"/>
            <a:ext cx="11430000" cy="822960"/>
          </a:xfrm>
          <a:prstGeom prst="rect">
            <a:avLst/>
          </a:prstGeom>
          <a:solidFill>
            <a:srgbClr val="1A1A2E"/>
          </a:solidFill>
          <a:ln w="19050">
            <a:solidFill>
              <a:srgbClr val="C0392B"/>
            </a:solidFill>
            <a:prstDash val="solid"/>
          </a:ln>
        </p:spPr>
        <p:txBody>
          <a:bodyPr/>
          <a:lstStyle/>
          <a:p>
            <a:endParaRPr lang="fr-FR"/>
          </a:p>
        </p:txBody>
      </p:sp>
      <p:sp>
        <p:nvSpPr>
          <p:cNvPr id="11" name="Text 9"/>
          <p:cNvSpPr/>
          <p:nvPr/>
        </p:nvSpPr>
        <p:spPr>
          <a:xfrm>
            <a:off x="640080" y="4389120"/>
            <a:ext cx="10789920" cy="640080"/>
          </a:xfrm>
          <a:prstGeom prst="rect">
            <a:avLst/>
          </a:prstGeom>
          <a:noFill/>
          <a:ln/>
        </p:spPr>
        <p:txBody>
          <a:bodyPr wrap="square" rtlCol="0" anchor="ctr"/>
          <a:lstStyle/>
          <a:p>
            <a:pPr marL="0" indent="0">
              <a:buNone/>
            </a:pPr>
            <a:r>
              <a:rPr lang="en-US" sz="1400" dirty="0">
                <a:solidFill>
                  <a:srgbClr val="F0F0F0"/>
                </a:solidFill>
                <a:latin typeface="Calibri" pitchFamily="34" charset="0"/>
                <a:ea typeface="Calibri" pitchFamily="34" charset="-122"/>
                <a:cs typeface="Calibri" pitchFamily="34" charset="-120"/>
              </a:rPr>
              <a:t>🎯  Mission : développer la v1 de la future</a:t>
            </a:r>
            <a:endParaRPr lang="en-US" sz="1400" dirty="0"/>
          </a:p>
          <a:p>
            <a:pPr marL="0" indent="0">
              <a:buNone/>
            </a:pPr>
            <a:r>
              <a:rPr lang="en-US" sz="1400" dirty="0">
                <a:solidFill>
                  <a:srgbClr val="F0F0F0"/>
                </a:solidFill>
                <a:latin typeface="Calibri" pitchFamily="34" charset="0"/>
                <a:ea typeface="Calibri" pitchFamily="34" charset="-122"/>
                <a:cs typeface="Calibri" pitchFamily="34" charset="-120"/>
              </a:rPr>
              <a:t>plateforme numérique</a:t>
            </a:r>
            <a:endParaRPr lang="en-US" sz="1400" dirty="0"/>
          </a:p>
        </p:txBody>
      </p:sp>
      <p:sp>
        <p:nvSpPr>
          <p:cNvPr id="12" name="Shape 10"/>
          <p:cNvSpPr/>
          <p:nvPr/>
        </p:nvSpPr>
        <p:spPr>
          <a:xfrm>
            <a:off x="365760" y="5303520"/>
            <a:ext cx="11430000" cy="822960"/>
          </a:xfrm>
          <a:prstGeom prst="rect">
            <a:avLst/>
          </a:prstGeom>
          <a:solidFill>
            <a:srgbClr val="1A1A2E"/>
          </a:solidFill>
          <a:ln w="19050">
            <a:solidFill>
              <a:srgbClr val="C0392B"/>
            </a:solidFill>
            <a:prstDash val="solid"/>
          </a:ln>
        </p:spPr>
        <p:txBody>
          <a:bodyPr/>
          <a:lstStyle/>
          <a:p>
            <a:endParaRPr lang="fr-FR"/>
          </a:p>
        </p:txBody>
      </p:sp>
      <p:sp>
        <p:nvSpPr>
          <p:cNvPr id="13" name="Text 11"/>
          <p:cNvSpPr/>
          <p:nvPr/>
        </p:nvSpPr>
        <p:spPr>
          <a:xfrm>
            <a:off x="640080" y="5394960"/>
            <a:ext cx="10789920" cy="640080"/>
          </a:xfrm>
          <a:prstGeom prst="rect">
            <a:avLst/>
          </a:prstGeom>
          <a:noFill/>
          <a:ln/>
        </p:spPr>
        <p:txBody>
          <a:bodyPr wrap="square" rtlCol="0" anchor="ctr"/>
          <a:lstStyle/>
          <a:p>
            <a:pPr marL="0" indent="0">
              <a:buNone/>
            </a:pPr>
            <a:r>
              <a:rPr lang="en-US" sz="1400" dirty="0">
                <a:solidFill>
                  <a:srgbClr val="F0F0F0"/>
                </a:solidFill>
                <a:latin typeface="Calibri" pitchFamily="34" charset="0"/>
                <a:ea typeface="Calibri" pitchFamily="34" charset="-122"/>
                <a:cs typeface="Calibri" pitchFamily="34" charset="-120"/>
              </a:rPr>
              <a:t>👨‍💻  Rôle Lead Developer : processus qualité,</a:t>
            </a:r>
            <a:endParaRPr lang="en-US" sz="1400" dirty="0"/>
          </a:p>
          <a:p>
            <a:pPr marL="0" indent="0">
              <a:buNone/>
            </a:pPr>
            <a:r>
              <a:rPr lang="en-US" sz="1400" dirty="0">
                <a:solidFill>
                  <a:srgbClr val="F0F0F0"/>
                </a:solidFill>
                <a:latin typeface="Calibri" pitchFamily="34" charset="0"/>
                <a:ea typeface="Calibri" pitchFamily="34" charset="-122"/>
                <a:cs typeface="Calibri" pitchFamily="34" charset="-120"/>
              </a:rPr>
              <a:t>POC fonctionnel, analyse sécurité</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C0392B"/>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0000"/>
          </a:solidFill>
          <a:ln/>
        </p:spPr>
        <p:txBody>
          <a:bodyPr/>
          <a:lstStyle/>
          <a:p>
            <a:endParaRPr lang="fr-FR"/>
          </a:p>
        </p:txBody>
      </p:sp>
      <p:sp>
        <p:nvSpPr>
          <p:cNvPr id="3" name="Shape 1"/>
          <p:cNvSpPr/>
          <p:nvPr/>
        </p:nvSpPr>
        <p:spPr>
          <a:xfrm>
            <a:off x="0" y="3200400"/>
            <a:ext cx="12192000" cy="73152"/>
          </a:xfrm>
          <a:prstGeom prst="rect">
            <a:avLst/>
          </a:prstGeom>
          <a:solidFill>
            <a:srgbClr val="C0392B"/>
          </a:solidFill>
          <a:ln/>
        </p:spPr>
        <p:txBody>
          <a:bodyPr/>
          <a:lstStyle/>
          <a:p>
            <a:endParaRPr lang="fr-FR"/>
          </a:p>
        </p:txBody>
      </p:sp>
      <p:sp>
        <p:nvSpPr>
          <p:cNvPr id="4" name="Text 2"/>
          <p:cNvSpPr/>
          <p:nvPr/>
        </p:nvSpPr>
        <p:spPr>
          <a:xfrm>
            <a:off x="0" y="1828800"/>
            <a:ext cx="12192000" cy="640080"/>
          </a:xfrm>
          <a:prstGeom prst="rect">
            <a:avLst/>
          </a:prstGeom>
          <a:noFill/>
          <a:ln/>
        </p:spPr>
        <p:txBody>
          <a:bodyPr wrap="square" rtlCol="0" anchor="ctr"/>
          <a:lstStyle/>
          <a:p>
            <a:pPr marL="0" indent="0" algn="ctr">
              <a:buNone/>
            </a:pPr>
            <a:r>
              <a:rPr lang="en-US" sz="1400" b="1" kern="0" spc="600" dirty="0">
                <a:solidFill>
                  <a:srgbClr val="E74C3C"/>
                </a:solidFill>
                <a:latin typeface="Calibri" pitchFamily="34" charset="0"/>
                <a:ea typeface="Calibri" pitchFamily="34" charset="-122"/>
                <a:cs typeface="Calibri" pitchFamily="34" charset="-120"/>
              </a:rPr>
              <a:t>PARTIE 1</a:t>
            </a:r>
            <a:endParaRPr lang="en-US" sz="1400" dirty="0"/>
          </a:p>
        </p:txBody>
      </p:sp>
      <p:sp>
        <p:nvSpPr>
          <p:cNvPr id="5" name="Text 3"/>
          <p:cNvSpPr/>
          <p:nvPr/>
        </p:nvSpPr>
        <p:spPr>
          <a:xfrm>
            <a:off x="0" y="2560320"/>
            <a:ext cx="12192000" cy="1371600"/>
          </a:xfrm>
          <a:prstGeom prst="rect">
            <a:avLst/>
          </a:prstGeom>
          <a:noFill/>
          <a:ln/>
        </p:spPr>
        <p:txBody>
          <a:bodyPr wrap="square" rtlCol="0" anchor="ctr"/>
          <a:lstStyle/>
          <a:p>
            <a:pPr marL="0" indent="0" algn="ctr">
              <a:buNone/>
            </a:pPr>
            <a:r>
              <a:rPr lang="en-US" sz="5400" b="1" dirty="0">
                <a:solidFill>
                  <a:srgbClr val="F0F0F0"/>
                </a:solidFill>
                <a:latin typeface="Georgia" pitchFamily="34" charset="0"/>
                <a:ea typeface="Georgia" pitchFamily="34" charset="-122"/>
                <a:cs typeface="Georgia" pitchFamily="34" charset="-120"/>
              </a:rPr>
              <a:t>Processus Qualité</a:t>
            </a:r>
            <a:endParaRPr lang="en-US" sz="5400" dirty="0"/>
          </a:p>
        </p:txBody>
      </p:sp>
      <p:sp>
        <p:nvSpPr>
          <p:cNvPr id="6" name="Text 4"/>
          <p:cNvSpPr/>
          <p:nvPr/>
        </p:nvSpPr>
        <p:spPr>
          <a:xfrm>
            <a:off x="0" y="4023360"/>
            <a:ext cx="12192000" cy="457200"/>
          </a:xfrm>
          <a:prstGeom prst="rect">
            <a:avLst/>
          </a:prstGeom>
          <a:noFill/>
          <a:ln/>
        </p:spPr>
        <p:txBody>
          <a:bodyPr wrap="square" rtlCol="0" anchor="ctr"/>
          <a:lstStyle/>
          <a:p>
            <a:pPr marL="0" indent="0" algn="ctr">
              <a:buNone/>
            </a:pPr>
            <a:r>
              <a:rPr lang="en-US" sz="1400" i="1" dirty="0">
                <a:solidFill>
                  <a:srgbClr val="888888"/>
                </a:solidFill>
                <a:latin typeface="Calibri" pitchFamily="34" charset="0"/>
                <a:ea typeface="Calibri" pitchFamily="34" charset="-122"/>
                <a:cs typeface="Calibri" pitchFamily="34" charset="-120"/>
              </a:rPr>
              <a:t>ISO 25010 · DevSecOps · CI/CD · Compétences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10972800" cy="182880"/>
          </a:xfrm>
          <a:prstGeom prst="rect">
            <a:avLst/>
          </a:prstGeom>
          <a:noFill/>
          <a:ln/>
        </p:spPr>
        <p:txBody>
          <a:bodyPr wrap="square" rtlCol="0" anchor="ctr"/>
          <a:lstStyle/>
          <a:p>
            <a:pPr marL="0" indent="0">
              <a:buNone/>
            </a:pPr>
            <a:r>
              <a:rPr lang="en-US" sz="800" dirty="0">
                <a:solidFill>
                  <a:srgbClr val="888888"/>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Shape 3"/>
          <p:cNvSpPr/>
          <p:nvPr/>
        </p:nvSpPr>
        <p:spPr>
          <a:xfrm>
            <a:off x="365760" y="1051560"/>
            <a:ext cx="2377440" cy="54864"/>
          </a:xfrm>
          <a:prstGeom prst="rect">
            <a:avLst/>
          </a:prstGeom>
          <a:solidFill>
            <a:srgbClr val="C0392B"/>
          </a:solidFill>
          <a:ln/>
        </p:spPr>
        <p:txBody>
          <a:bodyPr/>
          <a:lstStyle/>
          <a:p>
            <a:endParaRPr lang="fr-FR"/>
          </a:p>
        </p:txBody>
      </p:sp>
      <p:sp>
        <p:nvSpPr>
          <p:cNvPr id="6" name="Text 4"/>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QUALITE LOGICIELLE — ISO 25010</a:t>
            </a:r>
            <a:endParaRPr lang="en-US" sz="1100" dirty="0"/>
          </a:p>
        </p:txBody>
      </p:sp>
      <p:sp>
        <p:nvSpPr>
          <p:cNvPr id="7" name="Text 5"/>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Georgia" pitchFamily="34" charset="0"/>
                <a:ea typeface="Georgia" pitchFamily="34" charset="-122"/>
                <a:cs typeface="Georgia" pitchFamily="34" charset="-120"/>
              </a:rPr>
              <a:t>4 métriques pour éviter</a:t>
            </a:r>
            <a:endParaRPr lang="en-US" sz="3400" dirty="0"/>
          </a:p>
          <a:p>
            <a:pPr marL="0" indent="0">
              <a:buNone/>
            </a:pPr>
            <a:r>
              <a:rPr lang="en-US" sz="3400" b="1" dirty="0">
                <a:solidFill>
                  <a:srgbClr val="F0F0F0"/>
                </a:solidFill>
                <a:latin typeface="Georgia" pitchFamily="34" charset="0"/>
                <a:ea typeface="Georgia" pitchFamily="34" charset="-122"/>
                <a:cs typeface="Georgia" pitchFamily="34" charset="-120"/>
              </a:rPr>
              <a:t>la dette technique</a:t>
            </a:r>
            <a:endParaRPr lang="en-US" sz="3400" dirty="0"/>
          </a:p>
        </p:txBody>
      </p:sp>
      <p:sp>
        <p:nvSpPr>
          <p:cNvPr id="8" name="Shape 6"/>
          <p:cNvSpPr/>
          <p:nvPr/>
        </p:nvSpPr>
        <p:spPr>
          <a:xfrm>
            <a:off x="274320" y="2926080"/>
            <a:ext cx="2743200" cy="3291840"/>
          </a:xfrm>
          <a:prstGeom prst="rect">
            <a:avLst/>
          </a:prstGeom>
          <a:solidFill>
            <a:srgbClr val="1A3A2E"/>
          </a:solidFill>
          <a:ln w="19050">
            <a:solidFill>
              <a:srgbClr val="C0392B"/>
            </a:solidFill>
            <a:prstDash val="solid"/>
          </a:ln>
        </p:spPr>
        <p:txBody>
          <a:bodyPr/>
          <a:lstStyle/>
          <a:p>
            <a:endParaRPr lang="fr-FR"/>
          </a:p>
        </p:txBody>
      </p:sp>
      <p:sp>
        <p:nvSpPr>
          <p:cNvPr id="9" name="Text 7"/>
          <p:cNvSpPr/>
          <p:nvPr/>
        </p:nvSpPr>
        <p:spPr>
          <a:xfrm>
            <a:off x="411480" y="3063240"/>
            <a:ext cx="2468880" cy="640080"/>
          </a:xfrm>
          <a:prstGeom prst="rect">
            <a:avLst/>
          </a:prstGeom>
          <a:noFill/>
          <a:ln/>
        </p:spPr>
        <p:txBody>
          <a:bodyPr wrap="square" rtlCol="0" anchor="ctr"/>
          <a:lstStyle/>
          <a:p>
            <a:pPr marL="0" indent="0" algn="ctr">
              <a:buNone/>
            </a:pPr>
            <a:r>
              <a:rPr lang="en-US" sz="1200" b="1" dirty="0">
                <a:solidFill>
                  <a:srgbClr val="888888"/>
                </a:solidFill>
                <a:latin typeface="Calibri" pitchFamily="34" charset="0"/>
                <a:ea typeface="Calibri" pitchFamily="34" charset="-122"/>
                <a:cs typeface="Calibri" pitchFamily="34" charset="-120"/>
              </a:rPr>
              <a:t>Couverture</a:t>
            </a:r>
            <a:endParaRPr lang="en-US" sz="1200" dirty="0"/>
          </a:p>
          <a:p>
            <a:pPr marL="0" indent="0" algn="ctr">
              <a:buNone/>
            </a:pPr>
            <a:r>
              <a:rPr lang="en-US" sz="1200" b="1" dirty="0">
                <a:solidFill>
                  <a:srgbClr val="888888"/>
                </a:solidFill>
                <a:latin typeface="Calibri" pitchFamily="34" charset="0"/>
                <a:ea typeface="Calibri" pitchFamily="34" charset="-122"/>
                <a:cs typeface="Calibri" pitchFamily="34" charset="-120"/>
              </a:rPr>
              <a:t>de tests</a:t>
            </a:r>
            <a:endParaRPr lang="en-US" sz="1200" dirty="0"/>
          </a:p>
        </p:txBody>
      </p:sp>
      <p:sp>
        <p:nvSpPr>
          <p:cNvPr id="10" name="Text 8"/>
          <p:cNvSpPr/>
          <p:nvPr/>
        </p:nvSpPr>
        <p:spPr>
          <a:xfrm>
            <a:off x="365760" y="3749040"/>
            <a:ext cx="2560320" cy="914400"/>
          </a:xfrm>
          <a:prstGeom prst="rect">
            <a:avLst/>
          </a:prstGeom>
          <a:noFill/>
          <a:ln/>
        </p:spPr>
        <p:txBody>
          <a:bodyPr wrap="square" rtlCol="0" anchor="ctr"/>
          <a:lstStyle/>
          <a:p>
            <a:pPr marL="0" indent="0" algn="ctr">
              <a:buNone/>
            </a:pPr>
            <a:r>
              <a:rPr lang="en-US" sz="2200" b="1" dirty="0">
                <a:solidFill>
                  <a:srgbClr val="E74C3C"/>
                </a:solidFill>
                <a:latin typeface="Georgia" pitchFamily="34" charset="0"/>
                <a:ea typeface="Georgia" pitchFamily="34" charset="-122"/>
                <a:cs typeface="Georgia" pitchFamily="34" charset="-120"/>
              </a:rPr>
              <a:t>59,11%</a:t>
            </a:r>
            <a:endParaRPr lang="en-US" sz="2200" dirty="0"/>
          </a:p>
          <a:p>
            <a:pPr marL="0" indent="0" algn="ctr">
              <a:buNone/>
            </a:pPr>
            <a:r>
              <a:rPr lang="en-US" sz="2200" b="1" dirty="0">
                <a:solidFill>
                  <a:srgbClr val="E74C3C"/>
                </a:solidFill>
                <a:latin typeface="Georgia" pitchFamily="34" charset="0"/>
                <a:ea typeface="Georgia" pitchFamily="34" charset="-122"/>
                <a:cs typeface="Georgia" pitchFamily="34" charset="-120"/>
              </a:rPr>
              <a:t>lignes</a:t>
            </a:r>
            <a:endParaRPr lang="en-US" sz="2200" dirty="0"/>
          </a:p>
        </p:txBody>
      </p:sp>
      <p:sp>
        <p:nvSpPr>
          <p:cNvPr id="11" name="Shape 9"/>
          <p:cNvSpPr/>
          <p:nvPr/>
        </p:nvSpPr>
        <p:spPr>
          <a:xfrm>
            <a:off x="731520" y="4709160"/>
            <a:ext cx="1828800" cy="36576"/>
          </a:xfrm>
          <a:prstGeom prst="rect">
            <a:avLst/>
          </a:prstGeom>
          <a:solidFill>
            <a:srgbClr val="C0392B"/>
          </a:solidFill>
          <a:ln/>
        </p:spPr>
        <p:txBody>
          <a:bodyPr/>
          <a:lstStyle/>
          <a:p>
            <a:endParaRPr lang="fr-FR"/>
          </a:p>
        </p:txBody>
      </p:sp>
      <p:sp>
        <p:nvSpPr>
          <p:cNvPr id="12" name="Text 10"/>
          <p:cNvSpPr/>
          <p:nvPr/>
        </p:nvSpPr>
        <p:spPr>
          <a:xfrm>
            <a:off x="365760" y="4800600"/>
            <a:ext cx="2560320" cy="365760"/>
          </a:xfrm>
          <a:prstGeom prst="rect">
            <a:avLst/>
          </a:prstGeom>
          <a:noFill/>
          <a:ln/>
        </p:spPr>
        <p:txBody>
          <a:bodyPr wrap="square" rtlCol="0" anchor="ctr"/>
          <a:lstStyle/>
          <a:p>
            <a:pPr marL="0" indent="0" algn="ctr">
              <a:buNone/>
            </a:pPr>
            <a:r>
              <a:rPr lang="en-US" sz="1000" dirty="0">
                <a:solidFill>
                  <a:srgbClr val="F39C12"/>
                </a:solidFill>
                <a:latin typeface="Calibri" pitchFamily="34" charset="0"/>
                <a:ea typeface="Calibri" pitchFamily="34" charset="-122"/>
                <a:cs typeface="Calibri" pitchFamily="34" charset="-120"/>
              </a:rPr>
              <a:t>Fiabilité</a:t>
            </a:r>
            <a:endParaRPr lang="en-US" sz="1000" dirty="0"/>
          </a:p>
        </p:txBody>
      </p:sp>
      <p:sp>
        <p:nvSpPr>
          <p:cNvPr id="13" name="Text 11"/>
          <p:cNvSpPr/>
          <p:nvPr/>
        </p:nvSpPr>
        <p:spPr>
          <a:xfrm>
            <a:off x="365760" y="5212080"/>
            <a:ext cx="2560320" cy="365760"/>
          </a:xfrm>
          <a:prstGeom prst="rect">
            <a:avLst/>
          </a:prstGeom>
          <a:noFill/>
          <a:ln/>
        </p:spPr>
        <p:txBody>
          <a:bodyPr wrap="square" rtlCol="0" anchor="ctr"/>
          <a:lstStyle/>
          <a:p>
            <a:pPr marL="0" indent="0" algn="ctr">
              <a:buNone/>
            </a:pPr>
            <a:r>
              <a:rPr lang="en-US" sz="1000" i="1" dirty="0">
                <a:solidFill>
                  <a:srgbClr val="888888"/>
                </a:solidFill>
                <a:latin typeface="Calibri" pitchFamily="34" charset="0"/>
                <a:ea typeface="Calibri" pitchFamily="34" charset="-122"/>
                <a:cs typeface="Calibri" pitchFamily="34" charset="-120"/>
              </a:rPr>
              <a:t>PHPUnit + PCOV</a:t>
            </a:r>
            <a:endParaRPr lang="en-US" sz="1000" dirty="0"/>
          </a:p>
        </p:txBody>
      </p:sp>
      <p:sp>
        <p:nvSpPr>
          <p:cNvPr id="14" name="Shape 12"/>
          <p:cNvSpPr/>
          <p:nvPr/>
        </p:nvSpPr>
        <p:spPr>
          <a:xfrm>
            <a:off x="3200400" y="2926080"/>
            <a:ext cx="2743200" cy="3291840"/>
          </a:xfrm>
          <a:prstGeom prst="rect">
            <a:avLst/>
          </a:prstGeom>
          <a:solidFill>
            <a:srgbClr val="3A1A1A"/>
          </a:solidFill>
          <a:ln w="19050">
            <a:solidFill>
              <a:srgbClr val="C0392B"/>
            </a:solidFill>
            <a:prstDash val="solid"/>
          </a:ln>
        </p:spPr>
        <p:txBody>
          <a:bodyPr/>
          <a:lstStyle/>
          <a:p>
            <a:endParaRPr lang="fr-FR"/>
          </a:p>
        </p:txBody>
      </p:sp>
      <p:sp>
        <p:nvSpPr>
          <p:cNvPr id="15" name="Text 13"/>
          <p:cNvSpPr/>
          <p:nvPr/>
        </p:nvSpPr>
        <p:spPr>
          <a:xfrm>
            <a:off x="3337560" y="3063240"/>
            <a:ext cx="2468880" cy="640080"/>
          </a:xfrm>
          <a:prstGeom prst="rect">
            <a:avLst/>
          </a:prstGeom>
          <a:noFill/>
          <a:ln/>
        </p:spPr>
        <p:txBody>
          <a:bodyPr wrap="square" rtlCol="0" anchor="ctr"/>
          <a:lstStyle/>
          <a:p>
            <a:pPr marL="0" indent="0" algn="ctr">
              <a:buNone/>
            </a:pPr>
            <a:r>
              <a:rPr lang="en-US" sz="1200" b="1" dirty="0">
                <a:solidFill>
                  <a:srgbClr val="888888"/>
                </a:solidFill>
                <a:latin typeface="Calibri" pitchFamily="34" charset="0"/>
                <a:ea typeface="Calibri" pitchFamily="34" charset="-122"/>
                <a:cs typeface="Calibri" pitchFamily="34" charset="-120"/>
              </a:rPr>
              <a:t>Vulnérabilités</a:t>
            </a:r>
            <a:endParaRPr lang="en-US" sz="1200" dirty="0"/>
          </a:p>
          <a:p>
            <a:pPr marL="0" indent="0" algn="ctr">
              <a:buNone/>
            </a:pPr>
            <a:r>
              <a:rPr lang="en-US" sz="1200" b="1" dirty="0">
                <a:solidFill>
                  <a:srgbClr val="888888"/>
                </a:solidFill>
                <a:latin typeface="Calibri" pitchFamily="34" charset="0"/>
                <a:ea typeface="Calibri" pitchFamily="34" charset="-122"/>
                <a:cs typeface="Calibri" pitchFamily="34" charset="-120"/>
              </a:rPr>
              <a:t>0-day</a:t>
            </a:r>
            <a:endParaRPr lang="en-US" sz="1200" dirty="0"/>
          </a:p>
        </p:txBody>
      </p:sp>
      <p:sp>
        <p:nvSpPr>
          <p:cNvPr id="16" name="Text 14"/>
          <p:cNvSpPr/>
          <p:nvPr/>
        </p:nvSpPr>
        <p:spPr>
          <a:xfrm>
            <a:off x="3291840" y="3749040"/>
            <a:ext cx="2560320" cy="914400"/>
          </a:xfrm>
          <a:prstGeom prst="rect">
            <a:avLst/>
          </a:prstGeom>
          <a:noFill/>
          <a:ln/>
        </p:spPr>
        <p:txBody>
          <a:bodyPr wrap="square" rtlCol="0" anchor="ctr"/>
          <a:lstStyle/>
          <a:p>
            <a:pPr marL="0" indent="0" algn="ctr">
              <a:buNone/>
            </a:pPr>
            <a:r>
              <a:rPr lang="en-US" sz="2200" b="1" dirty="0">
                <a:solidFill>
                  <a:srgbClr val="E74C3C"/>
                </a:solidFill>
                <a:latin typeface="Georgia" pitchFamily="34" charset="0"/>
                <a:ea typeface="Georgia" pitchFamily="34" charset="-122"/>
                <a:cs typeface="Georgia" pitchFamily="34" charset="-120"/>
              </a:rPr>
              <a:t>0</a:t>
            </a:r>
            <a:endParaRPr lang="en-US" sz="2200" dirty="0"/>
          </a:p>
          <a:p>
            <a:pPr marL="0" indent="0" algn="ctr">
              <a:buNone/>
            </a:pPr>
            <a:r>
              <a:rPr lang="en-US" sz="2200" b="1" dirty="0">
                <a:solidFill>
                  <a:srgbClr val="E74C3C"/>
                </a:solidFill>
                <a:latin typeface="Georgia" pitchFamily="34" charset="0"/>
                <a:ea typeface="Georgia" pitchFamily="34" charset="-122"/>
                <a:cs typeface="Georgia" pitchFamily="34" charset="-120"/>
              </a:rPr>
              <a:t>CRITICAL</a:t>
            </a:r>
            <a:endParaRPr lang="en-US" sz="2200" dirty="0"/>
          </a:p>
        </p:txBody>
      </p:sp>
      <p:sp>
        <p:nvSpPr>
          <p:cNvPr id="17" name="Shape 15"/>
          <p:cNvSpPr/>
          <p:nvPr/>
        </p:nvSpPr>
        <p:spPr>
          <a:xfrm>
            <a:off x="3657600" y="4709160"/>
            <a:ext cx="1828800" cy="36576"/>
          </a:xfrm>
          <a:prstGeom prst="rect">
            <a:avLst/>
          </a:prstGeom>
          <a:solidFill>
            <a:srgbClr val="C0392B"/>
          </a:solidFill>
          <a:ln/>
        </p:spPr>
        <p:txBody>
          <a:bodyPr/>
          <a:lstStyle/>
          <a:p>
            <a:endParaRPr lang="fr-FR"/>
          </a:p>
        </p:txBody>
      </p:sp>
      <p:sp>
        <p:nvSpPr>
          <p:cNvPr id="18" name="Text 16"/>
          <p:cNvSpPr/>
          <p:nvPr/>
        </p:nvSpPr>
        <p:spPr>
          <a:xfrm>
            <a:off x="3291840" y="4800600"/>
            <a:ext cx="2560320" cy="365760"/>
          </a:xfrm>
          <a:prstGeom prst="rect">
            <a:avLst/>
          </a:prstGeom>
          <a:noFill/>
          <a:ln/>
        </p:spPr>
        <p:txBody>
          <a:bodyPr wrap="square" rtlCol="0" anchor="ctr"/>
          <a:lstStyle/>
          <a:p>
            <a:pPr marL="0" indent="0" algn="ctr">
              <a:buNone/>
            </a:pPr>
            <a:r>
              <a:rPr lang="en-US" sz="1000" dirty="0">
                <a:solidFill>
                  <a:srgbClr val="F39C12"/>
                </a:solidFill>
                <a:latin typeface="Calibri" pitchFamily="34" charset="0"/>
                <a:ea typeface="Calibri" pitchFamily="34" charset="-122"/>
                <a:cs typeface="Calibri" pitchFamily="34" charset="-120"/>
              </a:rPr>
              <a:t>Sécurité</a:t>
            </a:r>
            <a:endParaRPr lang="en-US" sz="1000" dirty="0"/>
          </a:p>
        </p:txBody>
      </p:sp>
      <p:sp>
        <p:nvSpPr>
          <p:cNvPr id="19" name="Text 17"/>
          <p:cNvSpPr/>
          <p:nvPr/>
        </p:nvSpPr>
        <p:spPr>
          <a:xfrm>
            <a:off x="3291840" y="5212080"/>
            <a:ext cx="2560320" cy="365760"/>
          </a:xfrm>
          <a:prstGeom prst="rect">
            <a:avLst/>
          </a:prstGeom>
          <a:noFill/>
          <a:ln/>
        </p:spPr>
        <p:txBody>
          <a:bodyPr wrap="square" rtlCol="0" anchor="ctr"/>
          <a:lstStyle/>
          <a:p>
            <a:pPr marL="0" indent="0" algn="ctr">
              <a:buNone/>
            </a:pPr>
            <a:r>
              <a:rPr lang="en-US" sz="1000" i="1" dirty="0">
                <a:solidFill>
                  <a:srgbClr val="888888"/>
                </a:solidFill>
                <a:latin typeface="Calibri" pitchFamily="34" charset="0"/>
                <a:ea typeface="Calibri" pitchFamily="34" charset="-122"/>
                <a:cs typeface="Calibri" pitchFamily="34" charset="-120"/>
              </a:rPr>
              <a:t>Trivy</a:t>
            </a:r>
            <a:endParaRPr lang="en-US" sz="1000" dirty="0"/>
          </a:p>
        </p:txBody>
      </p:sp>
      <p:sp>
        <p:nvSpPr>
          <p:cNvPr id="20" name="Shape 18"/>
          <p:cNvSpPr/>
          <p:nvPr/>
        </p:nvSpPr>
        <p:spPr>
          <a:xfrm>
            <a:off x="6126480" y="2926080"/>
            <a:ext cx="2743200" cy="3291840"/>
          </a:xfrm>
          <a:prstGeom prst="rect">
            <a:avLst/>
          </a:prstGeom>
          <a:solidFill>
            <a:srgbClr val="1A2A3A"/>
          </a:solidFill>
          <a:ln w="19050">
            <a:solidFill>
              <a:srgbClr val="C0392B"/>
            </a:solidFill>
            <a:prstDash val="solid"/>
          </a:ln>
        </p:spPr>
        <p:txBody>
          <a:bodyPr/>
          <a:lstStyle/>
          <a:p>
            <a:endParaRPr lang="fr-FR"/>
          </a:p>
        </p:txBody>
      </p:sp>
      <p:sp>
        <p:nvSpPr>
          <p:cNvPr id="21" name="Text 19"/>
          <p:cNvSpPr/>
          <p:nvPr/>
        </p:nvSpPr>
        <p:spPr>
          <a:xfrm>
            <a:off x="6263640" y="3063240"/>
            <a:ext cx="2468880" cy="640080"/>
          </a:xfrm>
          <a:prstGeom prst="rect">
            <a:avLst/>
          </a:prstGeom>
          <a:noFill/>
          <a:ln/>
        </p:spPr>
        <p:txBody>
          <a:bodyPr wrap="square" rtlCol="0" anchor="ctr"/>
          <a:lstStyle/>
          <a:p>
            <a:pPr marL="0" indent="0" algn="ctr">
              <a:buNone/>
            </a:pPr>
            <a:r>
              <a:rPr lang="en-US" sz="1200" b="1" dirty="0">
                <a:solidFill>
                  <a:srgbClr val="888888"/>
                </a:solidFill>
                <a:latin typeface="Calibri" pitchFamily="34" charset="0"/>
                <a:ea typeface="Calibri" pitchFamily="34" charset="-122"/>
                <a:cs typeface="Calibri" pitchFamily="34" charset="-120"/>
              </a:rPr>
              <a:t>Temps de</a:t>
            </a:r>
            <a:endParaRPr lang="en-US" sz="1200" dirty="0"/>
          </a:p>
          <a:p>
            <a:pPr marL="0" indent="0" algn="ctr">
              <a:buNone/>
            </a:pPr>
            <a:r>
              <a:rPr lang="en-US" sz="1200" b="1" dirty="0">
                <a:solidFill>
                  <a:srgbClr val="888888"/>
                </a:solidFill>
                <a:latin typeface="Calibri" pitchFamily="34" charset="0"/>
                <a:ea typeface="Calibri" pitchFamily="34" charset="-122"/>
                <a:cs typeface="Calibri" pitchFamily="34" charset="-120"/>
              </a:rPr>
              <a:t>réponse p95</a:t>
            </a:r>
            <a:endParaRPr lang="en-US" sz="1200" dirty="0"/>
          </a:p>
        </p:txBody>
      </p:sp>
      <p:sp>
        <p:nvSpPr>
          <p:cNvPr id="22" name="Text 20"/>
          <p:cNvSpPr/>
          <p:nvPr/>
        </p:nvSpPr>
        <p:spPr>
          <a:xfrm>
            <a:off x="6217920" y="3749040"/>
            <a:ext cx="2560320" cy="914400"/>
          </a:xfrm>
          <a:prstGeom prst="rect">
            <a:avLst/>
          </a:prstGeom>
          <a:noFill/>
          <a:ln/>
        </p:spPr>
        <p:txBody>
          <a:bodyPr wrap="square" rtlCol="0" anchor="ctr"/>
          <a:lstStyle/>
          <a:p>
            <a:pPr marL="0" indent="0" algn="ctr">
              <a:buNone/>
            </a:pPr>
            <a:r>
              <a:rPr lang="en-US" sz="2200" b="1" dirty="0">
                <a:solidFill>
                  <a:srgbClr val="E74C3C"/>
                </a:solidFill>
                <a:latin typeface="Georgia" pitchFamily="34" charset="0"/>
                <a:ea typeface="Georgia" pitchFamily="34" charset="-122"/>
                <a:cs typeface="Georgia" pitchFamily="34" charset="-120"/>
              </a:rPr>
              <a:t>&lt; 200ms</a:t>
            </a:r>
            <a:endParaRPr lang="en-US" sz="2200" dirty="0"/>
          </a:p>
        </p:txBody>
      </p:sp>
      <p:sp>
        <p:nvSpPr>
          <p:cNvPr id="23" name="Shape 21"/>
          <p:cNvSpPr/>
          <p:nvPr/>
        </p:nvSpPr>
        <p:spPr>
          <a:xfrm>
            <a:off x="6583680" y="4709160"/>
            <a:ext cx="1828800" cy="36576"/>
          </a:xfrm>
          <a:prstGeom prst="rect">
            <a:avLst/>
          </a:prstGeom>
          <a:solidFill>
            <a:srgbClr val="C0392B"/>
          </a:solidFill>
          <a:ln/>
        </p:spPr>
        <p:txBody>
          <a:bodyPr/>
          <a:lstStyle/>
          <a:p>
            <a:endParaRPr lang="fr-FR"/>
          </a:p>
        </p:txBody>
      </p:sp>
      <p:sp>
        <p:nvSpPr>
          <p:cNvPr id="24" name="Text 22"/>
          <p:cNvSpPr/>
          <p:nvPr/>
        </p:nvSpPr>
        <p:spPr>
          <a:xfrm>
            <a:off x="6217920" y="4800600"/>
            <a:ext cx="2560320" cy="365760"/>
          </a:xfrm>
          <a:prstGeom prst="rect">
            <a:avLst/>
          </a:prstGeom>
          <a:noFill/>
          <a:ln/>
        </p:spPr>
        <p:txBody>
          <a:bodyPr wrap="square" rtlCol="0" anchor="ctr"/>
          <a:lstStyle/>
          <a:p>
            <a:pPr marL="0" indent="0" algn="ctr">
              <a:buNone/>
            </a:pPr>
            <a:r>
              <a:rPr lang="en-US" sz="1000" dirty="0">
                <a:solidFill>
                  <a:srgbClr val="F39C12"/>
                </a:solidFill>
                <a:latin typeface="Calibri" pitchFamily="34" charset="0"/>
                <a:ea typeface="Calibri" pitchFamily="34" charset="-122"/>
                <a:cs typeface="Calibri" pitchFamily="34" charset="-120"/>
              </a:rPr>
              <a:t>Performance</a:t>
            </a:r>
            <a:endParaRPr lang="en-US" sz="1000" dirty="0"/>
          </a:p>
        </p:txBody>
      </p:sp>
      <p:sp>
        <p:nvSpPr>
          <p:cNvPr id="25" name="Text 23"/>
          <p:cNvSpPr/>
          <p:nvPr/>
        </p:nvSpPr>
        <p:spPr>
          <a:xfrm>
            <a:off x="6217920" y="5212080"/>
            <a:ext cx="2560320" cy="365760"/>
          </a:xfrm>
          <a:prstGeom prst="rect">
            <a:avLst/>
          </a:prstGeom>
          <a:noFill/>
          <a:ln/>
        </p:spPr>
        <p:txBody>
          <a:bodyPr wrap="square" rtlCol="0" anchor="ctr"/>
          <a:lstStyle/>
          <a:p>
            <a:pPr marL="0" indent="0" algn="ctr">
              <a:buNone/>
            </a:pPr>
            <a:r>
              <a:rPr lang="en-US" sz="1000" i="1" dirty="0">
                <a:solidFill>
                  <a:srgbClr val="888888"/>
                </a:solidFill>
                <a:latin typeface="Calibri" pitchFamily="34" charset="0"/>
                <a:ea typeface="Calibri" pitchFamily="34" charset="-122"/>
                <a:cs typeface="Calibri" pitchFamily="34" charset="-120"/>
              </a:rPr>
              <a:t>k6</a:t>
            </a:r>
            <a:endParaRPr lang="en-US" sz="1000" dirty="0"/>
          </a:p>
        </p:txBody>
      </p:sp>
      <p:sp>
        <p:nvSpPr>
          <p:cNvPr id="26" name="Shape 24"/>
          <p:cNvSpPr/>
          <p:nvPr/>
        </p:nvSpPr>
        <p:spPr>
          <a:xfrm>
            <a:off x="9052560" y="2926080"/>
            <a:ext cx="2743200" cy="3291840"/>
          </a:xfrm>
          <a:prstGeom prst="rect">
            <a:avLst/>
          </a:prstGeom>
          <a:solidFill>
            <a:srgbClr val="2A1A3A"/>
          </a:solidFill>
          <a:ln w="19050">
            <a:solidFill>
              <a:srgbClr val="C0392B"/>
            </a:solidFill>
            <a:prstDash val="solid"/>
          </a:ln>
        </p:spPr>
        <p:txBody>
          <a:bodyPr/>
          <a:lstStyle/>
          <a:p>
            <a:endParaRPr lang="fr-FR"/>
          </a:p>
        </p:txBody>
      </p:sp>
      <p:sp>
        <p:nvSpPr>
          <p:cNvPr id="27" name="Text 25"/>
          <p:cNvSpPr/>
          <p:nvPr/>
        </p:nvSpPr>
        <p:spPr>
          <a:xfrm>
            <a:off x="9189720" y="3063240"/>
            <a:ext cx="2468880" cy="640080"/>
          </a:xfrm>
          <a:prstGeom prst="rect">
            <a:avLst/>
          </a:prstGeom>
          <a:noFill/>
          <a:ln/>
        </p:spPr>
        <p:txBody>
          <a:bodyPr wrap="square" rtlCol="0" anchor="ctr"/>
          <a:lstStyle/>
          <a:p>
            <a:pPr marL="0" indent="0" algn="ctr">
              <a:buNone/>
            </a:pPr>
            <a:r>
              <a:rPr lang="en-US" sz="1200" b="1" dirty="0">
                <a:solidFill>
                  <a:srgbClr val="888888"/>
                </a:solidFill>
                <a:latin typeface="Calibri" pitchFamily="34" charset="0"/>
                <a:ea typeface="Calibri" pitchFamily="34" charset="-122"/>
                <a:cs typeface="Calibri" pitchFamily="34" charset="-120"/>
              </a:rPr>
              <a:t>Code smells</a:t>
            </a:r>
            <a:endParaRPr lang="en-US" sz="1200" dirty="0"/>
          </a:p>
          <a:p>
            <a:pPr marL="0" indent="0" algn="ctr">
              <a:buNone/>
            </a:pPr>
            <a:r>
              <a:rPr lang="en-US" sz="1200" b="1" dirty="0">
                <a:solidFill>
                  <a:srgbClr val="888888"/>
                </a:solidFill>
                <a:latin typeface="Calibri" pitchFamily="34" charset="0"/>
                <a:ea typeface="Calibri" pitchFamily="34" charset="-122"/>
                <a:cs typeface="Calibri" pitchFamily="34" charset="-120"/>
              </a:rPr>
              <a:t>/ duplications</a:t>
            </a:r>
            <a:endParaRPr lang="en-US" sz="1200" dirty="0"/>
          </a:p>
        </p:txBody>
      </p:sp>
      <p:sp>
        <p:nvSpPr>
          <p:cNvPr id="28" name="Text 26"/>
          <p:cNvSpPr/>
          <p:nvPr/>
        </p:nvSpPr>
        <p:spPr>
          <a:xfrm>
            <a:off x="9144000" y="3749040"/>
            <a:ext cx="2560320" cy="914400"/>
          </a:xfrm>
          <a:prstGeom prst="rect">
            <a:avLst/>
          </a:prstGeom>
          <a:noFill/>
          <a:ln/>
        </p:spPr>
        <p:txBody>
          <a:bodyPr wrap="square" rtlCol="0" anchor="ctr"/>
          <a:lstStyle/>
          <a:p>
            <a:pPr marL="0" indent="0" algn="ctr">
              <a:buNone/>
            </a:pPr>
            <a:r>
              <a:rPr lang="en-US" sz="2200" b="1" dirty="0">
                <a:solidFill>
                  <a:srgbClr val="E74C3C"/>
                </a:solidFill>
                <a:latin typeface="Georgia" pitchFamily="34" charset="0"/>
                <a:ea typeface="Georgia" pitchFamily="34" charset="-122"/>
                <a:cs typeface="Georgia" pitchFamily="34" charset="-120"/>
              </a:rPr>
              <a:t>SonarCloud</a:t>
            </a:r>
            <a:endParaRPr lang="en-US" sz="2200" dirty="0"/>
          </a:p>
          <a:p>
            <a:pPr marL="0" indent="0" algn="ctr">
              <a:buNone/>
            </a:pPr>
            <a:r>
              <a:rPr lang="en-US" sz="2200" b="1" dirty="0">
                <a:solidFill>
                  <a:srgbClr val="E74C3C"/>
                </a:solidFill>
                <a:latin typeface="Georgia" pitchFamily="34" charset="0"/>
                <a:ea typeface="Georgia" pitchFamily="34" charset="-122"/>
                <a:cs typeface="Georgia" pitchFamily="34" charset="-120"/>
              </a:rPr>
              <a:t>actif</a:t>
            </a:r>
            <a:endParaRPr lang="en-US" sz="2200" dirty="0"/>
          </a:p>
        </p:txBody>
      </p:sp>
      <p:sp>
        <p:nvSpPr>
          <p:cNvPr id="29" name="Shape 27"/>
          <p:cNvSpPr/>
          <p:nvPr/>
        </p:nvSpPr>
        <p:spPr>
          <a:xfrm>
            <a:off x="9509760" y="4709160"/>
            <a:ext cx="1828800" cy="36576"/>
          </a:xfrm>
          <a:prstGeom prst="rect">
            <a:avLst/>
          </a:prstGeom>
          <a:solidFill>
            <a:srgbClr val="C0392B"/>
          </a:solidFill>
          <a:ln/>
        </p:spPr>
        <p:txBody>
          <a:bodyPr/>
          <a:lstStyle/>
          <a:p>
            <a:endParaRPr lang="fr-FR"/>
          </a:p>
        </p:txBody>
      </p:sp>
      <p:sp>
        <p:nvSpPr>
          <p:cNvPr id="30" name="Text 28"/>
          <p:cNvSpPr/>
          <p:nvPr/>
        </p:nvSpPr>
        <p:spPr>
          <a:xfrm>
            <a:off x="9144000" y="4800600"/>
            <a:ext cx="2560320" cy="365760"/>
          </a:xfrm>
          <a:prstGeom prst="rect">
            <a:avLst/>
          </a:prstGeom>
          <a:noFill/>
          <a:ln/>
        </p:spPr>
        <p:txBody>
          <a:bodyPr wrap="square" rtlCol="0" anchor="ctr"/>
          <a:lstStyle/>
          <a:p>
            <a:pPr marL="0" indent="0" algn="ctr">
              <a:buNone/>
            </a:pPr>
            <a:r>
              <a:rPr lang="en-US" sz="1000" dirty="0">
                <a:solidFill>
                  <a:srgbClr val="F39C12"/>
                </a:solidFill>
                <a:latin typeface="Calibri" pitchFamily="34" charset="0"/>
                <a:ea typeface="Calibri" pitchFamily="34" charset="-122"/>
                <a:cs typeface="Calibri" pitchFamily="34" charset="-120"/>
              </a:rPr>
              <a:t>Maintenabilité</a:t>
            </a:r>
            <a:endParaRPr lang="en-US" sz="1000" dirty="0"/>
          </a:p>
        </p:txBody>
      </p:sp>
      <p:sp>
        <p:nvSpPr>
          <p:cNvPr id="31" name="Text 29"/>
          <p:cNvSpPr/>
          <p:nvPr/>
        </p:nvSpPr>
        <p:spPr>
          <a:xfrm>
            <a:off x="9144000" y="5212080"/>
            <a:ext cx="2560320" cy="365760"/>
          </a:xfrm>
          <a:prstGeom prst="rect">
            <a:avLst/>
          </a:prstGeom>
          <a:noFill/>
          <a:ln/>
        </p:spPr>
        <p:txBody>
          <a:bodyPr wrap="square" rtlCol="0" anchor="ctr"/>
          <a:lstStyle/>
          <a:p>
            <a:pPr marL="0" indent="0" algn="ctr">
              <a:buNone/>
            </a:pPr>
            <a:r>
              <a:rPr lang="en-US" sz="1000" i="1" dirty="0">
                <a:solidFill>
                  <a:srgbClr val="888888"/>
                </a:solidFill>
                <a:latin typeface="Calibri" pitchFamily="34" charset="0"/>
                <a:ea typeface="Calibri" pitchFamily="34" charset="-122"/>
                <a:cs typeface="Calibri" pitchFamily="34" charset="-120"/>
              </a:rPr>
              <a:t>SonarCloud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10972800" cy="182880"/>
          </a:xfrm>
          <a:prstGeom prst="rect">
            <a:avLst/>
          </a:prstGeom>
          <a:noFill/>
          <a:ln/>
        </p:spPr>
        <p:txBody>
          <a:bodyPr wrap="square" rtlCol="0" anchor="ctr"/>
          <a:lstStyle/>
          <a:p>
            <a:pPr marL="0" indent="0">
              <a:buNone/>
            </a:pPr>
            <a:r>
              <a:rPr lang="en-US" sz="800" dirty="0">
                <a:solidFill>
                  <a:srgbClr val="888888"/>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Shape 3"/>
          <p:cNvSpPr/>
          <p:nvPr/>
        </p:nvSpPr>
        <p:spPr>
          <a:xfrm>
            <a:off x="365760" y="1051560"/>
            <a:ext cx="2377440" cy="54864"/>
          </a:xfrm>
          <a:prstGeom prst="rect">
            <a:avLst/>
          </a:prstGeom>
          <a:solidFill>
            <a:srgbClr val="C0392B"/>
          </a:solidFill>
          <a:ln/>
        </p:spPr>
        <p:txBody>
          <a:bodyPr/>
          <a:lstStyle/>
          <a:p>
            <a:endParaRPr lang="fr-FR"/>
          </a:p>
        </p:txBody>
      </p:sp>
      <p:sp>
        <p:nvSpPr>
          <p:cNvPr id="6" name="Text 4"/>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DEVSECOPS</a:t>
            </a:r>
            <a:endParaRPr lang="en-US" sz="1100" dirty="0"/>
          </a:p>
        </p:txBody>
      </p:sp>
      <p:sp>
        <p:nvSpPr>
          <p:cNvPr id="7" name="Text 5"/>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Georgia" pitchFamily="34" charset="0"/>
                <a:ea typeface="Georgia" pitchFamily="34" charset="-122"/>
                <a:cs typeface="Georgia" pitchFamily="34" charset="-120"/>
              </a:rPr>
              <a:t>Shift Left Security</a:t>
            </a:r>
            <a:endParaRPr lang="en-US" sz="3400" dirty="0"/>
          </a:p>
          <a:p>
            <a:pPr marL="0" indent="0">
              <a:buNone/>
            </a:pPr>
            <a:r>
              <a:rPr lang="en-US" sz="3400" b="1" dirty="0">
                <a:solidFill>
                  <a:srgbClr val="F0F0F0"/>
                </a:solidFill>
                <a:latin typeface="Georgia" pitchFamily="34" charset="0"/>
                <a:ea typeface="Georgia" pitchFamily="34" charset="-122"/>
                <a:cs typeface="Georgia" pitchFamily="34" charset="-120"/>
              </a:rPr>
              <a:t>— la sécurité à chaque étape</a:t>
            </a:r>
            <a:endParaRPr lang="en-US" sz="3400" dirty="0"/>
          </a:p>
        </p:txBody>
      </p:sp>
      <p:sp>
        <p:nvSpPr>
          <p:cNvPr id="8" name="Shape 6"/>
          <p:cNvSpPr/>
          <p:nvPr/>
        </p:nvSpPr>
        <p:spPr>
          <a:xfrm>
            <a:off x="274320" y="2743200"/>
            <a:ext cx="2103120" cy="2560320"/>
          </a:xfrm>
          <a:prstGeom prst="rect">
            <a:avLst/>
          </a:prstGeom>
          <a:solidFill>
            <a:srgbClr val="1A1A2E"/>
          </a:solidFill>
          <a:ln w="19050">
            <a:solidFill>
              <a:srgbClr val="C0392B"/>
            </a:solidFill>
            <a:prstDash val="solid"/>
          </a:ln>
        </p:spPr>
        <p:txBody>
          <a:bodyPr/>
          <a:lstStyle/>
          <a:p>
            <a:endParaRPr lang="fr-FR"/>
          </a:p>
        </p:txBody>
      </p:sp>
      <p:sp>
        <p:nvSpPr>
          <p:cNvPr id="9" name="Text 7"/>
          <p:cNvSpPr/>
          <p:nvPr/>
        </p:nvSpPr>
        <p:spPr>
          <a:xfrm>
            <a:off x="365760" y="2880360"/>
            <a:ext cx="1920240" cy="502920"/>
          </a:xfrm>
          <a:prstGeom prst="rect">
            <a:avLst/>
          </a:prstGeom>
          <a:noFill/>
          <a:ln/>
        </p:spPr>
        <p:txBody>
          <a:bodyPr wrap="square" rtlCol="0" anchor="ctr"/>
          <a:lstStyle/>
          <a:p>
            <a:pPr marL="0" indent="0" algn="ctr">
              <a:buNone/>
            </a:pPr>
            <a:r>
              <a:rPr lang="en-US" sz="1600" b="1" dirty="0">
                <a:solidFill>
                  <a:srgbClr val="F0F0F0"/>
                </a:solidFill>
                <a:latin typeface="Georgia" pitchFamily="34" charset="0"/>
                <a:ea typeface="Georgia" pitchFamily="34" charset="-122"/>
                <a:cs typeface="Georgia" pitchFamily="34" charset="-120"/>
              </a:rPr>
              <a:t>Plan</a:t>
            </a:r>
            <a:endParaRPr lang="en-US" sz="1600" dirty="0"/>
          </a:p>
        </p:txBody>
      </p:sp>
      <p:sp>
        <p:nvSpPr>
          <p:cNvPr id="10" name="Shape 8"/>
          <p:cNvSpPr/>
          <p:nvPr/>
        </p:nvSpPr>
        <p:spPr>
          <a:xfrm>
            <a:off x="640080" y="3429000"/>
            <a:ext cx="1371600" cy="36576"/>
          </a:xfrm>
          <a:prstGeom prst="rect">
            <a:avLst/>
          </a:prstGeom>
          <a:solidFill>
            <a:srgbClr val="C0392B"/>
          </a:solidFill>
          <a:ln/>
        </p:spPr>
        <p:txBody>
          <a:bodyPr/>
          <a:lstStyle/>
          <a:p>
            <a:endParaRPr lang="fr-FR"/>
          </a:p>
        </p:txBody>
      </p:sp>
      <p:sp>
        <p:nvSpPr>
          <p:cNvPr id="11" name="Text 9"/>
          <p:cNvSpPr/>
          <p:nvPr/>
        </p:nvSpPr>
        <p:spPr>
          <a:xfrm>
            <a:off x="365760" y="3520440"/>
            <a:ext cx="1920240" cy="1371600"/>
          </a:xfrm>
          <a:prstGeom prst="rect">
            <a:avLst/>
          </a:prstGeom>
          <a:noFill/>
          <a:ln/>
        </p:spPr>
        <p:txBody>
          <a:bodyPr wrap="square" rtlCol="0" anchor="ctr"/>
          <a:lstStyle/>
          <a:p>
            <a:pPr marL="0" indent="0" algn="ctr">
              <a:buNone/>
            </a:pPr>
            <a:r>
              <a:rPr lang="en-US" sz="1100" dirty="0">
                <a:solidFill>
                  <a:srgbClr val="888888"/>
                </a:solidFill>
                <a:latin typeface="Calibri" pitchFamily="34" charset="0"/>
                <a:ea typeface="Calibri" pitchFamily="34" charset="-122"/>
                <a:cs typeface="Calibri" pitchFamily="34" charset="-120"/>
              </a:rPr>
              <a:t>Backlog</a:t>
            </a:r>
            <a:endParaRPr lang="en-US" sz="1100" dirty="0"/>
          </a:p>
          <a:p>
            <a:pPr marL="0" indent="0" algn="ctr">
              <a:buNone/>
            </a:pPr>
            <a:r>
              <a:rPr lang="en-US" sz="1100" dirty="0">
                <a:solidFill>
                  <a:srgbClr val="888888"/>
                </a:solidFill>
                <a:latin typeface="Calibri" pitchFamily="34" charset="0"/>
                <a:ea typeface="Calibri" pitchFamily="34" charset="-122"/>
                <a:cs typeface="Calibri" pitchFamily="34" charset="-120"/>
              </a:rPr>
              <a:t>User Stories</a:t>
            </a:r>
            <a:endParaRPr lang="en-US" sz="1100" dirty="0"/>
          </a:p>
        </p:txBody>
      </p:sp>
      <p:sp>
        <p:nvSpPr>
          <p:cNvPr id="12" name="Text 10"/>
          <p:cNvSpPr/>
          <p:nvPr/>
        </p:nvSpPr>
        <p:spPr>
          <a:xfrm>
            <a:off x="1051560" y="4983480"/>
            <a:ext cx="548640" cy="365760"/>
          </a:xfrm>
          <a:prstGeom prst="rect">
            <a:avLst/>
          </a:prstGeom>
          <a:noFill/>
          <a:ln/>
        </p:spPr>
        <p:txBody>
          <a:bodyPr wrap="square" rtlCol="0" anchor="ctr"/>
          <a:lstStyle/>
          <a:p>
            <a:pPr marL="0" indent="0" algn="ctr">
              <a:buNone/>
            </a:pPr>
            <a:r>
              <a:rPr lang="en-US" sz="1400" dirty="0">
                <a:solidFill>
                  <a:srgbClr val="000000"/>
                </a:solidFill>
              </a:rPr>
              <a:t>🔒</a:t>
            </a:r>
            <a:endParaRPr lang="en-US" sz="1400" dirty="0"/>
          </a:p>
        </p:txBody>
      </p:sp>
      <p:sp>
        <p:nvSpPr>
          <p:cNvPr id="13" name="Text 11"/>
          <p:cNvSpPr/>
          <p:nvPr/>
        </p:nvSpPr>
        <p:spPr>
          <a:xfrm>
            <a:off x="2377440" y="3657600"/>
            <a:ext cx="365760" cy="548640"/>
          </a:xfrm>
          <a:prstGeom prst="rect">
            <a:avLst/>
          </a:prstGeom>
          <a:noFill/>
          <a:ln/>
        </p:spPr>
        <p:txBody>
          <a:bodyPr wrap="square" rtlCol="0" anchor="ctr"/>
          <a:lstStyle/>
          <a:p>
            <a:pPr marL="0" indent="0" algn="ctr">
              <a:buNone/>
            </a:pPr>
            <a:r>
              <a:rPr lang="en-US" sz="2200" b="1" dirty="0">
                <a:solidFill>
                  <a:srgbClr val="C0392B"/>
                </a:solidFill>
                <a:latin typeface="Calibri" pitchFamily="34" charset="0"/>
                <a:ea typeface="Calibri" pitchFamily="34" charset="-122"/>
                <a:cs typeface="Calibri" pitchFamily="34" charset="-120"/>
              </a:rPr>
              <a:t>→</a:t>
            </a:r>
            <a:endParaRPr lang="en-US" sz="2200" dirty="0"/>
          </a:p>
        </p:txBody>
      </p:sp>
      <p:sp>
        <p:nvSpPr>
          <p:cNvPr id="14" name="Shape 12"/>
          <p:cNvSpPr/>
          <p:nvPr/>
        </p:nvSpPr>
        <p:spPr>
          <a:xfrm>
            <a:off x="2651760" y="2743200"/>
            <a:ext cx="2103120" cy="2560320"/>
          </a:xfrm>
          <a:prstGeom prst="rect">
            <a:avLst/>
          </a:prstGeom>
          <a:solidFill>
            <a:srgbClr val="2E1A1A"/>
          </a:solidFill>
          <a:ln w="19050">
            <a:solidFill>
              <a:srgbClr val="C0392B"/>
            </a:solidFill>
            <a:prstDash val="solid"/>
          </a:ln>
        </p:spPr>
        <p:txBody>
          <a:bodyPr/>
          <a:lstStyle/>
          <a:p>
            <a:endParaRPr lang="fr-FR"/>
          </a:p>
        </p:txBody>
      </p:sp>
      <p:sp>
        <p:nvSpPr>
          <p:cNvPr id="15" name="Text 13"/>
          <p:cNvSpPr/>
          <p:nvPr/>
        </p:nvSpPr>
        <p:spPr>
          <a:xfrm>
            <a:off x="2743200" y="2880360"/>
            <a:ext cx="1920240" cy="502920"/>
          </a:xfrm>
          <a:prstGeom prst="rect">
            <a:avLst/>
          </a:prstGeom>
          <a:noFill/>
          <a:ln/>
        </p:spPr>
        <p:txBody>
          <a:bodyPr wrap="square" rtlCol="0" anchor="ctr"/>
          <a:lstStyle/>
          <a:p>
            <a:pPr marL="0" indent="0" algn="ctr">
              <a:buNone/>
            </a:pPr>
            <a:r>
              <a:rPr lang="en-US" sz="1600" b="1" dirty="0">
                <a:solidFill>
                  <a:srgbClr val="F0F0F0"/>
                </a:solidFill>
                <a:latin typeface="Georgia" pitchFamily="34" charset="0"/>
                <a:ea typeface="Georgia" pitchFamily="34" charset="-122"/>
                <a:cs typeface="Georgia" pitchFamily="34" charset="-120"/>
              </a:rPr>
              <a:t>Code</a:t>
            </a:r>
            <a:endParaRPr lang="en-US" sz="1600" dirty="0"/>
          </a:p>
        </p:txBody>
      </p:sp>
      <p:sp>
        <p:nvSpPr>
          <p:cNvPr id="16" name="Shape 14"/>
          <p:cNvSpPr/>
          <p:nvPr/>
        </p:nvSpPr>
        <p:spPr>
          <a:xfrm>
            <a:off x="3017520" y="3429000"/>
            <a:ext cx="1371600" cy="36576"/>
          </a:xfrm>
          <a:prstGeom prst="rect">
            <a:avLst/>
          </a:prstGeom>
          <a:solidFill>
            <a:srgbClr val="C0392B"/>
          </a:solidFill>
          <a:ln/>
        </p:spPr>
        <p:txBody>
          <a:bodyPr/>
          <a:lstStyle/>
          <a:p>
            <a:endParaRPr lang="fr-FR"/>
          </a:p>
        </p:txBody>
      </p:sp>
      <p:sp>
        <p:nvSpPr>
          <p:cNvPr id="17" name="Text 15"/>
          <p:cNvSpPr/>
          <p:nvPr/>
        </p:nvSpPr>
        <p:spPr>
          <a:xfrm>
            <a:off x="2743200" y="3520440"/>
            <a:ext cx="1920240" cy="1371600"/>
          </a:xfrm>
          <a:prstGeom prst="rect">
            <a:avLst/>
          </a:prstGeom>
          <a:noFill/>
          <a:ln/>
        </p:spPr>
        <p:txBody>
          <a:bodyPr wrap="square" rtlCol="0" anchor="ctr"/>
          <a:lstStyle/>
          <a:p>
            <a:pPr marL="0" indent="0" algn="ctr">
              <a:buNone/>
            </a:pPr>
            <a:r>
              <a:rPr lang="en-US" sz="1100" dirty="0">
                <a:solidFill>
                  <a:srgbClr val="888888"/>
                </a:solidFill>
                <a:latin typeface="Calibri" pitchFamily="34" charset="0"/>
                <a:ea typeface="Calibri" pitchFamily="34" charset="-122"/>
                <a:cs typeface="Calibri" pitchFamily="34" charset="-120"/>
              </a:rPr>
              <a:t>SAST</a:t>
            </a:r>
            <a:endParaRPr lang="en-US" sz="1100" dirty="0"/>
          </a:p>
          <a:p>
            <a:pPr marL="0" indent="0" algn="ctr">
              <a:buNone/>
            </a:pPr>
            <a:r>
              <a:rPr lang="en-US" sz="1100" dirty="0">
                <a:solidFill>
                  <a:srgbClr val="888888"/>
                </a:solidFill>
                <a:latin typeface="Calibri" pitchFamily="34" charset="0"/>
                <a:ea typeface="Calibri" pitchFamily="34" charset="-122"/>
                <a:cs typeface="Calibri" pitchFamily="34" charset="-120"/>
              </a:rPr>
              <a:t>npm audit</a:t>
            </a:r>
            <a:endParaRPr lang="en-US" sz="1100" dirty="0"/>
          </a:p>
        </p:txBody>
      </p:sp>
      <p:sp>
        <p:nvSpPr>
          <p:cNvPr id="18" name="Text 16"/>
          <p:cNvSpPr/>
          <p:nvPr/>
        </p:nvSpPr>
        <p:spPr>
          <a:xfrm>
            <a:off x="3429000" y="4983480"/>
            <a:ext cx="548640" cy="365760"/>
          </a:xfrm>
          <a:prstGeom prst="rect">
            <a:avLst/>
          </a:prstGeom>
          <a:noFill/>
          <a:ln/>
        </p:spPr>
        <p:txBody>
          <a:bodyPr wrap="square" rtlCol="0" anchor="ctr"/>
          <a:lstStyle/>
          <a:p>
            <a:pPr marL="0" indent="0" algn="ctr">
              <a:buNone/>
            </a:pPr>
            <a:r>
              <a:rPr lang="en-US" sz="1400" dirty="0">
                <a:solidFill>
                  <a:srgbClr val="000000"/>
                </a:solidFill>
              </a:rPr>
              <a:t>🔒</a:t>
            </a:r>
            <a:endParaRPr lang="en-US" sz="1400" dirty="0"/>
          </a:p>
        </p:txBody>
      </p:sp>
      <p:sp>
        <p:nvSpPr>
          <p:cNvPr id="19" name="Text 17"/>
          <p:cNvSpPr/>
          <p:nvPr/>
        </p:nvSpPr>
        <p:spPr>
          <a:xfrm>
            <a:off x="4754880" y="3657600"/>
            <a:ext cx="365760" cy="548640"/>
          </a:xfrm>
          <a:prstGeom prst="rect">
            <a:avLst/>
          </a:prstGeom>
          <a:noFill/>
          <a:ln/>
        </p:spPr>
        <p:txBody>
          <a:bodyPr wrap="square" rtlCol="0" anchor="ctr"/>
          <a:lstStyle/>
          <a:p>
            <a:pPr marL="0" indent="0" algn="ctr">
              <a:buNone/>
            </a:pPr>
            <a:r>
              <a:rPr lang="en-US" sz="2200" b="1" dirty="0">
                <a:solidFill>
                  <a:srgbClr val="C0392B"/>
                </a:solidFill>
                <a:latin typeface="Calibri" pitchFamily="34" charset="0"/>
                <a:ea typeface="Calibri" pitchFamily="34" charset="-122"/>
                <a:cs typeface="Calibri" pitchFamily="34" charset="-120"/>
              </a:rPr>
              <a:t>→</a:t>
            </a:r>
            <a:endParaRPr lang="en-US" sz="2200" dirty="0"/>
          </a:p>
        </p:txBody>
      </p:sp>
      <p:sp>
        <p:nvSpPr>
          <p:cNvPr id="20" name="Shape 18"/>
          <p:cNvSpPr/>
          <p:nvPr/>
        </p:nvSpPr>
        <p:spPr>
          <a:xfrm>
            <a:off x="5029200" y="2743200"/>
            <a:ext cx="2103120" cy="2560320"/>
          </a:xfrm>
          <a:prstGeom prst="rect">
            <a:avLst/>
          </a:prstGeom>
          <a:solidFill>
            <a:srgbClr val="1A2E1A"/>
          </a:solidFill>
          <a:ln w="19050">
            <a:solidFill>
              <a:srgbClr val="C0392B"/>
            </a:solidFill>
            <a:prstDash val="solid"/>
          </a:ln>
        </p:spPr>
        <p:txBody>
          <a:bodyPr/>
          <a:lstStyle/>
          <a:p>
            <a:endParaRPr lang="fr-FR"/>
          </a:p>
        </p:txBody>
      </p:sp>
      <p:sp>
        <p:nvSpPr>
          <p:cNvPr id="21" name="Text 19"/>
          <p:cNvSpPr/>
          <p:nvPr/>
        </p:nvSpPr>
        <p:spPr>
          <a:xfrm>
            <a:off x="5120640" y="2880360"/>
            <a:ext cx="1920240" cy="502920"/>
          </a:xfrm>
          <a:prstGeom prst="rect">
            <a:avLst/>
          </a:prstGeom>
          <a:noFill/>
          <a:ln/>
        </p:spPr>
        <p:txBody>
          <a:bodyPr wrap="square" rtlCol="0" anchor="ctr"/>
          <a:lstStyle/>
          <a:p>
            <a:pPr marL="0" indent="0" algn="ctr">
              <a:buNone/>
            </a:pPr>
            <a:r>
              <a:rPr lang="en-US" sz="1600" b="1" dirty="0">
                <a:solidFill>
                  <a:srgbClr val="F0F0F0"/>
                </a:solidFill>
                <a:latin typeface="Georgia" pitchFamily="34" charset="0"/>
                <a:ea typeface="Georgia" pitchFamily="34" charset="-122"/>
                <a:cs typeface="Georgia" pitchFamily="34" charset="-120"/>
              </a:rPr>
              <a:t>Build</a:t>
            </a:r>
            <a:endParaRPr lang="en-US" sz="1600" dirty="0"/>
          </a:p>
        </p:txBody>
      </p:sp>
      <p:sp>
        <p:nvSpPr>
          <p:cNvPr id="22" name="Shape 20"/>
          <p:cNvSpPr/>
          <p:nvPr/>
        </p:nvSpPr>
        <p:spPr>
          <a:xfrm>
            <a:off x="5394960" y="3429000"/>
            <a:ext cx="1371600" cy="36576"/>
          </a:xfrm>
          <a:prstGeom prst="rect">
            <a:avLst/>
          </a:prstGeom>
          <a:solidFill>
            <a:srgbClr val="C0392B"/>
          </a:solidFill>
          <a:ln/>
        </p:spPr>
        <p:txBody>
          <a:bodyPr/>
          <a:lstStyle/>
          <a:p>
            <a:endParaRPr lang="fr-FR"/>
          </a:p>
        </p:txBody>
      </p:sp>
      <p:sp>
        <p:nvSpPr>
          <p:cNvPr id="23" name="Text 21"/>
          <p:cNvSpPr/>
          <p:nvPr/>
        </p:nvSpPr>
        <p:spPr>
          <a:xfrm>
            <a:off x="5120640" y="3520440"/>
            <a:ext cx="1920240" cy="1371600"/>
          </a:xfrm>
          <a:prstGeom prst="rect">
            <a:avLst/>
          </a:prstGeom>
          <a:noFill/>
          <a:ln/>
        </p:spPr>
        <p:txBody>
          <a:bodyPr wrap="square" rtlCol="0" anchor="ctr"/>
          <a:lstStyle/>
          <a:p>
            <a:pPr marL="0" indent="0" algn="ctr">
              <a:buNone/>
            </a:pPr>
            <a:r>
              <a:rPr lang="en-US" sz="1100" dirty="0">
                <a:solidFill>
                  <a:srgbClr val="888888"/>
                </a:solidFill>
                <a:latin typeface="Calibri" pitchFamily="34" charset="0"/>
                <a:ea typeface="Calibri" pitchFamily="34" charset="-122"/>
                <a:cs typeface="Calibri" pitchFamily="34" charset="-120"/>
              </a:rPr>
              <a:t>Docker</a:t>
            </a:r>
            <a:endParaRPr lang="en-US" sz="1100" dirty="0"/>
          </a:p>
          <a:p>
            <a:pPr marL="0" indent="0" algn="ctr">
              <a:buNone/>
            </a:pPr>
            <a:r>
              <a:rPr lang="en-US" sz="1100" dirty="0">
                <a:solidFill>
                  <a:srgbClr val="888888"/>
                </a:solidFill>
                <a:latin typeface="Calibri" pitchFamily="34" charset="0"/>
                <a:ea typeface="Calibri" pitchFamily="34" charset="-122"/>
                <a:cs typeface="Calibri" pitchFamily="34" charset="-120"/>
              </a:rPr>
              <a:t>Trivy FS</a:t>
            </a:r>
            <a:endParaRPr lang="en-US" sz="1100" dirty="0"/>
          </a:p>
        </p:txBody>
      </p:sp>
      <p:sp>
        <p:nvSpPr>
          <p:cNvPr id="24" name="Text 22"/>
          <p:cNvSpPr/>
          <p:nvPr/>
        </p:nvSpPr>
        <p:spPr>
          <a:xfrm>
            <a:off x="5806440" y="4983480"/>
            <a:ext cx="548640" cy="365760"/>
          </a:xfrm>
          <a:prstGeom prst="rect">
            <a:avLst/>
          </a:prstGeom>
          <a:noFill/>
          <a:ln/>
        </p:spPr>
        <p:txBody>
          <a:bodyPr wrap="square" rtlCol="0" anchor="ctr"/>
          <a:lstStyle/>
          <a:p>
            <a:pPr marL="0" indent="0" algn="ctr">
              <a:buNone/>
            </a:pPr>
            <a:r>
              <a:rPr lang="en-US" sz="1400" dirty="0">
                <a:solidFill>
                  <a:srgbClr val="000000"/>
                </a:solidFill>
              </a:rPr>
              <a:t>🔒</a:t>
            </a:r>
            <a:endParaRPr lang="en-US" sz="1400" dirty="0"/>
          </a:p>
        </p:txBody>
      </p:sp>
      <p:sp>
        <p:nvSpPr>
          <p:cNvPr id="25" name="Text 23"/>
          <p:cNvSpPr/>
          <p:nvPr/>
        </p:nvSpPr>
        <p:spPr>
          <a:xfrm>
            <a:off x="7132320" y="3657600"/>
            <a:ext cx="365760" cy="548640"/>
          </a:xfrm>
          <a:prstGeom prst="rect">
            <a:avLst/>
          </a:prstGeom>
          <a:noFill/>
          <a:ln/>
        </p:spPr>
        <p:txBody>
          <a:bodyPr wrap="square" rtlCol="0" anchor="ctr"/>
          <a:lstStyle/>
          <a:p>
            <a:pPr marL="0" indent="0" algn="ctr">
              <a:buNone/>
            </a:pPr>
            <a:r>
              <a:rPr lang="en-US" sz="2200" b="1" dirty="0">
                <a:solidFill>
                  <a:srgbClr val="C0392B"/>
                </a:solidFill>
                <a:latin typeface="Calibri" pitchFamily="34" charset="0"/>
                <a:ea typeface="Calibri" pitchFamily="34" charset="-122"/>
                <a:cs typeface="Calibri" pitchFamily="34" charset="-120"/>
              </a:rPr>
              <a:t>→</a:t>
            </a:r>
            <a:endParaRPr lang="en-US" sz="2200" dirty="0"/>
          </a:p>
        </p:txBody>
      </p:sp>
      <p:sp>
        <p:nvSpPr>
          <p:cNvPr id="26" name="Shape 24"/>
          <p:cNvSpPr/>
          <p:nvPr/>
        </p:nvSpPr>
        <p:spPr>
          <a:xfrm>
            <a:off x="7406640" y="2743200"/>
            <a:ext cx="2103120" cy="2560320"/>
          </a:xfrm>
          <a:prstGeom prst="rect">
            <a:avLst/>
          </a:prstGeom>
          <a:solidFill>
            <a:srgbClr val="2E2A1A"/>
          </a:solidFill>
          <a:ln w="19050">
            <a:solidFill>
              <a:srgbClr val="C0392B"/>
            </a:solidFill>
            <a:prstDash val="solid"/>
          </a:ln>
        </p:spPr>
        <p:txBody>
          <a:bodyPr/>
          <a:lstStyle/>
          <a:p>
            <a:endParaRPr lang="fr-FR"/>
          </a:p>
        </p:txBody>
      </p:sp>
      <p:sp>
        <p:nvSpPr>
          <p:cNvPr id="27" name="Text 25"/>
          <p:cNvSpPr/>
          <p:nvPr/>
        </p:nvSpPr>
        <p:spPr>
          <a:xfrm>
            <a:off x="7498080" y="2880360"/>
            <a:ext cx="1920240" cy="502920"/>
          </a:xfrm>
          <a:prstGeom prst="rect">
            <a:avLst/>
          </a:prstGeom>
          <a:noFill/>
          <a:ln/>
        </p:spPr>
        <p:txBody>
          <a:bodyPr wrap="square" rtlCol="0" anchor="ctr"/>
          <a:lstStyle/>
          <a:p>
            <a:pPr marL="0" indent="0" algn="ctr">
              <a:buNone/>
            </a:pPr>
            <a:r>
              <a:rPr lang="en-US" sz="1600" b="1" dirty="0">
                <a:solidFill>
                  <a:srgbClr val="F0F0F0"/>
                </a:solidFill>
                <a:latin typeface="Georgia" pitchFamily="34" charset="0"/>
                <a:ea typeface="Georgia" pitchFamily="34" charset="-122"/>
                <a:cs typeface="Georgia" pitchFamily="34" charset="-120"/>
              </a:rPr>
              <a:t>Test</a:t>
            </a:r>
            <a:endParaRPr lang="en-US" sz="1600" dirty="0"/>
          </a:p>
        </p:txBody>
      </p:sp>
      <p:sp>
        <p:nvSpPr>
          <p:cNvPr id="28" name="Shape 26"/>
          <p:cNvSpPr/>
          <p:nvPr/>
        </p:nvSpPr>
        <p:spPr>
          <a:xfrm>
            <a:off x="7772400" y="3429000"/>
            <a:ext cx="1371600" cy="36576"/>
          </a:xfrm>
          <a:prstGeom prst="rect">
            <a:avLst/>
          </a:prstGeom>
          <a:solidFill>
            <a:srgbClr val="C0392B"/>
          </a:solidFill>
          <a:ln/>
        </p:spPr>
        <p:txBody>
          <a:bodyPr/>
          <a:lstStyle/>
          <a:p>
            <a:endParaRPr lang="fr-FR"/>
          </a:p>
        </p:txBody>
      </p:sp>
      <p:sp>
        <p:nvSpPr>
          <p:cNvPr id="29" name="Text 27"/>
          <p:cNvSpPr/>
          <p:nvPr/>
        </p:nvSpPr>
        <p:spPr>
          <a:xfrm>
            <a:off x="7498080" y="3520440"/>
            <a:ext cx="1920240" cy="1371600"/>
          </a:xfrm>
          <a:prstGeom prst="rect">
            <a:avLst/>
          </a:prstGeom>
          <a:noFill/>
          <a:ln/>
        </p:spPr>
        <p:txBody>
          <a:bodyPr wrap="square" rtlCol="0" anchor="ctr"/>
          <a:lstStyle/>
          <a:p>
            <a:pPr marL="0" indent="0" algn="ctr">
              <a:buNone/>
            </a:pPr>
            <a:r>
              <a:rPr lang="en-US" sz="1100" dirty="0">
                <a:solidFill>
                  <a:srgbClr val="888888"/>
                </a:solidFill>
                <a:latin typeface="Calibri" pitchFamily="34" charset="0"/>
                <a:ea typeface="Calibri" pitchFamily="34" charset="-122"/>
                <a:cs typeface="Calibri" pitchFamily="34" charset="-120"/>
              </a:rPr>
              <a:t>PHPUnit</a:t>
            </a:r>
            <a:endParaRPr lang="en-US" sz="1100" dirty="0"/>
          </a:p>
          <a:p>
            <a:pPr marL="0" indent="0" algn="ctr">
              <a:buNone/>
            </a:pPr>
            <a:r>
              <a:rPr lang="en-US" sz="1100" dirty="0">
                <a:solidFill>
                  <a:srgbClr val="888888"/>
                </a:solidFill>
                <a:latin typeface="Calibri" pitchFamily="34" charset="0"/>
                <a:ea typeface="Calibri" pitchFamily="34" charset="-122"/>
                <a:cs typeface="Calibri" pitchFamily="34" charset="-120"/>
              </a:rPr>
              <a:t>k6 E2E</a:t>
            </a:r>
            <a:endParaRPr lang="en-US" sz="1100" dirty="0"/>
          </a:p>
        </p:txBody>
      </p:sp>
      <p:sp>
        <p:nvSpPr>
          <p:cNvPr id="30" name="Text 28"/>
          <p:cNvSpPr/>
          <p:nvPr/>
        </p:nvSpPr>
        <p:spPr>
          <a:xfrm>
            <a:off x="8183880" y="4983480"/>
            <a:ext cx="548640" cy="365760"/>
          </a:xfrm>
          <a:prstGeom prst="rect">
            <a:avLst/>
          </a:prstGeom>
          <a:noFill/>
          <a:ln/>
        </p:spPr>
        <p:txBody>
          <a:bodyPr wrap="square" rtlCol="0" anchor="ctr"/>
          <a:lstStyle/>
          <a:p>
            <a:pPr marL="0" indent="0" algn="ctr">
              <a:buNone/>
            </a:pPr>
            <a:r>
              <a:rPr lang="en-US" sz="1400" dirty="0">
                <a:solidFill>
                  <a:srgbClr val="000000"/>
                </a:solidFill>
              </a:rPr>
              <a:t>🔒</a:t>
            </a:r>
            <a:endParaRPr lang="en-US" sz="1400" dirty="0"/>
          </a:p>
        </p:txBody>
      </p:sp>
      <p:sp>
        <p:nvSpPr>
          <p:cNvPr id="31" name="Text 29"/>
          <p:cNvSpPr/>
          <p:nvPr/>
        </p:nvSpPr>
        <p:spPr>
          <a:xfrm>
            <a:off x="9509760" y="3657600"/>
            <a:ext cx="365760" cy="548640"/>
          </a:xfrm>
          <a:prstGeom prst="rect">
            <a:avLst/>
          </a:prstGeom>
          <a:noFill/>
          <a:ln/>
        </p:spPr>
        <p:txBody>
          <a:bodyPr wrap="square" rtlCol="0" anchor="ctr"/>
          <a:lstStyle/>
          <a:p>
            <a:pPr marL="0" indent="0" algn="ctr">
              <a:buNone/>
            </a:pPr>
            <a:r>
              <a:rPr lang="en-US" sz="2200" b="1" dirty="0">
                <a:solidFill>
                  <a:srgbClr val="C0392B"/>
                </a:solidFill>
                <a:latin typeface="Calibri" pitchFamily="34" charset="0"/>
                <a:ea typeface="Calibri" pitchFamily="34" charset="-122"/>
                <a:cs typeface="Calibri" pitchFamily="34" charset="-120"/>
              </a:rPr>
              <a:t>→</a:t>
            </a:r>
            <a:endParaRPr lang="en-US" sz="2200" dirty="0"/>
          </a:p>
        </p:txBody>
      </p:sp>
      <p:sp>
        <p:nvSpPr>
          <p:cNvPr id="32" name="Shape 30"/>
          <p:cNvSpPr/>
          <p:nvPr/>
        </p:nvSpPr>
        <p:spPr>
          <a:xfrm>
            <a:off x="9784080" y="2743200"/>
            <a:ext cx="2103120" cy="2560320"/>
          </a:xfrm>
          <a:prstGeom prst="rect">
            <a:avLst/>
          </a:prstGeom>
          <a:solidFill>
            <a:srgbClr val="1A1A2E"/>
          </a:solidFill>
          <a:ln w="19050">
            <a:solidFill>
              <a:srgbClr val="C0392B"/>
            </a:solidFill>
            <a:prstDash val="solid"/>
          </a:ln>
        </p:spPr>
        <p:txBody>
          <a:bodyPr/>
          <a:lstStyle/>
          <a:p>
            <a:endParaRPr lang="fr-FR"/>
          </a:p>
        </p:txBody>
      </p:sp>
      <p:sp>
        <p:nvSpPr>
          <p:cNvPr id="33" name="Text 31"/>
          <p:cNvSpPr/>
          <p:nvPr/>
        </p:nvSpPr>
        <p:spPr>
          <a:xfrm>
            <a:off x="9875520" y="2880360"/>
            <a:ext cx="1920240" cy="502920"/>
          </a:xfrm>
          <a:prstGeom prst="rect">
            <a:avLst/>
          </a:prstGeom>
          <a:noFill/>
          <a:ln/>
        </p:spPr>
        <p:txBody>
          <a:bodyPr wrap="square" rtlCol="0" anchor="ctr"/>
          <a:lstStyle/>
          <a:p>
            <a:pPr marL="0" indent="0" algn="ctr">
              <a:buNone/>
            </a:pPr>
            <a:r>
              <a:rPr lang="en-US" sz="1600" b="1" dirty="0">
                <a:solidFill>
                  <a:srgbClr val="F0F0F0"/>
                </a:solidFill>
                <a:latin typeface="Georgia" pitchFamily="34" charset="0"/>
                <a:ea typeface="Georgia" pitchFamily="34" charset="-122"/>
                <a:cs typeface="Georgia" pitchFamily="34" charset="-120"/>
              </a:rPr>
              <a:t>Deploy</a:t>
            </a:r>
            <a:endParaRPr lang="en-US" sz="1600" dirty="0"/>
          </a:p>
        </p:txBody>
      </p:sp>
      <p:sp>
        <p:nvSpPr>
          <p:cNvPr id="34" name="Shape 32"/>
          <p:cNvSpPr/>
          <p:nvPr/>
        </p:nvSpPr>
        <p:spPr>
          <a:xfrm>
            <a:off x="10149840" y="3429000"/>
            <a:ext cx="1371600" cy="36576"/>
          </a:xfrm>
          <a:prstGeom prst="rect">
            <a:avLst/>
          </a:prstGeom>
          <a:solidFill>
            <a:srgbClr val="C0392B"/>
          </a:solidFill>
          <a:ln/>
        </p:spPr>
        <p:txBody>
          <a:bodyPr/>
          <a:lstStyle/>
          <a:p>
            <a:endParaRPr lang="fr-FR"/>
          </a:p>
        </p:txBody>
      </p:sp>
      <p:sp>
        <p:nvSpPr>
          <p:cNvPr id="35" name="Text 33"/>
          <p:cNvSpPr/>
          <p:nvPr/>
        </p:nvSpPr>
        <p:spPr>
          <a:xfrm>
            <a:off x="9875520" y="3520440"/>
            <a:ext cx="1920240" cy="1371600"/>
          </a:xfrm>
          <a:prstGeom prst="rect">
            <a:avLst/>
          </a:prstGeom>
          <a:noFill/>
          <a:ln/>
        </p:spPr>
        <p:txBody>
          <a:bodyPr wrap="square" rtlCol="0" anchor="ctr"/>
          <a:lstStyle/>
          <a:p>
            <a:pPr marL="0" indent="0" algn="ctr">
              <a:buNone/>
            </a:pPr>
            <a:r>
              <a:rPr lang="en-US" sz="1100" dirty="0">
                <a:solidFill>
                  <a:srgbClr val="888888"/>
                </a:solidFill>
                <a:latin typeface="Calibri" pitchFamily="34" charset="0"/>
                <a:ea typeface="Calibri" pitchFamily="34" charset="-122"/>
                <a:cs typeface="Calibri" pitchFamily="34" charset="-120"/>
              </a:rPr>
              <a:t>Self-hosted</a:t>
            </a:r>
            <a:endParaRPr lang="en-US" sz="1100" dirty="0"/>
          </a:p>
          <a:p>
            <a:pPr marL="0" indent="0" algn="ctr">
              <a:buNone/>
            </a:pPr>
            <a:r>
              <a:rPr lang="en-US" sz="1100" dirty="0">
                <a:solidFill>
                  <a:srgbClr val="888888"/>
                </a:solidFill>
                <a:latin typeface="Calibri" pitchFamily="34" charset="0"/>
                <a:ea typeface="Calibri" pitchFamily="34" charset="-122"/>
                <a:cs typeface="Calibri" pitchFamily="34" charset="-120"/>
              </a:rPr>
              <a:t>Runner</a:t>
            </a:r>
            <a:endParaRPr lang="en-US" sz="1100" dirty="0"/>
          </a:p>
        </p:txBody>
      </p:sp>
      <p:sp>
        <p:nvSpPr>
          <p:cNvPr id="36" name="Text 34"/>
          <p:cNvSpPr/>
          <p:nvPr/>
        </p:nvSpPr>
        <p:spPr>
          <a:xfrm>
            <a:off x="10561320" y="4983480"/>
            <a:ext cx="548640" cy="365760"/>
          </a:xfrm>
          <a:prstGeom prst="rect">
            <a:avLst/>
          </a:prstGeom>
          <a:noFill/>
          <a:ln/>
        </p:spPr>
        <p:txBody>
          <a:bodyPr wrap="square" rtlCol="0" anchor="ctr"/>
          <a:lstStyle/>
          <a:p>
            <a:pPr marL="0" indent="0" algn="ctr">
              <a:buNone/>
            </a:pPr>
            <a:r>
              <a:rPr lang="en-US" sz="1400" dirty="0">
                <a:solidFill>
                  <a:srgbClr val="000000"/>
                </a:solidFill>
              </a:rPr>
              <a: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10972800" cy="182880"/>
          </a:xfrm>
          <a:prstGeom prst="rect">
            <a:avLst/>
          </a:prstGeom>
          <a:noFill/>
          <a:ln/>
        </p:spPr>
        <p:txBody>
          <a:bodyPr wrap="square" rtlCol="0" anchor="ctr"/>
          <a:lstStyle/>
          <a:p>
            <a:pPr marL="0" indent="0">
              <a:buNone/>
            </a:pPr>
            <a:r>
              <a:rPr lang="en-US" sz="800" dirty="0">
                <a:solidFill>
                  <a:srgbClr val="888888"/>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365760" y="91440"/>
            <a:ext cx="10972800" cy="292608"/>
          </a:xfrm>
          <a:prstGeom prst="rect">
            <a:avLst/>
          </a:prstGeom>
          <a:noFill/>
          <a:ln/>
        </p:spPr>
        <p:txBody>
          <a:bodyPr wrap="square" rtlCol="0" anchor="ctr"/>
          <a:lstStyle/>
          <a:p>
            <a:pPr marL="0" indent="0">
              <a:buNone/>
            </a:pPr>
            <a:r>
              <a:rPr lang="en-US" sz="900" b="1" kern="0" spc="200" dirty="0">
                <a:solidFill>
                  <a:srgbClr val="E74C3C"/>
                </a:solidFill>
                <a:latin typeface="Calibri" pitchFamily="34" charset="0"/>
                <a:ea typeface="Calibri" pitchFamily="34" charset="-122"/>
                <a:cs typeface="Calibri" pitchFamily="34" charset="-120"/>
              </a:rPr>
              <a:t>CI/CD — GITHUB ACTIONS</a:t>
            </a:r>
            <a:endParaRPr lang="en-US" sz="900" dirty="0"/>
          </a:p>
        </p:txBody>
      </p:sp>
      <p:sp>
        <p:nvSpPr>
          <p:cNvPr id="6" name="Shape 4"/>
          <p:cNvSpPr/>
          <p:nvPr/>
        </p:nvSpPr>
        <p:spPr>
          <a:xfrm>
            <a:off x="365760" y="402336"/>
            <a:ext cx="2377440" cy="45720"/>
          </a:xfrm>
          <a:prstGeom prst="rect">
            <a:avLst/>
          </a:prstGeom>
          <a:solidFill>
            <a:srgbClr val="C0392B"/>
          </a:solidFill>
          <a:ln/>
        </p:spPr>
        <p:txBody>
          <a:bodyPr/>
          <a:lstStyle/>
          <a:p>
            <a:endParaRPr lang="fr-FR"/>
          </a:p>
        </p:txBody>
      </p:sp>
      <p:sp>
        <p:nvSpPr>
          <p:cNvPr id="7" name="Text 5"/>
          <p:cNvSpPr/>
          <p:nvPr/>
        </p:nvSpPr>
        <p:spPr>
          <a:xfrm>
            <a:off x="365760" y="475488"/>
            <a:ext cx="11430000" cy="594360"/>
          </a:xfrm>
          <a:prstGeom prst="rect">
            <a:avLst/>
          </a:prstGeom>
          <a:noFill/>
          <a:ln/>
        </p:spPr>
        <p:txBody>
          <a:bodyPr wrap="square" rtlCol="0" anchor="ctr"/>
          <a:lstStyle/>
          <a:p>
            <a:pPr marL="0" indent="0">
              <a:buNone/>
            </a:pPr>
            <a:r>
              <a:rPr lang="en-US" sz="2200" b="1" dirty="0">
                <a:solidFill>
                  <a:srgbClr val="F0F0F0"/>
                </a:solidFill>
                <a:latin typeface="Georgia" pitchFamily="34" charset="0"/>
                <a:ea typeface="Georgia" pitchFamily="34" charset="-122"/>
                <a:cs typeface="Georgia" pitchFamily="34" charset="-120"/>
              </a:rPr>
              <a:t>Pipeline 11 jobs</a:t>
            </a:r>
            <a:endParaRPr lang="en-US" sz="2200" dirty="0"/>
          </a:p>
        </p:txBody>
      </p:sp>
      <p:sp>
        <p:nvSpPr>
          <p:cNvPr id="8" name="Shape 6"/>
          <p:cNvSpPr/>
          <p:nvPr/>
        </p:nvSpPr>
        <p:spPr>
          <a:xfrm>
            <a:off x="5394960" y="1188720"/>
            <a:ext cx="1463040" cy="502920"/>
          </a:xfrm>
          <a:prstGeom prst="rect">
            <a:avLst/>
          </a:prstGeom>
          <a:solidFill>
            <a:srgbClr val="1A2E1A"/>
          </a:solidFill>
          <a:ln w="19050">
            <a:solidFill>
              <a:srgbClr val="C0392B"/>
            </a:solidFill>
            <a:prstDash val="solid"/>
          </a:ln>
        </p:spPr>
        <p:txBody>
          <a:bodyPr/>
          <a:lstStyle/>
          <a:p>
            <a:endParaRPr lang="fr-FR"/>
          </a:p>
        </p:txBody>
      </p:sp>
      <p:sp>
        <p:nvSpPr>
          <p:cNvPr id="9" name="Text 7"/>
          <p:cNvSpPr/>
          <p:nvPr/>
        </p:nvSpPr>
        <p:spPr>
          <a:xfrm>
            <a:off x="5394960" y="1234440"/>
            <a:ext cx="1463040" cy="411480"/>
          </a:xfrm>
          <a:prstGeom prst="rect">
            <a:avLst/>
          </a:prstGeom>
          <a:noFill/>
          <a:ln/>
        </p:spPr>
        <p:txBody>
          <a:bodyPr wrap="square" rtlCol="0" anchor="ctr"/>
          <a:lstStyle/>
          <a:p>
            <a:pPr marL="0" indent="0" algn="ctr">
              <a:buNone/>
            </a:pPr>
            <a:r>
              <a:rPr lang="en-US" sz="1000" b="1" dirty="0">
                <a:solidFill>
                  <a:srgbClr val="27AE60"/>
                </a:solidFill>
                <a:latin typeface="Calibri" pitchFamily="34" charset="0"/>
                <a:ea typeface="Calibri" pitchFamily="34" charset="-122"/>
                <a:cs typeface="Calibri" pitchFamily="34" charset="-120"/>
              </a:rPr>
              <a:t>install</a:t>
            </a:r>
            <a:endParaRPr lang="en-US" sz="1000" dirty="0"/>
          </a:p>
        </p:txBody>
      </p:sp>
      <p:sp>
        <p:nvSpPr>
          <p:cNvPr id="10" name="Shape 8"/>
          <p:cNvSpPr/>
          <p:nvPr/>
        </p:nvSpPr>
        <p:spPr>
          <a:xfrm>
            <a:off x="914400" y="2011680"/>
            <a:ext cx="2286000" cy="594360"/>
          </a:xfrm>
          <a:prstGeom prst="rect">
            <a:avLst/>
          </a:prstGeom>
          <a:solidFill>
            <a:srgbClr val="2E1A1A"/>
          </a:solidFill>
          <a:ln w="19050">
            <a:solidFill>
              <a:srgbClr val="C0392B"/>
            </a:solidFill>
            <a:prstDash val="solid"/>
          </a:ln>
        </p:spPr>
        <p:txBody>
          <a:bodyPr/>
          <a:lstStyle/>
          <a:p>
            <a:endParaRPr lang="fr-FR"/>
          </a:p>
        </p:txBody>
      </p:sp>
      <p:sp>
        <p:nvSpPr>
          <p:cNvPr id="11" name="Text 9"/>
          <p:cNvSpPr/>
          <p:nvPr/>
        </p:nvSpPr>
        <p:spPr>
          <a:xfrm>
            <a:off x="914400" y="2057400"/>
            <a:ext cx="2286000" cy="502920"/>
          </a:xfrm>
          <a:prstGeom prst="rect">
            <a:avLst/>
          </a:prstGeom>
          <a:noFill/>
          <a:ln/>
        </p:spPr>
        <p:txBody>
          <a:bodyPr wrap="square" rtlCol="0" anchor="ctr"/>
          <a:lstStyle/>
          <a:p>
            <a:pPr marL="0" indent="0" algn="ctr">
              <a:buNone/>
            </a:pPr>
            <a:r>
              <a:rPr lang="en-US" sz="900" dirty="0">
                <a:solidFill>
                  <a:srgbClr val="E74C3C"/>
                </a:solidFill>
                <a:latin typeface="Calibri" pitchFamily="34" charset="0"/>
                <a:ea typeface="Calibri" pitchFamily="34" charset="-122"/>
                <a:cs typeface="Calibri" pitchFamily="34" charset="-120"/>
              </a:rPr>
              <a:t>sast</a:t>
            </a:r>
            <a:endParaRPr lang="en-US" sz="900" dirty="0"/>
          </a:p>
          <a:p>
            <a:pPr marL="0" indent="0" algn="ctr">
              <a:buNone/>
            </a:pPr>
            <a:r>
              <a:rPr lang="en-US" sz="900" dirty="0">
                <a:solidFill>
                  <a:srgbClr val="E74C3C"/>
                </a:solidFill>
                <a:latin typeface="Calibri" pitchFamily="34" charset="0"/>
                <a:ea typeface="Calibri" pitchFamily="34" charset="-122"/>
                <a:cs typeface="Calibri" pitchFamily="34" charset="-120"/>
              </a:rPr>
              <a:t>npm-audit</a:t>
            </a:r>
            <a:endParaRPr lang="en-US" sz="900" dirty="0"/>
          </a:p>
        </p:txBody>
      </p:sp>
      <p:sp>
        <p:nvSpPr>
          <p:cNvPr id="12" name="Shape 10"/>
          <p:cNvSpPr/>
          <p:nvPr/>
        </p:nvSpPr>
        <p:spPr>
          <a:xfrm>
            <a:off x="3657600" y="2011680"/>
            <a:ext cx="2286000" cy="594360"/>
          </a:xfrm>
          <a:prstGeom prst="rect">
            <a:avLst/>
          </a:prstGeom>
          <a:solidFill>
            <a:srgbClr val="2E1A1A"/>
          </a:solidFill>
          <a:ln w="19050">
            <a:solidFill>
              <a:srgbClr val="C0392B"/>
            </a:solidFill>
            <a:prstDash val="solid"/>
          </a:ln>
        </p:spPr>
        <p:txBody>
          <a:bodyPr/>
          <a:lstStyle/>
          <a:p>
            <a:endParaRPr lang="fr-FR"/>
          </a:p>
        </p:txBody>
      </p:sp>
      <p:sp>
        <p:nvSpPr>
          <p:cNvPr id="13" name="Text 11"/>
          <p:cNvSpPr/>
          <p:nvPr/>
        </p:nvSpPr>
        <p:spPr>
          <a:xfrm>
            <a:off x="3657600" y="2057400"/>
            <a:ext cx="2286000" cy="502920"/>
          </a:xfrm>
          <a:prstGeom prst="rect">
            <a:avLst/>
          </a:prstGeom>
          <a:noFill/>
          <a:ln/>
        </p:spPr>
        <p:txBody>
          <a:bodyPr wrap="square" rtlCol="0" anchor="ctr"/>
          <a:lstStyle/>
          <a:p>
            <a:pPr marL="0" indent="0" algn="ctr">
              <a:buNone/>
            </a:pPr>
            <a:r>
              <a:rPr lang="en-US" sz="900" dirty="0">
                <a:solidFill>
                  <a:srgbClr val="E74C3C"/>
                </a:solidFill>
                <a:latin typeface="Calibri" pitchFamily="34" charset="0"/>
                <a:ea typeface="Calibri" pitchFamily="34" charset="-122"/>
                <a:cs typeface="Calibri" pitchFamily="34" charset="-120"/>
              </a:rPr>
              <a:t>trivy</a:t>
            </a:r>
            <a:endParaRPr lang="en-US" sz="900" dirty="0"/>
          </a:p>
          <a:p>
            <a:pPr marL="0" indent="0" algn="ctr">
              <a:buNone/>
            </a:pPr>
            <a:r>
              <a:rPr lang="en-US" sz="900" dirty="0">
                <a:solidFill>
                  <a:srgbClr val="E74C3C"/>
                </a:solidFill>
                <a:latin typeface="Calibri" pitchFamily="34" charset="0"/>
                <a:ea typeface="Calibri" pitchFamily="34" charset="-122"/>
                <a:cs typeface="Calibri" pitchFamily="34" charset="-120"/>
              </a:rPr>
              <a:t>fs-audit</a:t>
            </a:r>
            <a:endParaRPr lang="en-US" sz="900" dirty="0"/>
          </a:p>
        </p:txBody>
      </p:sp>
      <p:sp>
        <p:nvSpPr>
          <p:cNvPr id="14" name="Shape 12"/>
          <p:cNvSpPr/>
          <p:nvPr/>
        </p:nvSpPr>
        <p:spPr>
          <a:xfrm>
            <a:off x="6400800" y="2011680"/>
            <a:ext cx="2286000" cy="594360"/>
          </a:xfrm>
          <a:prstGeom prst="rect">
            <a:avLst/>
          </a:prstGeom>
          <a:solidFill>
            <a:srgbClr val="1A2E1A"/>
          </a:solidFill>
          <a:ln w="19050">
            <a:solidFill>
              <a:srgbClr val="C0392B"/>
            </a:solidFill>
            <a:prstDash val="solid"/>
          </a:ln>
        </p:spPr>
        <p:txBody>
          <a:bodyPr/>
          <a:lstStyle/>
          <a:p>
            <a:endParaRPr lang="fr-FR"/>
          </a:p>
        </p:txBody>
      </p:sp>
      <p:sp>
        <p:nvSpPr>
          <p:cNvPr id="15" name="Text 13"/>
          <p:cNvSpPr/>
          <p:nvPr/>
        </p:nvSpPr>
        <p:spPr>
          <a:xfrm>
            <a:off x="6400800" y="2057400"/>
            <a:ext cx="2286000" cy="502920"/>
          </a:xfrm>
          <a:prstGeom prst="rect">
            <a:avLst/>
          </a:prstGeom>
          <a:noFill/>
          <a:ln/>
        </p:spPr>
        <p:txBody>
          <a:bodyPr wrap="square" rtlCol="0" anchor="ctr"/>
          <a:lstStyle/>
          <a:p>
            <a:pPr marL="0" indent="0" algn="ctr">
              <a:buNone/>
            </a:pPr>
            <a:r>
              <a:rPr lang="en-US" sz="900" dirty="0">
                <a:solidFill>
                  <a:srgbClr val="27AE60"/>
                </a:solidFill>
                <a:latin typeface="Calibri" pitchFamily="34" charset="0"/>
                <a:ea typeface="Calibri" pitchFamily="34" charset="-122"/>
                <a:cs typeface="Calibri" pitchFamily="34" charset="-120"/>
              </a:rPr>
              <a:t>unit</a:t>
            </a:r>
            <a:endParaRPr lang="en-US" sz="900" dirty="0"/>
          </a:p>
          <a:p>
            <a:pPr marL="0" indent="0" algn="ctr">
              <a:buNone/>
            </a:pPr>
            <a:r>
              <a:rPr lang="en-US" sz="900" dirty="0">
                <a:solidFill>
                  <a:srgbClr val="27AE60"/>
                </a:solidFill>
                <a:latin typeface="Calibri" pitchFamily="34" charset="0"/>
                <a:ea typeface="Calibri" pitchFamily="34" charset="-122"/>
                <a:cs typeface="Calibri" pitchFamily="34" charset="-120"/>
              </a:rPr>
              <a:t>test</a:t>
            </a:r>
            <a:endParaRPr lang="en-US" sz="900" dirty="0"/>
          </a:p>
        </p:txBody>
      </p:sp>
      <p:sp>
        <p:nvSpPr>
          <p:cNvPr id="16" name="Shape 14"/>
          <p:cNvSpPr/>
          <p:nvPr/>
        </p:nvSpPr>
        <p:spPr>
          <a:xfrm>
            <a:off x="9144000" y="2011680"/>
            <a:ext cx="2286000" cy="594360"/>
          </a:xfrm>
          <a:prstGeom prst="rect">
            <a:avLst/>
          </a:prstGeom>
          <a:solidFill>
            <a:srgbClr val="1A2E1A"/>
          </a:solidFill>
          <a:ln w="19050">
            <a:solidFill>
              <a:srgbClr val="C0392B"/>
            </a:solidFill>
            <a:prstDash val="solid"/>
          </a:ln>
        </p:spPr>
        <p:txBody>
          <a:bodyPr/>
          <a:lstStyle/>
          <a:p>
            <a:endParaRPr lang="fr-FR"/>
          </a:p>
        </p:txBody>
      </p:sp>
      <p:sp>
        <p:nvSpPr>
          <p:cNvPr id="17" name="Text 15"/>
          <p:cNvSpPr/>
          <p:nvPr/>
        </p:nvSpPr>
        <p:spPr>
          <a:xfrm>
            <a:off x="9144000" y="2057400"/>
            <a:ext cx="2286000" cy="502920"/>
          </a:xfrm>
          <a:prstGeom prst="rect">
            <a:avLst/>
          </a:prstGeom>
          <a:noFill/>
          <a:ln/>
        </p:spPr>
        <p:txBody>
          <a:bodyPr wrap="square" rtlCol="0" anchor="ctr"/>
          <a:lstStyle/>
          <a:p>
            <a:pPr marL="0" indent="0" algn="ctr">
              <a:buNone/>
            </a:pPr>
            <a:r>
              <a:rPr lang="en-US" sz="900" dirty="0">
                <a:solidFill>
                  <a:srgbClr val="27AE60"/>
                </a:solidFill>
                <a:latin typeface="Calibri" pitchFamily="34" charset="0"/>
                <a:ea typeface="Calibri" pitchFamily="34" charset="-122"/>
                <a:cs typeface="Calibri" pitchFamily="34" charset="-120"/>
              </a:rPr>
              <a:t>e2e</a:t>
            </a:r>
            <a:endParaRPr lang="en-US" sz="900" dirty="0"/>
          </a:p>
          <a:p>
            <a:pPr marL="0" indent="0" algn="ctr">
              <a:buNone/>
            </a:pPr>
            <a:r>
              <a:rPr lang="en-US" sz="900" dirty="0">
                <a:solidFill>
                  <a:srgbClr val="27AE60"/>
                </a:solidFill>
                <a:latin typeface="Calibri" pitchFamily="34" charset="0"/>
                <a:ea typeface="Calibri" pitchFamily="34" charset="-122"/>
                <a:cs typeface="Calibri" pitchFamily="34" charset="-120"/>
              </a:rPr>
              <a:t>test</a:t>
            </a:r>
            <a:endParaRPr lang="en-US" sz="900" dirty="0"/>
          </a:p>
        </p:txBody>
      </p:sp>
      <p:sp>
        <p:nvSpPr>
          <p:cNvPr id="18" name="Text 16"/>
          <p:cNvSpPr/>
          <p:nvPr/>
        </p:nvSpPr>
        <p:spPr>
          <a:xfrm>
            <a:off x="5943600" y="1691640"/>
            <a:ext cx="457200" cy="365760"/>
          </a:xfrm>
          <a:prstGeom prst="rect">
            <a:avLst/>
          </a:prstGeom>
          <a:noFill/>
          <a:ln/>
        </p:spPr>
        <p:txBody>
          <a:bodyPr wrap="square" rtlCol="0" anchor="ctr"/>
          <a:lstStyle/>
          <a:p>
            <a:pPr marL="0" indent="0" algn="ctr">
              <a:buNone/>
            </a:pPr>
            <a:r>
              <a:rPr lang="en-US" sz="1400" dirty="0">
                <a:solidFill>
                  <a:srgbClr val="888888"/>
                </a:solidFill>
              </a:rPr>
              <a:t>↓</a:t>
            </a:r>
            <a:endParaRPr lang="en-US" sz="1400" dirty="0"/>
          </a:p>
        </p:txBody>
      </p:sp>
      <p:sp>
        <p:nvSpPr>
          <p:cNvPr id="19" name="Shape 17"/>
          <p:cNvSpPr/>
          <p:nvPr/>
        </p:nvSpPr>
        <p:spPr>
          <a:xfrm>
            <a:off x="3474720" y="2866644"/>
            <a:ext cx="2286000" cy="594360"/>
          </a:xfrm>
          <a:prstGeom prst="rect">
            <a:avLst/>
          </a:prstGeom>
          <a:solidFill>
            <a:srgbClr val="2E1A2E"/>
          </a:solidFill>
          <a:ln w="19050">
            <a:solidFill>
              <a:srgbClr val="C0392B"/>
            </a:solidFill>
            <a:prstDash val="solid"/>
          </a:ln>
        </p:spPr>
        <p:txBody>
          <a:bodyPr/>
          <a:lstStyle/>
          <a:p>
            <a:endParaRPr lang="fr-FR"/>
          </a:p>
        </p:txBody>
      </p:sp>
      <p:sp>
        <p:nvSpPr>
          <p:cNvPr id="20" name="Text 18"/>
          <p:cNvSpPr/>
          <p:nvPr/>
        </p:nvSpPr>
        <p:spPr>
          <a:xfrm>
            <a:off x="3474720" y="2912364"/>
            <a:ext cx="2286000" cy="502920"/>
          </a:xfrm>
          <a:prstGeom prst="rect">
            <a:avLst/>
          </a:prstGeom>
          <a:noFill/>
          <a:ln/>
        </p:spPr>
        <p:txBody>
          <a:bodyPr wrap="square" rtlCol="0" anchor="ctr"/>
          <a:lstStyle/>
          <a:p>
            <a:pPr marL="0" indent="0" algn="ctr">
              <a:buNone/>
            </a:pPr>
            <a:r>
              <a:rPr lang="en-US" sz="900" dirty="0">
                <a:solidFill>
                  <a:srgbClr val="F39C12"/>
                </a:solidFill>
                <a:latin typeface="Calibri" pitchFamily="34" charset="0"/>
                <a:ea typeface="Calibri" pitchFamily="34" charset="-122"/>
                <a:cs typeface="Calibri" pitchFamily="34" charset="-120"/>
              </a:rPr>
              <a:t>sonar</a:t>
            </a:r>
            <a:endParaRPr lang="en-US" sz="900" dirty="0"/>
          </a:p>
          <a:p>
            <a:pPr marL="0" indent="0" algn="ctr">
              <a:buNone/>
            </a:pPr>
            <a:r>
              <a:rPr lang="en-US" sz="900" dirty="0">
                <a:solidFill>
                  <a:srgbClr val="F39C12"/>
                </a:solidFill>
                <a:latin typeface="Calibri" pitchFamily="34" charset="0"/>
                <a:ea typeface="Calibri" pitchFamily="34" charset="-122"/>
                <a:cs typeface="Calibri" pitchFamily="34" charset="-120"/>
              </a:rPr>
              <a:t>audit</a:t>
            </a:r>
            <a:endParaRPr lang="en-US" sz="900" dirty="0"/>
          </a:p>
        </p:txBody>
      </p:sp>
      <p:sp>
        <p:nvSpPr>
          <p:cNvPr id="21" name="Shape 19"/>
          <p:cNvSpPr/>
          <p:nvPr/>
        </p:nvSpPr>
        <p:spPr>
          <a:xfrm>
            <a:off x="6583680" y="2880360"/>
            <a:ext cx="2286000" cy="594360"/>
          </a:xfrm>
          <a:prstGeom prst="rect">
            <a:avLst/>
          </a:prstGeom>
          <a:solidFill>
            <a:srgbClr val="1A2E2E"/>
          </a:solidFill>
          <a:ln w="19050">
            <a:solidFill>
              <a:srgbClr val="C0392B"/>
            </a:solidFill>
            <a:prstDash val="solid"/>
          </a:ln>
        </p:spPr>
        <p:txBody>
          <a:bodyPr/>
          <a:lstStyle/>
          <a:p>
            <a:endParaRPr lang="fr-FR"/>
          </a:p>
        </p:txBody>
      </p:sp>
      <p:sp>
        <p:nvSpPr>
          <p:cNvPr id="22" name="Text 20"/>
          <p:cNvSpPr/>
          <p:nvPr/>
        </p:nvSpPr>
        <p:spPr>
          <a:xfrm>
            <a:off x="6583680" y="2926080"/>
            <a:ext cx="2286000" cy="502920"/>
          </a:xfrm>
          <a:prstGeom prst="rect">
            <a:avLst/>
          </a:prstGeom>
          <a:noFill/>
          <a:ln/>
        </p:spPr>
        <p:txBody>
          <a:bodyPr wrap="square" rtlCol="0" anchor="ctr"/>
          <a:lstStyle/>
          <a:p>
            <a:pPr marL="0" indent="0" algn="ctr">
              <a:buNone/>
            </a:pPr>
            <a:r>
              <a:rPr lang="en-US" sz="900" dirty="0">
                <a:solidFill>
                  <a:srgbClr val="3498DB"/>
                </a:solidFill>
                <a:latin typeface="Calibri" pitchFamily="34" charset="0"/>
                <a:ea typeface="Calibri" pitchFamily="34" charset="-122"/>
                <a:cs typeface="Calibri" pitchFamily="34" charset="-120"/>
              </a:rPr>
              <a:t>k6</a:t>
            </a:r>
            <a:endParaRPr lang="en-US" sz="900" dirty="0"/>
          </a:p>
          <a:p>
            <a:pPr marL="0" indent="0" algn="ctr">
              <a:buNone/>
            </a:pPr>
            <a:r>
              <a:rPr lang="en-US" sz="900" dirty="0">
                <a:solidFill>
                  <a:srgbClr val="3498DB"/>
                </a:solidFill>
                <a:latin typeface="Calibri" pitchFamily="34" charset="0"/>
                <a:ea typeface="Calibri" pitchFamily="34" charset="-122"/>
                <a:cs typeface="Calibri" pitchFamily="34" charset="-120"/>
              </a:rPr>
              <a:t>smoke-test</a:t>
            </a:r>
            <a:endParaRPr lang="en-US" sz="900" dirty="0"/>
          </a:p>
        </p:txBody>
      </p:sp>
      <p:sp>
        <p:nvSpPr>
          <p:cNvPr id="23" name="Shape 21"/>
          <p:cNvSpPr/>
          <p:nvPr/>
        </p:nvSpPr>
        <p:spPr>
          <a:xfrm>
            <a:off x="5394960" y="3722116"/>
            <a:ext cx="1463040" cy="548640"/>
          </a:xfrm>
          <a:prstGeom prst="rect">
            <a:avLst/>
          </a:prstGeom>
          <a:solidFill>
            <a:srgbClr val="2E2A1A"/>
          </a:solidFill>
          <a:ln w="19050">
            <a:solidFill>
              <a:srgbClr val="C0392B"/>
            </a:solidFill>
            <a:prstDash val="solid"/>
          </a:ln>
        </p:spPr>
        <p:txBody>
          <a:bodyPr/>
          <a:lstStyle/>
          <a:p>
            <a:endParaRPr lang="fr-FR"/>
          </a:p>
        </p:txBody>
      </p:sp>
      <p:sp>
        <p:nvSpPr>
          <p:cNvPr id="24" name="Text 22"/>
          <p:cNvSpPr/>
          <p:nvPr/>
        </p:nvSpPr>
        <p:spPr>
          <a:xfrm>
            <a:off x="5394960" y="3740404"/>
            <a:ext cx="1463040" cy="502920"/>
          </a:xfrm>
          <a:prstGeom prst="rect">
            <a:avLst/>
          </a:prstGeom>
          <a:noFill/>
          <a:ln/>
        </p:spPr>
        <p:txBody>
          <a:bodyPr wrap="square" rtlCol="0" anchor="ctr"/>
          <a:lstStyle/>
          <a:p>
            <a:pPr marL="0" indent="0" algn="ctr">
              <a:buNone/>
            </a:pPr>
            <a:r>
              <a:rPr lang="en-US" sz="800" dirty="0">
                <a:solidFill>
                  <a:srgbClr val="F39C12"/>
                </a:solidFill>
                <a:latin typeface="Calibri" pitchFamily="34" charset="0"/>
                <a:ea typeface="Calibri" pitchFamily="34" charset="-122"/>
                <a:cs typeface="Calibri" pitchFamily="34" charset="-120"/>
              </a:rPr>
              <a:t>build-image</a:t>
            </a:r>
            <a:endParaRPr lang="en-US" sz="800" dirty="0"/>
          </a:p>
          <a:p>
            <a:pPr marL="0" indent="0" algn="ctr">
              <a:buNone/>
            </a:pPr>
            <a:r>
              <a:rPr lang="en-US" sz="800" dirty="0">
                <a:solidFill>
                  <a:srgbClr val="F39C12"/>
                </a:solidFill>
                <a:latin typeface="Calibri" pitchFamily="34" charset="0"/>
                <a:ea typeface="Calibri" pitchFamily="34" charset="-122"/>
                <a:cs typeface="Calibri" pitchFamily="34" charset="-120"/>
              </a:rPr>
              <a:t>🖥 self-hosted</a:t>
            </a:r>
            <a:endParaRPr lang="en-US" sz="800" dirty="0"/>
          </a:p>
        </p:txBody>
      </p:sp>
      <p:sp>
        <p:nvSpPr>
          <p:cNvPr id="25" name="Shape 23"/>
          <p:cNvSpPr/>
          <p:nvPr/>
        </p:nvSpPr>
        <p:spPr>
          <a:xfrm>
            <a:off x="5394960" y="4590796"/>
            <a:ext cx="1463040" cy="548640"/>
          </a:xfrm>
          <a:prstGeom prst="rect">
            <a:avLst/>
          </a:prstGeom>
          <a:solidFill>
            <a:srgbClr val="2E1A1A"/>
          </a:solidFill>
          <a:ln w="19050">
            <a:solidFill>
              <a:srgbClr val="C0392B"/>
            </a:solidFill>
            <a:prstDash val="solid"/>
          </a:ln>
        </p:spPr>
        <p:txBody>
          <a:bodyPr/>
          <a:lstStyle/>
          <a:p>
            <a:endParaRPr lang="fr-FR"/>
          </a:p>
        </p:txBody>
      </p:sp>
      <p:sp>
        <p:nvSpPr>
          <p:cNvPr id="26" name="Text 24"/>
          <p:cNvSpPr/>
          <p:nvPr/>
        </p:nvSpPr>
        <p:spPr>
          <a:xfrm>
            <a:off x="5394960" y="4609084"/>
            <a:ext cx="1463040" cy="502920"/>
          </a:xfrm>
          <a:prstGeom prst="rect">
            <a:avLst/>
          </a:prstGeom>
          <a:noFill/>
          <a:ln/>
        </p:spPr>
        <p:txBody>
          <a:bodyPr wrap="square" rtlCol="0" anchor="ctr"/>
          <a:lstStyle/>
          <a:p>
            <a:pPr marL="0" indent="0" algn="ctr">
              <a:buNone/>
            </a:pPr>
            <a:r>
              <a:rPr lang="en-US" sz="800" dirty="0">
                <a:solidFill>
                  <a:srgbClr val="E74C3C"/>
                </a:solidFill>
                <a:latin typeface="Calibri" pitchFamily="34" charset="0"/>
                <a:ea typeface="Calibri" pitchFamily="34" charset="-122"/>
                <a:cs typeface="Calibri" pitchFamily="34" charset="-120"/>
              </a:rPr>
              <a:t>trivy</a:t>
            </a:r>
            <a:endParaRPr lang="en-US" sz="800" dirty="0"/>
          </a:p>
          <a:p>
            <a:pPr marL="0" indent="0" algn="ctr">
              <a:buNone/>
            </a:pPr>
            <a:r>
              <a:rPr lang="en-US" sz="800" dirty="0">
                <a:solidFill>
                  <a:srgbClr val="E74C3C"/>
                </a:solidFill>
                <a:latin typeface="Calibri" pitchFamily="34" charset="0"/>
                <a:ea typeface="Calibri" pitchFamily="34" charset="-122"/>
                <a:cs typeface="Calibri" pitchFamily="34" charset="-120"/>
              </a:rPr>
              <a:t>image-scan</a:t>
            </a:r>
            <a:endParaRPr lang="en-US" sz="800" dirty="0"/>
          </a:p>
        </p:txBody>
      </p:sp>
      <p:sp>
        <p:nvSpPr>
          <p:cNvPr id="27" name="Shape 25"/>
          <p:cNvSpPr/>
          <p:nvPr/>
        </p:nvSpPr>
        <p:spPr>
          <a:xfrm>
            <a:off x="3474720" y="5440680"/>
            <a:ext cx="2286000" cy="685800"/>
          </a:xfrm>
          <a:prstGeom prst="rect">
            <a:avLst/>
          </a:prstGeom>
          <a:solidFill>
            <a:srgbClr val="1A2A1A"/>
          </a:solidFill>
          <a:ln w="19050">
            <a:solidFill>
              <a:srgbClr val="C0392B"/>
            </a:solidFill>
            <a:prstDash val="solid"/>
          </a:ln>
        </p:spPr>
        <p:txBody>
          <a:bodyPr/>
          <a:lstStyle/>
          <a:p>
            <a:endParaRPr lang="fr-FR"/>
          </a:p>
        </p:txBody>
      </p:sp>
      <p:sp>
        <p:nvSpPr>
          <p:cNvPr id="28" name="Text 26"/>
          <p:cNvSpPr/>
          <p:nvPr/>
        </p:nvSpPr>
        <p:spPr>
          <a:xfrm>
            <a:off x="3474720" y="5458968"/>
            <a:ext cx="2286000" cy="658368"/>
          </a:xfrm>
          <a:prstGeom prst="rect">
            <a:avLst/>
          </a:prstGeom>
          <a:noFill/>
          <a:ln/>
        </p:spPr>
        <p:txBody>
          <a:bodyPr wrap="square" rtlCol="0" anchor="ctr"/>
          <a:lstStyle/>
          <a:p>
            <a:pPr marL="0" indent="0" algn="ctr">
              <a:buNone/>
            </a:pPr>
            <a:r>
              <a:rPr lang="en-US" sz="800" dirty="0">
                <a:solidFill>
                  <a:srgbClr val="27AE60"/>
                </a:solidFill>
                <a:latin typeface="Calibri" pitchFamily="34" charset="0"/>
                <a:ea typeface="Calibri" pitchFamily="34" charset="-122"/>
                <a:cs typeface="Calibri" pitchFamily="34" charset="-120"/>
              </a:rPr>
              <a:t>deploy</a:t>
            </a:r>
            <a:endParaRPr lang="en-US" sz="800" dirty="0"/>
          </a:p>
          <a:p>
            <a:pPr marL="0" indent="0" algn="ctr">
              <a:buNone/>
            </a:pPr>
            <a:r>
              <a:rPr lang="en-US" sz="800" dirty="0">
                <a:solidFill>
                  <a:srgbClr val="27AE60"/>
                </a:solidFill>
                <a:latin typeface="Calibri" pitchFamily="34" charset="0"/>
                <a:ea typeface="Calibri" pitchFamily="34" charset="-122"/>
                <a:cs typeface="Calibri" pitchFamily="34" charset="-120"/>
              </a:rPr>
              <a:t>staging</a:t>
            </a:r>
            <a:endParaRPr lang="en-US" sz="800" dirty="0"/>
          </a:p>
          <a:p>
            <a:pPr marL="0" indent="0" algn="ctr">
              <a:buNone/>
            </a:pPr>
            <a:r>
              <a:rPr lang="en-US" sz="800" dirty="0">
                <a:solidFill>
                  <a:srgbClr val="27AE60"/>
                </a:solidFill>
                <a:latin typeface="Calibri" pitchFamily="34" charset="0"/>
                <a:ea typeface="Calibri" pitchFamily="34" charset="-122"/>
                <a:cs typeface="Calibri" pitchFamily="34" charset="-120"/>
              </a:rPr>
              <a:t>:8089</a:t>
            </a:r>
            <a:endParaRPr lang="en-US" sz="800" dirty="0"/>
          </a:p>
        </p:txBody>
      </p:sp>
      <p:sp>
        <p:nvSpPr>
          <p:cNvPr id="29" name="Shape 27"/>
          <p:cNvSpPr/>
          <p:nvPr/>
        </p:nvSpPr>
        <p:spPr>
          <a:xfrm>
            <a:off x="6583680" y="5436108"/>
            <a:ext cx="2286000" cy="685800"/>
          </a:xfrm>
          <a:prstGeom prst="rect">
            <a:avLst/>
          </a:prstGeom>
          <a:solidFill>
            <a:srgbClr val="1A2A1A"/>
          </a:solidFill>
          <a:ln w="19050">
            <a:solidFill>
              <a:srgbClr val="C0392B"/>
            </a:solidFill>
            <a:prstDash val="solid"/>
          </a:ln>
        </p:spPr>
        <p:txBody>
          <a:bodyPr/>
          <a:lstStyle/>
          <a:p>
            <a:endParaRPr lang="fr-FR"/>
          </a:p>
        </p:txBody>
      </p:sp>
      <p:sp>
        <p:nvSpPr>
          <p:cNvPr id="30" name="Text 28"/>
          <p:cNvSpPr/>
          <p:nvPr/>
        </p:nvSpPr>
        <p:spPr>
          <a:xfrm>
            <a:off x="6583680" y="5454396"/>
            <a:ext cx="2286000" cy="658368"/>
          </a:xfrm>
          <a:prstGeom prst="rect">
            <a:avLst/>
          </a:prstGeom>
          <a:noFill/>
          <a:ln/>
        </p:spPr>
        <p:txBody>
          <a:bodyPr wrap="square" rtlCol="0" anchor="ctr"/>
          <a:lstStyle/>
          <a:p>
            <a:pPr marL="0" indent="0" algn="ctr">
              <a:buNone/>
            </a:pPr>
            <a:r>
              <a:rPr lang="en-US" sz="800" dirty="0">
                <a:solidFill>
                  <a:srgbClr val="27AE60"/>
                </a:solidFill>
                <a:latin typeface="Calibri" pitchFamily="34" charset="0"/>
                <a:ea typeface="Calibri" pitchFamily="34" charset="-122"/>
                <a:cs typeface="Calibri" pitchFamily="34" charset="-120"/>
              </a:rPr>
              <a:t>deploy</a:t>
            </a:r>
            <a:endParaRPr lang="en-US" sz="800" dirty="0"/>
          </a:p>
          <a:p>
            <a:pPr marL="0" indent="0" algn="ctr">
              <a:buNone/>
            </a:pPr>
            <a:r>
              <a:rPr lang="en-US" sz="800" dirty="0">
                <a:solidFill>
                  <a:srgbClr val="27AE60"/>
                </a:solidFill>
                <a:latin typeface="Calibri" pitchFamily="34" charset="0"/>
                <a:ea typeface="Calibri" pitchFamily="34" charset="-122"/>
                <a:cs typeface="Calibri" pitchFamily="34" charset="-120"/>
              </a:rPr>
              <a:t>production</a:t>
            </a:r>
            <a:endParaRPr lang="en-US" sz="800" dirty="0"/>
          </a:p>
          <a:p>
            <a:pPr marL="0" indent="0" algn="ctr">
              <a:buNone/>
            </a:pPr>
            <a:r>
              <a:rPr lang="en-US" sz="800" dirty="0">
                <a:solidFill>
                  <a:srgbClr val="27AE60"/>
                </a:solidFill>
                <a:latin typeface="Calibri" pitchFamily="34" charset="0"/>
                <a:ea typeface="Calibri" pitchFamily="34" charset="-122"/>
                <a:cs typeface="Calibri" pitchFamily="34" charset="-120"/>
              </a:rPr>
              <a:t>:8088</a:t>
            </a:r>
            <a:endParaRPr lang="en-US" sz="800" dirty="0"/>
          </a:p>
        </p:txBody>
      </p:sp>
      <p:sp>
        <p:nvSpPr>
          <p:cNvPr id="31" name="Text 29"/>
          <p:cNvSpPr/>
          <p:nvPr/>
        </p:nvSpPr>
        <p:spPr>
          <a:xfrm>
            <a:off x="5989320" y="2592324"/>
            <a:ext cx="365760" cy="320040"/>
          </a:xfrm>
          <a:prstGeom prst="rect">
            <a:avLst/>
          </a:prstGeom>
          <a:noFill/>
          <a:ln/>
        </p:spPr>
        <p:txBody>
          <a:bodyPr wrap="square" rtlCol="0" anchor="ctr"/>
          <a:lstStyle/>
          <a:p>
            <a:pPr marL="0" indent="0" algn="ctr">
              <a:buNone/>
            </a:pPr>
            <a:r>
              <a:rPr lang="en-US" sz="1200" dirty="0">
                <a:solidFill>
                  <a:srgbClr val="888888"/>
                </a:solidFill>
              </a:rPr>
              <a:t>↓</a:t>
            </a:r>
            <a:endParaRPr lang="en-US" sz="1200" dirty="0"/>
          </a:p>
        </p:txBody>
      </p:sp>
      <p:sp>
        <p:nvSpPr>
          <p:cNvPr id="32" name="Text 30"/>
          <p:cNvSpPr/>
          <p:nvPr/>
        </p:nvSpPr>
        <p:spPr>
          <a:xfrm>
            <a:off x="5982970" y="4252468"/>
            <a:ext cx="365760" cy="320040"/>
          </a:xfrm>
          <a:prstGeom prst="rect">
            <a:avLst/>
          </a:prstGeom>
          <a:noFill/>
          <a:ln/>
        </p:spPr>
        <p:txBody>
          <a:bodyPr wrap="square" rtlCol="0" anchor="ctr"/>
          <a:lstStyle/>
          <a:p>
            <a:pPr marL="0" indent="0" algn="ctr">
              <a:buNone/>
            </a:pPr>
            <a:r>
              <a:rPr lang="en-US" sz="1200" dirty="0">
                <a:solidFill>
                  <a:srgbClr val="888888"/>
                </a:solidFill>
              </a:rPr>
              <a:t>↓</a:t>
            </a:r>
            <a:endParaRPr lang="en-US" sz="1200" dirty="0"/>
          </a:p>
        </p:txBody>
      </p:sp>
      <p:sp>
        <p:nvSpPr>
          <p:cNvPr id="33" name="Text 31"/>
          <p:cNvSpPr/>
          <p:nvPr/>
        </p:nvSpPr>
        <p:spPr>
          <a:xfrm>
            <a:off x="5989320" y="5120640"/>
            <a:ext cx="365760" cy="320040"/>
          </a:xfrm>
          <a:prstGeom prst="rect">
            <a:avLst/>
          </a:prstGeom>
          <a:noFill/>
          <a:ln/>
        </p:spPr>
        <p:txBody>
          <a:bodyPr wrap="square" rtlCol="0" anchor="ctr"/>
          <a:lstStyle/>
          <a:p>
            <a:pPr marL="0" indent="0" algn="ctr">
              <a:buNone/>
            </a:pPr>
            <a:r>
              <a:rPr lang="en-US" sz="1200" dirty="0">
                <a:solidFill>
                  <a:srgbClr val="888888"/>
                </a:solidFill>
              </a:rPr>
              <a:t>↓</a:t>
            </a:r>
            <a:endParaRPr lang="en-US" sz="1200" dirty="0"/>
          </a:p>
        </p:txBody>
      </p:sp>
      <p:sp>
        <p:nvSpPr>
          <p:cNvPr id="34" name="Text 32"/>
          <p:cNvSpPr/>
          <p:nvPr/>
        </p:nvSpPr>
        <p:spPr>
          <a:xfrm>
            <a:off x="5989320" y="3402076"/>
            <a:ext cx="365760" cy="320040"/>
          </a:xfrm>
          <a:prstGeom prst="rect">
            <a:avLst/>
          </a:prstGeom>
          <a:noFill/>
          <a:ln/>
        </p:spPr>
        <p:txBody>
          <a:bodyPr wrap="square" rtlCol="0" anchor="ctr"/>
          <a:lstStyle/>
          <a:p>
            <a:pPr marL="0" indent="0" algn="ctr">
              <a:buNone/>
            </a:pPr>
            <a:r>
              <a:rPr lang="en-US" sz="1200" dirty="0">
                <a:solidFill>
                  <a:srgbClr val="888888"/>
                </a:solidFill>
              </a:rPr>
              <a:t>↓</a:t>
            </a:r>
            <a:endParaRPr lang="en-US" sz="1200" dirty="0"/>
          </a:p>
        </p:txBody>
      </p:sp>
      <p:sp>
        <p:nvSpPr>
          <p:cNvPr id="35" name="Shape 33"/>
          <p:cNvSpPr/>
          <p:nvPr/>
        </p:nvSpPr>
        <p:spPr>
          <a:xfrm>
            <a:off x="274320" y="6263640"/>
            <a:ext cx="228600" cy="164592"/>
          </a:xfrm>
          <a:prstGeom prst="rect">
            <a:avLst/>
          </a:prstGeom>
          <a:solidFill>
            <a:srgbClr val="1A2E1A"/>
          </a:solidFill>
          <a:ln/>
        </p:spPr>
        <p:txBody>
          <a:bodyPr/>
          <a:lstStyle/>
          <a:p>
            <a:endParaRPr lang="fr-FR"/>
          </a:p>
        </p:txBody>
      </p:sp>
      <p:sp>
        <p:nvSpPr>
          <p:cNvPr id="36" name="Text 34"/>
          <p:cNvSpPr/>
          <p:nvPr/>
        </p:nvSpPr>
        <p:spPr>
          <a:xfrm>
            <a:off x="548640" y="6245352"/>
            <a:ext cx="1828800" cy="201168"/>
          </a:xfrm>
          <a:prstGeom prst="rect">
            <a:avLst/>
          </a:prstGeom>
          <a:noFill/>
          <a:ln/>
        </p:spPr>
        <p:txBody>
          <a:bodyPr wrap="square" rtlCol="0" anchor="ctr"/>
          <a:lstStyle/>
          <a:p>
            <a:pPr marL="0" indent="0">
              <a:buNone/>
            </a:pPr>
            <a:r>
              <a:rPr lang="en-US" sz="800" dirty="0">
                <a:solidFill>
                  <a:srgbClr val="888888"/>
                </a:solidFill>
                <a:latin typeface="Calibri" pitchFamily="34" charset="0"/>
                <a:ea typeface="Calibri" pitchFamily="34" charset="-122"/>
                <a:cs typeface="Calibri" pitchFamily="34" charset="-120"/>
              </a:rPr>
              <a:t>Tests / Build</a:t>
            </a:r>
            <a:endParaRPr lang="en-US" sz="800" dirty="0"/>
          </a:p>
        </p:txBody>
      </p:sp>
      <p:sp>
        <p:nvSpPr>
          <p:cNvPr id="37" name="Shape 35"/>
          <p:cNvSpPr/>
          <p:nvPr/>
        </p:nvSpPr>
        <p:spPr>
          <a:xfrm>
            <a:off x="274320" y="5989320"/>
            <a:ext cx="228600" cy="164592"/>
          </a:xfrm>
          <a:prstGeom prst="rect">
            <a:avLst/>
          </a:prstGeom>
          <a:solidFill>
            <a:srgbClr val="2E1A1A"/>
          </a:solidFill>
          <a:ln/>
        </p:spPr>
        <p:txBody>
          <a:bodyPr/>
          <a:lstStyle/>
          <a:p>
            <a:endParaRPr lang="fr-FR"/>
          </a:p>
        </p:txBody>
      </p:sp>
      <p:sp>
        <p:nvSpPr>
          <p:cNvPr id="38" name="Text 36"/>
          <p:cNvSpPr/>
          <p:nvPr/>
        </p:nvSpPr>
        <p:spPr>
          <a:xfrm>
            <a:off x="548640" y="5971032"/>
            <a:ext cx="1828800" cy="201168"/>
          </a:xfrm>
          <a:prstGeom prst="rect">
            <a:avLst/>
          </a:prstGeom>
          <a:noFill/>
          <a:ln/>
        </p:spPr>
        <p:txBody>
          <a:bodyPr wrap="square" rtlCol="0" anchor="ctr"/>
          <a:lstStyle/>
          <a:p>
            <a:pPr marL="0" indent="0">
              <a:buNone/>
            </a:pPr>
            <a:r>
              <a:rPr lang="en-US" sz="800" dirty="0">
                <a:solidFill>
                  <a:srgbClr val="888888"/>
                </a:solidFill>
                <a:latin typeface="Calibri" pitchFamily="34" charset="0"/>
                <a:ea typeface="Calibri" pitchFamily="34" charset="-122"/>
                <a:cs typeface="Calibri" pitchFamily="34" charset="-120"/>
              </a:rPr>
              <a:t>Sécurité / Scan</a:t>
            </a:r>
            <a:endParaRPr lang="en-US" sz="800" dirty="0"/>
          </a:p>
        </p:txBody>
      </p:sp>
      <p:sp>
        <p:nvSpPr>
          <p:cNvPr id="39" name="Shape 37"/>
          <p:cNvSpPr/>
          <p:nvPr/>
        </p:nvSpPr>
        <p:spPr>
          <a:xfrm>
            <a:off x="274320" y="5728716"/>
            <a:ext cx="228600" cy="164592"/>
          </a:xfrm>
          <a:prstGeom prst="rect">
            <a:avLst/>
          </a:prstGeom>
          <a:solidFill>
            <a:srgbClr val="2E2A1A"/>
          </a:solidFill>
          <a:ln/>
        </p:spPr>
        <p:txBody>
          <a:bodyPr/>
          <a:lstStyle/>
          <a:p>
            <a:endParaRPr lang="fr-FR"/>
          </a:p>
        </p:txBody>
      </p:sp>
      <p:sp>
        <p:nvSpPr>
          <p:cNvPr id="40" name="Text 38"/>
          <p:cNvSpPr/>
          <p:nvPr/>
        </p:nvSpPr>
        <p:spPr>
          <a:xfrm>
            <a:off x="548640" y="5710428"/>
            <a:ext cx="2286000" cy="201168"/>
          </a:xfrm>
          <a:prstGeom prst="rect">
            <a:avLst/>
          </a:prstGeom>
          <a:noFill/>
          <a:ln/>
        </p:spPr>
        <p:txBody>
          <a:bodyPr wrap="square" rtlCol="0" anchor="ctr"/>
          <a:lstStyle/>
          <a:p>
            <a:pPr marL="0" indent="0">
              <a:buNone/>
            </a:pPr>
            <a:r>
              <a:rPr lang="en-US" sz="800" dirty="0">
                <a:solidFill>
                  <a:srgbClr val="888888"/>
                </a:solidFill>
                <a:latin typeface="Calibri" pitchFamily="34" charset="0"/>
                <a:ea typeface="Calibri" pitchFamily="34" charset="-122"/>
                <a:cs typeface="Calibri" pitchFamily="34" charset="-120"/>
              </a:rPr>
              <a:t>Self-hosted runner</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10972800" cy="182880"/>
          </a:xfrm>
          <a:prstGeom prst="rect">
            <a:avLst/>
          </a:prstGeom>
          <a:noFill/>
          <a:ln/>
        </p:spPr>
        <p:txBody>
          <a:bodyPr wrap="square" rtlCol="0" anchor="ctr"/>
          <a:lstStyle/>
          <a:p>
            <a:pPr marL="0" indent="0">
              <a:buNone/>
            </a:pPr>
            <a:r>
              <a:rPr lang="en-US" sz="800" dirty="0">
                <a:solidFill>
                  <a:srgbClr val="888888"/>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Shape 3"/>
          <p:cNvSpPr/>
          <p:nvPr/>
        </p:nvSpPr>
        <p:spPr>
          <a:xfrm>
            <a:off x="365760" y="1051560"/>
            <a:ext cx="2377440" cy="54864"/>
          </a:xfrm>
          <a:prstGeom prst="rect">
            <a:avLst/>
          </a:prstGeom>
          <a:solidFill>
            <a:srgbClr val="C0392B"/>
          </a:solidFill>
          <a:ln/>
        </p:spPr>
        <p:txBody>
          <a:bodyPr/>
          <a:lstStyle/>
          <a:p>
            <a:endParaRPr lang="fr-FR"/>
          </a:p>
        </p:txBody>
      </p:sp>
      <p:sp>
        <p:nvSpPr>
          <p:cNvPr id="6" name="Text 4"/>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EQUIPE &amp; MONTEE EN COMPETENCES</a:t>
            </a:r>
            <a:endParaRPr lang="en-US" sz="1100" dirty="0"/>
          </a:p>
        </p:txBody>
      </p:sp>
      <p:sp>
        <p:nvSpPr>
          <p:cNvPr id="7" name="Text 5"/>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Georgia" pitchFamily="34" charset="0"/>
                <a:ea typeface="Georgia" pitchFamily="34" charset="-122"/>
                <a:cs typeface="Georgia" pitchFamily="34" charset="-120"/>
              </a:rPr>
              <a:t>Cartographie des compétences</a:t>
            </a:r>
            <a:endParaRPr lang="en-US" sz="3400" dirty="0"/>
          </a:p>
        </p:txBody>
      </p:sp>
      <p:sp>
        <p:nvSpPr>
          <p:cNvPr id="8" name="Shape 6"/>
          <p:cNvSpPr/>
          <p:nvPr/>
        </p:nvSpPr>
        <p:spPr>
          <a:xfrm>
            <a:off x="274320" y="2743200"/>
            <a:ext cx="2743200" cy="2560320"/>
          </a:xfrm>
          <a:prstGeom prst="rect">
            <a:avLst/>
          </a:prstGeom>
          <a:solidFill>
            <a:srgbClr val="2E1A1A"/>
          </a:solidFill>
          <a:ln w="19050">
            <a:solidFill>
              <a:srgbClr val="C0392B"/>
            </a:solidFill>
            <a:prstDash val="solid"/>
          </a:ln>
        </p:spPr>
        <p:txBody>
          <a:bodyPr/>
          <a:lstStyle/>
          <a:p>
            <a:endParaRPr lang="fr-FR"/>
          </a:p>
        </p:txBody>
      </p:sp>
      <p:sp>
        <p:nvSpPr>
          <p:cNvPr id="9" name="Text 7"/>
          <p:cNvSpPr/>
          <p:nvPr/>
        </p:nvSpPr>
        <p:spPr>
          <a:xfrm>
            <a:off x="411480" y="2834640"/>
            <a:ext cx="2468880" cy="457200"/>
          </a:xfrm>
          <a:prstGeom prst="rect">
            <a:avLst/>
          </a:prstGeom>
          <a:noFill/>
          <a:ln/>
        </p:spPr>
        <p:txBody>
          <a:bodyPr wrap="square" rtlCol="0" anchor="ctr"/>
          <a:lstStyle/>
          <a:p>
            <a:pPr marL="0" indent="0" algn="r">
              <a:buNone/>
            </a:pPr>
            <a:r>
              <a:rPr lang="en-US" sz="2200" b="1" dirty="0">
                <a:solidFill>
                  <a:srgbClr val="E74C3C"/>
                </a:solidFill>
                <a:latin typeface="Georgia" pitchFamily="34" charset="0"/>
                <a:ea typeface="Georgia" pitchFamily="34" charset="-122"/>
                <a:cs typeface="Georgia" pitchFamily="34" charset="-120"/>
              </a:rPr>
              <a:t>×1</a:t>
            </a:r>
            <a:endParaRPr lang="en-US" sz="2200" dirty="0"/>
          </a:p>
        </p:txBody>
      </p:sp>
      <p:sp>
        <p:nvSpPr>
          <p:cNvPr id="10" name="Text 8"/>
          <p:cNvSpPr/>
          <p:nvPr/>
        </p:nvSpPr>
        <p:spPr>
          <a:xfrm>
            <a:off x="411480" y="3291840"/>
            <a:ext cx="2468880" cy="457200"/>
          </a:xfrm>
          <a:prstGeom prst="rect">
            <a:avLst/>
          </a:prstGeom>
          <a:noFill/>
          <a:ln/>
        </p:spPr>
        <p:txBody>
          <a:bodyPr wrap="square" rtlCol="0" anchor="ctr"/>
          <a:lstStyle/>
          <a:p>
            <a:pPr marL="0" indent="0" algn="ctr">
              <a:buNone/>
            </a:pPr>
            <a:r>
              <a:rPr lang="en-US" sz="1300" b="1" dirty="0">
                <a:solidFill>
                  <a:srgbClr val="F0F0F0"/>
                </a:solidFill>
                <a:latin typeface="Calibri" pitchFamily="34" charset="0"/>
                <a:ea typeface="Calibri" pitchFamily="34" charset="-122"/>
                <a:cs typeface="Calibri" pitchFamily="34" charset="-120"/>
              </a:rPr>
              <a:t>Lead Developer</a:t>
            </a:r>
            <a:endParaRPr lang="en-US" sz="1300" dirty="0"/>
          </a:p>
        </p:txBody>
      </p:sp>
      <p:sp>
        <p:nvSpPr>
          <p:cNvPr id="11" name="Shape 9"/>
          <p:cNvSpPr/>
          <p:nvPr/>
        </p:nvSpPr>
        <p:spPr>
          <a:xfrm>
            <a:off x="731520" y="3794760"/>
            <a:ext cx="1828800" cy="36576"/>
          </a:xfrm>
          <a:prstGeom prst="rect">
            <a:avLst/>
          </a:prstGeom>
          <a:solidFill>
            <a:srgbClr val="C0392B"/>
          </a:solidFill>
          <a:ln/>
        </p:spPr>
        <p:txBody>
          <a:bodyPr/>
          <a:lstStyle/>
          <a:p>
            <a:endParaRPr lang="fr-FR"/>
          </a:p>
        </p:txBody>
      </p:sp>
      <p:sp>
        <p:nvSpPr>
          <p:cNvPr id="12" name="Text 10"/>
          <p:cNvSpPr/>
          <p:nvPr/>
        </p:nvSpPr>
        <p:spPr>
          <a:xfrm>
            <a:off x="365760" y="3886200"/>
            <a:ext cx="2560320" cy="1097280"/>
          </a:xfrm>
          <a:prstGeom prst="rect">
            <a:avLst/>
          </a:prstGeom>
          <a:noFill/>
          <a:ln/>
        </p:spPr>
        <p:txBody>
          <a:bodyPr wrap="square" rtlCol="0" anchor="ctr"/>
          <a:lstStyle/>
          <a:p>
            <a:pPr marL="0" indent="0" algn="ctr">
              <a:buNone/>
            </a:pPr>
            <a:r>
              <a:rPr lang="en-US" sz="1100" dirty="0">
                <a:solidFill>
                  <a:srgbClr val="888888"/>
                </a:solidFill>
                <a:latin typeface="Calibri" pitchFamily="34" charset="0"/>
                <a:ea typeface="Calibri" pitchFamily="34" charset="-122"/>
                <a:cs typeface="Calibri" pitchFamily="34" charset="-120"/>
              </a:rPr>
              <a:t>Architecture · CI/CD</a:t>
            </a:r>
            <a:endParaRPr lang="en-US" sz="1100" dirty="0"/>
          </a:p>
          <a:p>
            <a:pPr marL="0" indent="0" algn="ctr">
              <a:buNone/>
            </a:pPr>
            <a:r>
              <a:rPr lang="en-US" sz="1100" dirty="0">
                <a:solidFill>
                  <a:srgbClr val="888888"/>
                </a:solidFill>
                <a:latin typeface="Calibri" pitchFamily="34" charset="0"/>
                <a:ea typeface="Calibri" pitchFamily="34" charset="-122"/>
                <a:cs typeface="Calibri" pitchFamily="34" charset="-120"/>
              </a:rPr>
              <a:t>Sécurité · DevSecOps</a:t>
            </a:r>
            <a:endParaRPr lang="en-US" sz="1100" dirty="0"/>
          </a:p>
        </p:txBody>
      </p:sp>
      <p:sp>
        <p:nvSpPr>
          <p:cNvPr id="13" name="Shape 11"/>
          <p:cNvSpPr/>
          <p:nvPr/>
        </p:nvSpPr>
        <p:spPr>
          <a:xfrm>
            <a:off x="3291840" y="2743200"/>
            <a:ext cx="2743200" cy="2560320"/>
          </a:xfrm>
          <a:prstGeom prst="rect">
            <a:avLst/>
          </a:prstGeom>
          <a:solidFill>
            <a:srgbClr val="1A1A2E"/>
          </a:solidFill>
          <a:ln w="19050">
            <a:solidFill>
              <a:srgbClr val="C0392B"/>
            </a:solidFill>
            <a:prstDash val="solid"/>
          </a:ln>
        </p:spPr>
        <p:txBody>
          <a:bodyPr/>
          <a:lstStyle/>
          <a:p>
            <a:endParaRPr lang="fr-FR"/>
          </a:p>
        </p:txBody>
      </p:sp>
      <p:sp>
        <p:nvSpPr>
          <p:cNvPr id="14" name="Text 12"/>
          <p:cNvSpPr/>
          <p:nvPr/>
        </p:nvSpPr>
        <p:spPr>
          <a:xfrm>
            <a:off x="3429000" y="2834640"/>
            <a:ext cx="2468880" cy="457200"/>
          </a:xfrm>
          <a:prstGeom prst="rect">
            <a:avLst/>
          </a:prstGeom>
          <a:noFill/>
          <a:ln/>
        </p:spPr>
        <p:txBody>
          <a:bodyPr wrap="square" rtlCol="0" anchor="ctr"/>
          <a:lstStyle/>
          <a:p>
            <a:pPr marL="0" indent="0" algn="r">
              <a:buNone/>
            </a:pPr>
            <a:r>
              <a:rPr lang="en-US" sz="2200" b="1" dirty="0">
                <a:solidFill>
                  <a:srgbClr val="E74C3C"/>
                </a:solidFill>
                <a:latin typeface="Georgia" pitchFamily="34" charset="0"/>
                <a:ea typeface="Georgia" pitchFamily="34" charset="-122"/>
                <a:cs typeface="Georgia" pitchFamily="34" charset="-120"/>
              </a:rPr>
              <a:t>×2</a:t>
            </a:r>
            <a:endParaRPr lang="en-US" sz="2200" dirty="0"/>
          </a:p>
        </p:txBody>
      </p:sp>
      <p:sp>
        <p:nvSpPr>
          <p:cNvPr id="15" name="Text 13"/>
          <p:cNvSpPr/>
          <p:nvPr/>
        </p:nvSpPr>
        <p:spPr>
          <a:xfrm>
            <a:off x="3429000" y="3291840"/>
            <a:ext cx="2468880" cy="457200"/>
          </a:xfrm>
          <a:prstGeom prst="rect">
            <a:avLst/>
          </a:prstGeom>
          <a:noFill/>
          <a:ln/>
        </p:spPr>
        <p:txBody>
          <a:bodyPr wrap="square" rtlCol="0" anchor="ctr"/>
          <a:lstStyle/>
          <a:p>
            <a:pPr marL="0" indent="0" algn="ctr">
              <a:buNone/>
            </a:pPr>
            <a:r>
              <a:rPr lang="en-US" sz="1300" b="1" dirty="0">
                <a:solidFill>
                  <a:srgbClr val="F0F0F0"/>
                </a:solidFill>
                <a:latin typeface="Calibri" pitchFamily="34" charset="0"/>
                <a:ea typeface="Calibri" pitchFamily="34" charset="-122"/>
                <a:cs typeface="Calibri" pitchFamily="34" charset="-120"/>
              </a:rPr>
              <a:t>Dev Backend</a:t>
            </a:r>
            <a:endParaRPr lang="en-US" sz="1300" dirty="0"/>
          </a:p>
        </p:txBody>
      </p:sp>
      <p:sp>
        <p:nvSpPr>
          <p:cNvPr id="16" name="Shape 14"/>
          <p:cNvSpPr/>
          <p:nvPr/>
        </p:nvSpPr>
        <p:spPr>
          <a:xfrm>
            <a:off x="3749040" y="3794760"/>
            <a:ext cx="1828800" cy="36576"/>
          </a:xfrm>
          <a:prstGeom prst="rect">
            <a:avLst/>
          </a:prstGeom>
          <a:solidFill>
            <a:srgbClr val="C0392B"/>
          </a:solidFill>
          <a:ln/>
        </p:spPr>
        <p:txBody>
          <a:bodyPr/>
          <a:lstStyle/>
          <a:p>
            <a:endParaRPr lang="fr-FR"/>
          </a:p>
        </p:txBody>
      </p:sp>
      <p:sp>
        <p:nvSpPr>
          <p:cNvPr id="17" name="Text 15"/>
          <p:cNvSpPr/>
          <p:nvPr/>
        </p:nvSpPr>
        <p:spPr>
          <a:xfrm>
            <a:off x="3383280" y="3886200"/>
            <a:ext cx="2560320" cy="1097280"/>
          </a:xfrm>
          <a:prstGeom prst="rect">
            <a:avLst/>
          </a:prstGeom>
          <a:noFill/>
          <a:ln/>
        </p:spPr>
        <p:txBody>
          <a:bodyPr wrap="square" rtlCol="0" anchor="ctr"/>
          <a:lstStyle/>
          <a:p>
            <a:pPr marL="0" indent="0" algn="ctr">
              <a:buNone/>
            </a:pPr>
            <a:r>
              <a:rPr lang="en-US" sz="1100" dirty="0">
                <a:solidFill>
                  <a:srgbClr val="888888"/>
                </a:solidFill>
                <a:latin typeface="Calibri" pitchFamily="34" charset="0"/>
                <a:ea typeface="Calibri" pitchFamily="34" charset="-122"/>
                <a:cs typeface="Calibri" pitchFamily="34" charset="-120"/>
              </a:rPr>
              <a:t>PHP/Symfony · API</a:t>
            </a:r>
            <a:endParaRPr lang="en-US" sz="1100" dirty="0"/>
          </a:p>
          <a:p>
            <a:pPr marL="0" indent="0" algn="ctr">
              <a:buNone/>
            </a:pPr>
            <a:r>
              <a:rPr lang="en-US" sz="1100" dirty="0">
                <a:solidFill>
                  <a:srgbClr val="888888"/>
                </a:solidFill>
                <a:latin typeface="Calibri" pitchFamily="34" charset="0"/>
                <a:ea typeface="Calibri" pitchFamily="34" charset="-122"/>
                <a:cs typeface="Calibri" pitchFamily="34" charset="-120"/>
              </a:rPr>
              <a:t>Tests unitaires</a:t>
            </a:r>
            <a:endParaRPr lang="en-US" sz="1100" dirty="0"/>
          </a:p>
        </p:txBody>
      </p:sp>
      <p:sp>
        <p:nvSpPr>
          <p:cNvPr id="18" name="Shape 16"/>
          <p:cNvSpPr/>
          <p:nvPr/>
        </p:nvSpPr>
        <p:spPr>
          <a:xfrm>
            <a:off x="6309360" y="2743200"/>
            <a:ext cx="2743200" cy="2560320"/>
          </a:xfrm>
          <a:prstGeom prst="rect">
            <a:avLst/>
          </a:prstGeom>
          <a:solidFill>
            <a:srgbClr val="1A2E2E"/>
          </a:solidFill>
          <a:ln w="19050">
            <a:solidFill>
              <a:srgbClr val="C0392B"/>
            </a:solidFill>
            <a:prstDash val="solid"/>
          </a:ln>
        </p:spPr>
        <p:txBody>
          <a:bodyPr/>
          <a:lstStyle/>
          <a:p>
            <a:endParaRPr lang="fr-FR"/>
          </a:p>
        </p:txBody>
      </p:sp>
      <p:sp>
        <p:nvSpPr>
          <p:cNvPr id="19" name="Text 17"/>
          <p:cNvSpPr/>
          <p:nvPr/>
        </p:nvSpPr>
        <p:spPr>
          <a:xfrm>
            <a:off x="6446520" y="2834640"/>
            <a:ext cx="2468880" cy="457200"/>
          </a:xfrm>
          <a:prstGeom prst="rect">
            <a:avLst/>
          </a:prstGeom>
          <a:noFill/>
          <a:ln/>
        </p:spPr>
        <p:txBody>
          <a:bodyPr wrap="square" rtlCol="0" anchor="ctr"/>
          <a:lstStyle/>
          <a:p>
            <a:pPr marL="0" indent="0" algn="r">
              <a:buNone/>
            </a:pPr>
            <a:r>
              <a:rPr lang="en-US" sz="2200" b="1" dirty="0">
                <a:solidFill>
                  <a:srgbClr val="E74C3C"/>
                </a:solidFill>
                <a:latin typeface="Georgia" pitchFamily="34" charset="0"/>
                <a:ea typeface="Georgia" pitchFamily="34" charset="-122"/>
                <a:cs typeface="Georgia" pitchFamily="34" charset="-120"/>
              </a:rPr>
              <a:t>×1</a:t>
            </a:r>
            <a:endParaRPr lang="en-US" sz="2200" dirty="0"/>
          </a:p>
        </p:txBody>
      </p:sp>
      <p:sp>
        <p:nvSpPr>
          <p:cNvPr id="20" name="Text 18"/>
          <p:cNvSpPr/>
          <p:nvPr/>
        </p:nvSpPr>
        <p:spPr>
          <a:xfrm>
            <a:off x="6446520" y="3291840"/>
            <a:ext cx="2468880" cy="457200"/>
          </a:xfrm>
          <a:prstGeom prst="rect">
            <a:avLst/>
          </a:prstGeom>
          <a:noFill/>
          <a:ln/>
        </p:spPr>
        <p:txBody>
          <a:bodyPr wrap="square" rtlCol="0" anchor="ctr"/>
          <a:lstStyle/>
          <a:p>
            <a:pPr marL="0" indent="0" algn="ctr">
              <a:buNone/>
            </a:pPr>
            <a:r>
              <a:rPr lang="en-US" sz="1300" b="1" dirty="0">
                <a:solidFill>
                  <a:srgbClr val="F0F0F0"/>
                </a:solidFill>
                <a:latin typeface="Calibri" pitchFamily="34" charset="0"/>
                <a:ea typeface="Calibri" pitchFamily="34" charset="-122"/>
                <a:cs typeface="Calibri" pitchFamily="34" charset="-120"/>
              </a:rPr>
              <a:t>Dev Frontend</a:t>
            </a:r>
            <a:endParaRPr lang="en-US" sz="1300" dirty="0"/>
          </a:p>
        </p:txBody>
      </p:sp>
      <p:sp>
        <p:nvSpPr>
          <p:cNvPr id="21" name="Shape 19"/>
          <p:cNvSpPr/>
          <p:nvPr/>
        </p:nvSpPr>
        <p:spPr>
          <a:xfrm>
            <a:off x="6766560" y="3794760"/>
            <a:ext cx="1828800" cy="36576"/>
          </a:xfrm>
          <a:prstGeom prst="rect">
            <a:avLst/>
          </a:prstGeom>
          <a:solidFill>
            <a:srgbClr val="C0392B"/>
          </a:solidFill>
          <a:ln/>
        </p:spPr>
        <p:txBody>
          <a:bodyPr/>
          <a:lstStyle/>
          <a:p>
            <a:endParaRPr lang="fr-FR"/>
          </a:p>
        </p:txBody>
      </p:sp>
      <p:sp>
        <p:nvSpPr>
          <p:cNvPr id="22" name="Text 20"/>
          <p:cNvSpPr/>
          <p:nvPr/>
        </p:nvSpPr>
        <p:spPr>
          <a:xfrm>
            <a:off x="6400800" y="3886200"/>
            <a:ext cx="2560320" cy="1097280"/>
          </a:xfrm>
          <a:prstGeom prst="rect">
            <a:avLst/>
          </a:prstGeom>
          <a:noFill/>
          <a:ln/>
        </p:spPr>
        <p:txBody>
          <a:bodyPr wrap="square" rtlCol="0" anchor="ctr"/>
          <a:lstStyle/>
          <a:p>
            <a:pPr marL="0" indent="0" algn="ctr">
              <a:buNone/>
            </a:pPr>
            <a:r>
              <a:rPr lang="en-US" sz="1100" dirty="0">
                <a:solidFill>
                  <a:srgbClr val="888888"/>
                </a:solidFill>
                <a:latin typeface="Calibri" pitchFamily="34" charset="0"/>
                <a:ea typeface="Calibri" pitchFamily="34" charset="-122"/>
                <a:cs typeface="Calibri" pitchFamily="34" charset="-120"/>
              </a:rPr>
              <a:t>JS/Stimulus · UX</a:t>
            </a:r>
            <a:endParaRPr lang="en-US" sz="1100" dirty="0"/>
          </a:p>
          <a:p>
            <a:pPr marL="0" indent="0" algn="ctr">
              <a:buNone/>
            </a:pPr>
            <a:r>
              <a:rPr lang="en-US" sz="1100" dirty="0">
                <a:solidFill>
                  <a:srgbClr val="888888"/>
                </a:solidFill>
                <a:latin typeface="Calibri" pitchFamily="34" charset="0"/>
                <a:ea typeface="Calibri" pitchFamily="34" charset="-122"/>
                <a:cs typeface="Calibri" pitchFamily="34" charset="-120"/>
              </a:rPr>
              <a:t>Asset Mapper</a:t>
            </a:r>
            <a:endParaRPr lang="en-US" sz="1100" dirty="0"/>
          </a:p>
        </p:txBody>
      </p:sp>
      <p:sp>
        <p:nvSpPr>
          <p:cNvPr id="23" name="Shape 21"/>
          <p:cNvSpPr/>
          <p:nvPr/>
        </p:nvSpPr>
        <p:spPr>
          <a:xfrm>
            <a:off x="9326880" y="2743200"/>
            <a:ext cx="2743200" cy="2560320"/>
          </a:xfrm>
          <a:prstGeom prst="rect">
            <a:avLst/>
          </a:prstGeom>
          <a:solidFill>
            <a:srgbClr val="1A2E1A"/>
          </a:solidFill>
          <a:ln w="19050">
            <a:solidFill>
              <a:srgbClr val="C0392B"/>
            </a:solidFill>
            <a:prstDash val="solid"/>
          </a:ln>
        </p:spPr>
        <p:txBody>
          <a:bodyPr/>
          <a:lstStyle/>
          <a:p>
            <a:endParaRPr lang="fr-FR"/>
          </a:p>
        </p:txBody>
      </p:sp>
      <p:sp>
        <p:nvSpPr>
          <p:cNvPr id="24" name="Text 22"/>
          <p:cNvSpPr/>
          <p:nvPr/>
        </p:nvSpPr>
        <p:spPr>
          <a:xfrm>
            <a:off x="9464040" y="2834640"/>
            <a:ext cx="2468880" cy="457200"/>
          </a:xfrm>
          <a:prstGeom prst="rect">
            <a:avLst/>
          </a:prstGeom>
          <a:noFill/>
          <a:ln/>
        </p:spPr>
        <p:txBody>
          <a:bodyPr wrap="square" rtlCol="0" anchor="ctr"/>
          <a:lstStyle/>
          <a:p>
            <a:pPr marL="0" indent="0" algn="r">
              <a:buNone/>
            </a:pPr>
            <a:r>
              <a:rPr lang="en-US" sz="2200" b="1" dirty="0">
                <a:solidFill>
                  <a:srgbClr val="E74C3C"/>
                </a:solidFill>
                <a:latin typeface="Georgia" pitchFamily="34" charset="0"/>
                <a:ea typeface="Georgia" pitchFamily="34" charset="-122"/>
                <a:cs typeface="Georgia" pitchFamily="34" charset="-120"/>
              </a:rPr>
              <a:t>×1</a:t>
            </a:r>
            <a:endParaRPr lang="en-US" sz="2200" dirty="0"/>
          </a:p>
        </p:txBody>
      </p:sp>
      <p:sp>
        <p:nvSpPr>
          <p:cNvPr id="25" name="Text 23"/>
          <p:cNvSpPr/>
          <p:nvPr/>
        </p:nvSpPr>
        <p:spPr>
          <a:xfrm>
            <a:off x="9464040" y="3291840"/>
            <a:ext cx="2468880" cy="457200"/>
          </a:xfrm>
          <a:prstGeom prst="rect">
            <a:avLst/>
          </a:prstGeom>
          <a:noFill/>
          <a:ln/>
        </p:spPr>
        <p:txBody>
          <a:bodyPr wrap="square" rtlCol="0" anchor="ctr"/>
          <a:lstStyle/>
          <a:p>
            <a:pPr marL="0" indent="0" algn="ctr">
              <a:buNone/>
            </a:pPr>
            <a:r>
              <a:rPr lang="en-US" sz="1300" b="1" dirty="0">
                <a:solidFill>
                  <a:srgbClr val="F0F0F0"/>
                </a:solidFill>
                <a:latin typeface="Calibri" pitchFamily="34" charset="0"/>
                <a:ea typeface="Calibri" pitchFamily="34" charset="-122"/>
                <a:cs typeface="Calibri" pitchFamily="34" charset="-120"/>
              </a:rPr>
              <a:t>DevOps</a:t>
            </a:r>
            <a:endParaRPr lang="en-US" sz="1300" dirty="0"/>
          </a:p>
        </p:txBody>
      </p:sp>
      <p:sp>
        <p:nvSpPr>
          <p:cNvPr id="26" name="Shape 24"/>
          <p:cNvSpPr/>
          <p:nvPr/>
        </p:nvSpPr>
        <p:spPr>
          <a:xfrm>
            <a:off x="9784080" y="3794760"/>
            <a:ext cx="1828800" cy="36576"/>
          </a:xfrm>
          <a:prstGeom prst="rect">
            <a:avLst/>
          </a:prstGeom>
          <a:solidFill>
            <a:srgbClr val="C0392B"/>
          </a:solidFill>
          <a:ln/>
        </p:spPr>
        <p:txBody>
          <a:bodyPr/>
          <a:lstStyle/>
          <a:p>
            <a:endParaRPr lang="fr-FR"/>
          </a:p>
        </p:txBody>
      </p:sp>
      <p:sp>
        <p:nvSpPr>
          <p:cNvPr id="27" name="Text 25"/>
          <p:cNvSpPr/>
          <p:nvPr/>
        </p:nvSpPr>
        <p:spPr>
          <a:xfrm>
            <a:off x="9418320" y="3886200"/>
            <a:ext cx="2560320" cy="1097280"/>
          </a:xfrm>
          <a:prstGeom prst="rect">
            <a:avLst/>
          </a:prstGeom>
          <a:noFill/>
          <a:ln/>
        </p:spPr>
        <p:txBody>
          <a:bodyPr wrap="square" rtlCol="0" anchor="ctr"/>
          <a:lstStyle/>
          <a:p>
            <a:pPr marL="0" indent="0" algn="ctr">
              <a:buNone/>
            </a:pPr>
            <a:r>
              <a:rPr lang="en-US" sz="1100" dirty="0">
                <a:solidFill>
                  <a:srgbClr val="888888"/>
                </a:solidFill>
                <a:latin typeface="Calibri" pitchFamily="34" charset="0"/>
                <a:ea typeface="Calibri" pitchFamily="34" charset="-122"/>
                <a:cs typeface="Calibri" pitchFamily="34" charset="-120"/>
              </a:rPr>
              <a:t>Docker · K8s</a:t>
            </a:r>
            <a:endParaRPr lang="en-US" sz="1100" dirty="0"/>
          </a:p>
          <a:p>
            <a:pPr marL="0" indent="0" algn="ctr">
              <a:buNone/>
            </a:pPr>
            <a:r>
              <a:rPr lang="en-US" sz="1100" dirty="0">
                <a:solidFill>
                  <a:srgbClr val="888888"/>
                </a:solidFill>
                <a:latin typeface="Calibri" pitchFamily="34" charset="0"/>
                <a:ea typeface="Calibri" pitchFamily="34" charset="-122"/>
                <a:cs typeface="Calibri" pitchFamily="34" charset="-120"/>
              </a:rPr>
              <a:t>GitHub Actions</a:t>
            </a:r>
            <a:endParaRPr lang="en-US" sz="1100" dirty="0"/>
          </a:p>
        </p:txBody>
      </p:sp>
      <p:sp>
        <p:nvSpPr>
          <p:cNvPr id="28" name="Shape 26"/>
          <p:cNvSpPr/>
          <p:nvPr/>
        </p:nvSpPr>
        <p:spPr>
          <a:xfrm>
            <a:off x="274320" y="5486400"/>
            <a:ext cx="11704320" cy="822960"/>
          </a:xfrm>
          <a:prstGeom prst="rect">
            <a:avLst/>
          </a:prstGeom>
          <a:solidFill>
            <a:srgbClr val="1A1A1A"/>
          </a:solidFill>
          <a:ln w="19050">
            <a:solidFill>
              <a:srgbClr val="C0392B"/>
            </a:solidFill>
            <a:prstDash val="solid"/>
          </a:ln>
        </p:spPr>
        <p:txBody>
          <a:bodyPr/>
          <a:lstStyle/>
          <a:p>
            <a:endParaRPr lang="fr-FR"/>
          </a:p>
        </p:txBody>
      </p:sp>
      <p:sp>
        <p:nvSpPr>
          <p:cNvPr id="29" name="Text 27"/>
          <p:cNvSpPr/>
          <p:nvPr/>
        </p:nvSpPr>
        <p:spPr>
          <a:xfrm>
            <a:off x="457200" y="5577840"/>
            <a:ext cx="2743200" cy="502920"/>
          </a:xfrm>
          <a:prstGeom prst="rect">
            <a:avLst/>
          </a:prstGeom>
          <a:noFill/>
          <a:ln/>
        </p:spPr>
        <p:txBody>
          <a:bodyPr wrap="square" rtlCol="0" anchor="ctr"/>
          <a:lstStyle/>
          <a:p>
            <a:pPr marL="0" indent="0">
              <a:buNone/>
            </a:pPr>
            <a:r>
              <a:rPr lang="en-US" sz="1200" b="1" dirty="0">
                <a:solidFill>
                  <a:srgbClr val="F39C12"/>
                </a:solidFill>
                <a:latin typeface="Calibri" pitchFamily="34" charset="0"/>
                <a:ea typeface="Calibri" pitchFamily="34" charset="-122"/>
                <a:cs typeface="Calibri" pitchFamily="34" charset="-120"/>
              </a:rPr>
              <a:t>📚  Formation proposée :</a:t>
            </a:r>
            <a:endParaRPr lang="en-US" sz="1200" dirty="0"/>
          </a:p>
        </p:txBody>
      </p:sp>
      <p:sp>
        <p:nvSpPr>
          <p:cNvPr id="30" name="Text 28"/>
          <p:cNvSpPr/>
          <p:nvPr/>
        </p:nvSpPr>
        <p:spPr>
          <a:xfrm>
            <a:off x="3200400" y="5577840"/>
            <a:ext cx="8595360" cy="502920"/>
          </a:xfrm>
          <a:prstGeom prst="rect">
            <a:avLst/>
          </a:prstGeom>
          <a:noFill/>
          <a:ln/>
        </p:spPr>
        <p:txBody>
          <a:bodyPr wrap="square" rtlCol="0" anchor="ctr"/>
          <a:lstStyle/>
          <a:p>
            <a:pPr marL="0" indent="0">
              <a:buNone/>
            </a:pPr>
            <a:r>
              <a:rPr lang="en-US" sz="1200" dirty="0">
                <a:solidFill>
                  <a:srgbClr val="F0F0F0"/>
                </a:solidFill>
                <a:latin typeface="Calibri" pitchFamily="34" charset="0"/>
                <a:ea typeface="Calibri" pitchFamily="34" charset="-122"/>
                <a:cs typeface="Calibri" pitchFamily="34" charset="-120"/>
              </a:rPr>
              <a:t>Certification Kubernetes CKA pour le DevOps — 3 mois · 100% en ligne · Linux Foundation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0000"/>
        </a:solidFill>
        <a:effectLst/>
      </p:bgPr>
    </p:bg>
    <p:spTree>
      <p:nvGrpSpPr>
        <p:cNvPr id="1" name=""/>
        <p:cNvGrpSpPr/>
        <p:nvPr/>
      </p:nvGrpSpPr>
      <p:grpSpPr>
        <a:xfrm>
          <a:off x="0" y="0"/>
          <a:ext cx="0" cy="0"/>
          <a:chOff x="0" y="0"/>
          <a:chExt cx="0" cy="0"/>
        </a:xfrm>
      </p:grpSpPr>
      <p:sp>
        <p:nvSpPr>
          <p:cNvPr id="2" name="Shape 0"/>
          <p:cNvSpPr/>
          <p:nvPr/>
        </p:nvSpPr>
        <p:spPr>
          <a:xfrm>
            <a:off x="0" y="3200400"/>
            <a:ext cx="12192000" cy="73152"/>
          </a:xfrm>
          <a:prstGeom prst="rect">
            <a:avLst/>
          </a:prstGeom>
          <a:solidFill>
            <a:srgbClr val="C0392B"/>
          </a:solidFill>
          <a:ln/>
        </p:spPr>
        <p:txBody>
          <a:bodyPr/>
          <a:lstStyle/>
          <a:p>
            <a:endParaRPr lang="fr-FR"/>
          </a:p>
        </p:txBody>
      </p:sp>
      <p:sp>
        <p:nvSpPr>
          <p:cNvPr id="3" name="Text 1"/>
          <p:cNvSpPr/>
          <p:nvPr/>
        </p:nvSpPr>
        <p:spPr>
          <a:xfrm>
            <a:off x="0" y="1828800"/>
            <a:ext cx="12192000" cy="640080"/>
          </a:xfrm>
          <a:prstGeom prst="rect">
            <a:avLst/>
          </a:prstGeom>
          <a:noFill/>
          <a:ln/>
        </p:spPr>
        <p:txBody>
          <a:bodyPr wrap="square" rtlCol="0" anchor="ctr"/>
          <a:lstStyle/>
          <a:p>
            <a:pPr marL="0" indent="0" algn="ctr">
              <a:buNone/>
            </a:pPr>
            <a:r>
              <a:rPr lang="en-US" sz="1400" b="1" kern="0" spc="600" dirty="0">
                <a:solidFill>
                  <a:srgbClr val="E74C3C"/>
                </a:solidFill>
                <a:latin typeface="Calibri" pitchFamily="34" charset="0"/>
                <a:ea typeface="Calibri" pitchFamily="34" charset="-122"/>
                <a:cs typeface="Calibri" pitchFamily="34" charset="-120"/>
              </a:rPr>
              <a:t>PARTIE 2</a:t>
            </a:r>
            <a:endParaRPr lang="en-US" sz="1400" dirty="0"/>
          </a:p>
        </p:txBody>
      </p:sp>
      <p:sp>
        <p:nvSpPr>
          <p:cNvPr id="4" name="Text 2"/>
          <p:cNvSpPr/>
          <p:nvPr/>
        </p:nvSpPr>
        <p:spPr>
          <a:xfrm>
            <a:off x="0" y="2560320"/>
            <a:ext cx="12192000" cy="1371600"/>
          </a:xfrm>
          <a:prstGeom prst="rect">
            <a:avLst/>
          </a:prstGeom>
          <a:noFill/>
          <a:ln/>
        </p:spPr>
        <p:txBody>
          <a:bodyPr wrap="square" rtlCol="0" anchor="ctr"/>
          <a:lstStyle/>
          <a:p>
            <a:pPr marL="0" indent="0" algn="ctr">
              <a:buNone/>
            </a:pPr>
            <a:r>
              <a:rPr lang="en-US" sz="4600" b="1" dirty="0">
                <a:solidFill>
                  <a:srgbClr val="F0F0F0"/>
                </a:solidFill>
                <a:latin typeface="Georgia" pitchFamily="34" charset="0"/>
                <a:ea typeface="Georgia" pitchFamily="34" charset="-122"/>
                <a:cs typeface="Georgia" pitchFamily="34" charset="-120"/>
              </a:rPr>
              <a:t>Développement &amp; Déploiement</a:t>
            </a:r>
            <a:endParaRPr lang="en-US" sz="4600" dirty="0"/>
          </a:p>
        </p:txBody>
      </p:sp>
      <p:sp>
        <p:nvSpPr>
          <p:cNvPr id="5" name="Text 3"/>
          <p:cNvSpPr/>
          <p:nvPr/>
        </p:nvSpPr>
        <p:spPr>
          <a:xfrm>
            <a:off x="0" y="4023360"/>
            <a:ext cx="12192000" cy="457200"/>
          </a:xfrm>
          <a:prstGeom prst="rect">
            <a:avLst/>
          </a:prstGeom>
          <a:noFill/>
          <a:ln/>
        </p:spPr>
        <p:txBody>
          <a:bodyPr wrap="square" rtlCol="0" anchor="ctr"/>
          <a:lstStyle/>
          <a:p>
            <a:pPr marL="0" indent="0" algn="ctr">
              <a:buNone/>
            </a:pPr>
            <a:r>
              <a:rPr lang="en-US" sz="1400" i="1" dirty="0">
                <a:solidFill>
                  <a:srgbClr val="888888"/>
                </a:solidFill>
                <a:latin typeface="Calibri" pitchFamily="34" charset="0"/>
                <a:ea typeface="Calibri" pitchFamily="34" charset="-122"/>
                <a:cs typeface="Calibri" pitchFamily="34" charset="-120"/>
              </a:rPr>
              <a:t>Backlog · Architecture · Expérimentation · Résultats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10972800" cy="182880"/>
          </a:xfrm>
          <a:prstGeom prst="rect">
            <a:avLst/>
          </a:prstGeom>
          <a:noFill/>
          <a:ln/>
        </p:spPr>
        <p:txBody>
          <a:bodyPr wrap="square" rtlCol="0" anchor="ctr"/>
          <a:lstStyle/>
          <a:p>
            <a:pPr marL="0" indent="0">
              <a:buNone/>
            </a:pPr>
            <a:r>
              <a:rPr lang="en-US" sz="800" dirty="0">
                <a:solidFill>
                  <a:srgbClr val="888888"/>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Shape 3"/>
          <p:cNvSpPr/>
          <p:nvPr/>
        </p:nvSpPr>
        <p:spPr>
          <a:xfrm>
            <a:off x="365760" y="1051560"/>
            <a:ext cx="2377440" cy="54864"/>
          </a:xfrm>
          <a:prstGeom prst="rect">
            <a:avLst/>
          </a:prstGeom>
          <a:solidFill>
            <a:srgbClr val="C0392B"/>
          </a:solidFill>
          <a:ln/>
        </p:spPr>
        <p:txBody>
          <a:bodyPr/>
          <a:lstStyle/>
          <a:p>
            <a:endParaRPr lang="fr-FR"/>
          </a:p>
        </p:txBody>
      </p:sp>
      <p:sp>
        <p:nvSpPr>
          <p:cNvPr id="6" name="Text 4"/>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ANALYSE DES EXIGENCES</a:t>
            </a:r>
            <a:endParaRPr lang="en-US" sz="1100" dirty="0"/>
          </a:p>
        </p:txBody>
      </p:sp>
      <p:sp>
        <p:nvSpPr>
          <p:cNvPr id="7" name="Text 5"/>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Georgia" pitchFamily="34" charset="0"/>
                <a:ea typeface="Georgia" pitchFamily="34" charset="-122"/>
                <a:cs typeface="Georgia" pitchFamily="34" charset="-120"/>
              </a:rPr>
              <a:t>4 User Stories — Backlog v1</a:t>
            </a:r>
            <a:endParaRPr lang="en-US" sz="3400" dirty="0"/>
          </a:p>
        </p:txBody>
      </p:sp>
      <p:sp>
        <p:nvSpPr>
          <p:cNvPr id="8" name="Shape 6"/>
          <p:cNvSpPr/>
          <p:nvPr/>
        </p:nvSpPr>
        <p:spPr>
          <a:xfrm>
            <a:off x="274320" y="2743200"/>
            <a:ext cx="5760720" cy="1737360"/>
          </a:xfrm>
          <a:prstGeom prst="rect">
            <a:avLst/>
          </a:prstGeom>
          <a:solidFill>
            <a:srgbClr val="2E1A1A"/>
          </a:solidFill>
          <a:ln w="19050">
            <a:solidFill>
              <a:srgbClr val="C0392B"/>
            </a:solidFill>
            <a:prstDash val="solid"/>
          </a:ln>
        </p:spPr>
        <p:txBody>
          <a:bodyPr/>
          <a:lstStyle/>
          <a:p>
            <a:endParaRPr lang="fr-FR"/>
          </a:p>
        </p:txBody>
      </p:sp>
      <p:sp>
        <p:nvSpPr>
          <p:cNvPr id="9" name="Text 7"/>
          <p:cNvSpPr/>
          <p:nvPr/>
        </p:nvSpPr>
        <p:spPr>
          <a:xfrm>
            <a:off x="411480" y="2834640"/>
            <a:ext cx="1097280" cy="411480"/>
          </a:xfrm>
          <a:prstGeom prst="rect">
            <a:avLst/>
          </a:prstGeom>
          <a:noFill/>
          <a:ln/>
        </p:spPr>
        <p:txBody>
          <a:bodyPr wrap="square" rtlCol="0" anchor="ctr"/>
          <a:lstStyle/>
          <a:p>
            <a:pPr marL="0" indent="0">
              <a:buNone/>
            </a:pPr>
            <a:r>
              <a:rPr lang="en-US" sz="1300" b="1" dirty="0">
                <a:solidFill>
                  <a:srgbClr val="E74C3C"/>
                </a:solidFill>
                <a:latin typeface="Calibri" pitchFamily="34" charset="0"/>
                <a:ea typeface="Calibri" pitchFamily="34" charset="-122"/>
                <a:cs typeface="Calibri" pitchFamily="34" charset="-120"/>
              </a:rPr>
              <a:t>US-01</a:t>
            </a:r>
            <a:endParaRPr lang="en-US" sz="1300" dirty="0"/>
          </a:p>
        </p:txBody>
      </p:sp>
      <p:sp>
        <p:nvSpPr>
          <p:cNvPr id="10" name="Text 8"/>
          <p:cNvSpPr/>
          <p:nvPr/>
        </p:nvSpPr>
        <p:spPr>
          <a:xfrm>
            <a:off x="4206240" y="2816352"/>
            <a:ext cx="1645920" cy="320040"/>
          </a:xfrm>
          <a:prstGeom prst="rect">
            <a:avLst/>
          </a:prstGeom>
          <a:noFill/>
          <a:ln/>
        </p:spPr>
        <p:txBody>
          <a:bodyPr wrap="square" rtlCol="0" anchor="ctr"/>
          <a:lstStyle/>
          <a:p>
            <a:pPr marL="0" indent="0" algn="r">
              <a:buNone/>
            </a:pPr>
            <a:r>
              <a:rPr lang="en-US" sz="800" b="1" dirty="0">
                <a:solidFill>
                  <a:srgbClr val="27AE60"/>
                </a:solidFill>
                <a:latin typeface="Calibri" pitchFamily="34" charset="0"/>
                <a:ea typeface="Calibri" pitchFamily="34" charset="-122"/>
                <a:cs typeface="Calibri" pitchFamily="34" charset="-120"/>
              </a:rPr>
              <a:t>IMPLEMENTED</a:t>
            </a:r>
            <a:endParaRPr lang="en-US" sz="800" dirty="0"/>
          </a:p>
        </p:txBody>
      </p:sp>
      <p:sp>
        <p:nvSpPr>
          <p:cNvPr id="11" name="Text 9"/>
          <p:cNvSpPr/>
          <p:nvPr/>
        </p:nvSpPr>
        <p:spPr>
          <a:xfrm>
            <a:off x="411480" y="3246120"/>
            <a:ext cx="5486400" cy="45720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Profil utilisateur agrégé</a:t>
            </a:r>
            <a:endParaRPr lang="en-US" sz="1400" dirty="0"/>
          </a:p>
        </p:txBody>
      </p:sp>
      <p:sp>
        <p:nvSpPr>
          <p:cNvPr id="12" name="Text 10"/>
          <p:cNvSpPr/>
          <p:nvPr/>
        </p:nvSpPr>
        <p:spPr>
          <a:xfrm>
            <a:off x="411480" y="3703320"/>
            <a:ext cx="5486400" cy="640080"/>
          </a:xfrm>
          <a:prstGeom prst="rect">
            <a:avLst/>
          </a:prstGeom>
          <a:noFill/>
          <a:ln/>
        </p:spPr>
        <p:txBody>
          <a:bodyPr wrap="square" rtlCol="0" anchor="ctr"/>
          <a:lstStyle/>
          <a:p>
            <a:pPr marL="0" indent="0">
              <a:buNone/>
            </a:pPr>
            <a:r>
              <a:rPr lang="en-US" sz="1000" dirty="0">
                <a:solidFill>
                  <a:srgbClr val="888888"/>
                </a:solidFill>
                <a:latin typeface="Calibri" pitchFamily="34" charset="0"/>
                <a:ea typeface="Calibri" pitchFamily="34" charset="-122"/>
                <a:cs typeface="Calibri" pitchFamily="34" charset="-120"/>
              </a:rPr>
              <a:t>BFF · GET /api/profile/{id}</a:t>
            </a:r>
            <a:endParaRPr lang="en-US" sz="1000" dirty="0"/>
          </a:p>
          <a:p>
            <a:pPr marL="0" indent="0">
              <a:buNone/>
            </a:pPr>
            <a:r>
              <a:rPr lang="en-US" sz="1000" dirty="0">
                <a:solidFill>
                  <a:srgbClr val="888888"/>
                </a:solidFill>
                <a:latin typeface="Calibri" pitchFamily="34" charset="0"/>
                <a:ea typeface="Calibri" pitchFamily="34" charset="-122"/>
                <a:cs typeface="Calibri" pitchFamily="34" charset="-120"/>
              </a:rPr>
              <a:t>Cache 60s · statut 206 si service KO</a:t>
            </a:r>
            <a:endParaRPr lang="en-US" sz="1000" dirty="0"/>
          </a:p>
        </p:txBody>
      </p:sp>
      <p:sp>
        <p:nvSpPr>
          <p:cNvPr id="13" name="Shape 11"/>
          <p:cNvSpPr/>
          <p:nvPr/>
        </p:nvSpPr>
        <p:spPr>
          <a:xfrm>
            <a:off x="6309360" y="2743200"/>
            <a:ext cx="5760720" cy="1737360"/>
          </a:xfrm>
          <a:prstGeom prst="rect">
            <a:avLst/>
          </a:prstGeom>
          <a:solidFill>
            <a:srgbClr val="1A1A2E"/>
          </a:solidFill>
          <a:ln w="19050">
            <a:solidFill>
              <a:srgbClr val="C0392B"/>
            </a:solidFill>
            <a:prstDash val="solid"/>
          </a:ln>
        </p:spPr>
        <p:txBody>
          <a:bodyPr/>
          <a:lstStyle/>
          <a:p>
            <a:endParaRPr lang="fr-FR"/>
          </a:p>
        </p:txBody>
      </p:sp>
      <p:sp>
        <p:nvSpPr>
          <p:cNvPr id="14" name="Text 12"/>
          <p:cNvSpPr/>
          <p:nvPr/>
        </p:nvSpPr>
        <p:spPr>
          <a:xfrm>
            <a:off x="6446520" y="2834640"/>
            <a:ext cx="1097280" cy="411480"/>
          </a:xfrm>
          <a:prstGeom prst="rect">
            <a:avLst/>
          </a:prstGeom>
          <a:noFill/>
          <a:ln/>
        </p:spPr>
        <p:txBody>
          <a:bodyPr wrap="square" rtlCol="0" anchor="ctr"/>
          <a:lstStyle/>
          <a:p>
            <a:pPr marL="0" indent="0">
              <a:buNone/>
            </a:pPr>
            <a:r>
              <a:rPr lang="en-US" sz="1300" b="1" dirty="0">
                <a:solidFill>
                  <a:srgbClr val="E74C3C"/>
                </a:solidFill>
                <a:latin typeface="Calibri" pitchFamily="34" charset="0"/>
                <a:ea typeface="Calibri" pitchFamily="34" charset="-122"/>
                <a:cs typeface="Calibri" pitchFamily="34" charset="-120"/>
              </a:rPr>
              <a:t>US-02</a:t>
            </a:r>
            <a:endParaRPr lang="en-US" sz="1300" dirty="0"/>
          </a:p>
        </p:txBody>
      </p:sp>
      <p:sp>
        <p:nvSpPr>
          <p:cNvPr id="15" name="Text 13"/>
          <p:cNvSpPr/>
          <p:nvPr/>
        </p:nvSpPr>
        <p:spPr>
          <a:xfrm>
            <a:off x="10241280" y="2816352"/>
            <a:ext cx="1645920" cy="320040"/>
          </a:xfrm>
          <a:prstGeom prst="rect">
            <a:avLst/>
          </a:prstGeom>
          <a:noFill/>
          <a:ln/>
        </p:spPr>
        <p:txBody>
          <a:bodyPr wrap="square" rtlCol="0" anchor="ctr"/>
          <a:lstStyle/>
          <a:p>
            <a:pPr marL="0" indent="0" algn="r">
              <a:buNone/>
            </a:pPr>
            <a:r>
              <a:rPr lang="en-US" sz="800" b="1" dirty="0">
                <a:solidFill>
                  <a:srgbClr val="27AE60"/>
                </a:solidFill>
                <a:latin typeface="Calibri" pitchFamily="34" charset="0"/>
                <a:ea typeface="Calibri" pitchFamily="34" charset="-122"/>
                <a:cs typeface="Calibri" pitchFamily="34" charset="-120"/>
              </a:rPr>
              <a:t>IMPLEMENTED</a:t>
            </a:r>
            <a:endParaRPr lang="en-US" sz="800" dirty="0"/>
          </a:p>
        </p:txBody>
      </p:sp>
      <p:sp>
        <p:nvSpPr>
          <p:cNvPr id="16" name="Text 14"/>
          <p:cNvSpPr/>
          <p:nvPr/>
        </p:nvSpPr>
        <p:spPr>
          <a:xfrm>
            <a:off x="6446520" y="3246120"/>
            <a:ext cx="5486400" cy="45720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Authentification Keycloak</a:t>
            </a:r>
            <a:endParaRPr lang="en-US" sz="1400" dirty="0"/>
          </a:p>
        </p:txBody>
      </p:sp>
      <p:sp>
        <p:nvSpPr>
          <p:cNvPr id="17" name="Text 15"/>
          <p:cNvSpPr/>
          <p:nvPr/>
        </p:nvSpPr>
        <p:spPr>
          <a:xfrm>
            <a:off x="6446520" y="3703320"/>
            <a:ext cx="5486400" cy="640080"/>
          </a:xfrm>
          <a:prstGeom prst="rect">
            <a:avLst/>
          </a:prstGeom>
          <a:noFill/>
          <a:ln/>
        </p:spPr>
        <p:txBody>
          <a:bodyPr wrap="square" rtlCol="0" anchor="ctr"/>
          <a:lstStyle/>
          <a:p>
            <a:pPr marL="0" indent="0">
              <a:buNone/>
            </a:pPr>
            <a:r>
              <a:rPr lang="en-US" sz="1000" dirty="0">
                <a:solidFill>
                  <a:srgbClr val="888888"/>
                </a:solidFill>
                <a:latin typeface="Calibri" pitchFamily="34" charset="0"/>
                <a:ea typeface="Calibri" pitchFamily="34" charset="-122"/>
                <a:cs typeface="Calibri" pitchFamily="34" charset="-120"/>
              </a:rPr>
              <a:t>OAuth2/OIDC · Authorization Code</a:t>
            </a:r>
            <a:endParaRPr lang="en-US" sz="1000" dirty="0"/>
          </a:p>
          <a:p>
            <a:pPr marL="0" indent="0">
              <a:buNone/>
            </a:pPr>
            <a:r>
              <a:rPr lang="en-US" sz="1000" dirty="0">
                <a:solidFill>
                  <a:srgbClr val="888888"/>
                </a:solidFill>
                <a:latin typeface="Calibri" pitchFamily="34" charset="0"/>
                <a:ea typeface="Calibri" pitchFamily="34" charset="-122"/>
                <a:cs typeface="Calibri" pitchFamily="34" charset="-120"/>
              </a:rPr>
              <a:t>State CSRF · JWT claims</a:t>
            </a:r>
            <a:endParaRPr lang="en-US" sz="1000" dirty="0"/>
          </a:p>
        </p:txBody>
      </p:sp>
      <p:sp>
        <p:nvSpPr>
          <p:cNvPr id="18" name="Shape 16"/>
          <p:cNvSpPr/>
          <p:nvPr/>
        </p:nvSpPr>
        <p:spPr>
          <a:xfrm>
            <a:off x="274320" y="4709160"/>
            <a:ext cx="5760720" cy="1737360"/>
          </a:xfrm>
          <a:prstGeom prst="rect">
            <a:avLst/>
          </a:prstGeom>
          <a:solidFill>
            <a:srgbClr val="1A2E1A"/>
          </a:solidFill>
          <a:ln w="19050">
            <a:solidFill>
              <a:srgbClr val="C0392B"/>
            </a:solidFill>
            <a:prstDash val="solid"/>
          </a:ln>
        </p:spPr>
        <p:txBody>
          <a:bodyPr/>
          <a:lstStyle/>
          <a:p>
            <a:endParaRPr lang="fr-FR"/>
          </a:p>
        </p:txBody>
      </p:sp>
      <p:sp>
        <p:nvSpPr>
          <p:cNvPr id="19" name="Text 17"/>
          <p:cNvSpPr/>
          <p:nvPr/>
        </p:nvSpPr>
        <p:spPr>
          <a:xfrm>
            <a:off x="411480" y="4800600"/>
            <a:ext cx="1097280" cy="411480"/>
          </a:xfrm>
          <a:prstGeom prst="rect">
            <a:avLst/>
          </a:prstGeom>
          <a:noFill/>
          <a:ln/>
        </p:spPr>
        <p:txBody>
          <a:bodyPr wrap="square" rtlCol="0" anchor="ctr"/>
          <a:lstStyle/>
          <a:p>
            <a:pPr marL="0" indent="0">
              <a:buNone/>
            </a:pPr>
            <a:r>
              <a:rPr lang="en-US" sz="1300" b="1" dirty="0">
                <a:solidFill>
                  <a:srgbClr val="E74C3C"/>
                </a:solidFill>
                <a:latin typeface="Calibri" pitchFamily="34" charset="0"/>
                <a:ea typeface="Calibri" pitchFamily="34" charset="-122"/>
                <a:cs typeface="Calibri" pitchFamily="34" charset="-120"/>
              </a:rPr>
              <a:t>US-03</a:t>
            </a:r>
            <a:endParaRPr lang="en-US" sz="1300" dirty="0"/>
          </a:p>
        </p:txBody>
      </p:sp>
      <p:sp>
        <p:nvSpPr>
          <p:cNvPr id="20" name="Text 18"/>
          <p:cNvSpPr/>
          <p:nvPr/>
        </p:nvSpPr>
        <p:spPr>
          <a:xfrm>
            <a:off x="4206240" y="4782312"/>
            <a:ext cx="1645920" cy="320040"/>
          </a:xfrm>
          <a:prstGeom prst="rect">
            <a:avLst/>
          </a:prstGeom>
          <a:noFill/>
          <a:ln/>
        </p:spPr>
        <p:txBody>
          <a:bodyPr wrap="square" rtlCol="0" anchor="ctr"/>
          <a:lstStyle/>
          <a:p>
            <a:pPr marL="0" indent="0" algn="r">
              <a:buNone/>
            </a:pPr>
            <a:r>
              <a:rPr lang="en-US" sz="800" b="1" dirty="0">
                <a:solidFill>
                  <a:srgbClr val="27AE60"/>
                </a:solidFill>
                <a:latin typeface="Calibri" pitchFamily="34" charset="0"/>
                <a:ea typeface="Calibri" pitchFamily="34" charset="-122"/>
                <a:cs typeface="Calibri" pitchFamily="34" charset="-120"/>
              </a:rPr>
              <a:t>IMPLEMENTED</a:t>
            </a:r>
            <a:endParaRPr lang="en-US" sz="800" dirty="0"/>
          </a:p>
        </p:txBody>
      </p:sp>
      <p:sp>
        <p:nvSpPr>
          <p:cNvPr id="21" name="Text 19"/>
          <p:cNvSpPr/>
          <p:nvPr/>
        </p:nvSpPr>
        <p:spPr>
          <a:xfrm>
            <a:off x="411480" y="5212080"/>
            <a:ext cx="5486400" cy="45720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Catalogue produits</a:t>
            </a:r>
            <a:endParaRPr lang="en-US" sz="1400" dirty="0"/>
          </a:p>
        </p:txBody>
      </p:sp>
      <p:sp>
        <p:nvSpPr>
          <p:cNvPr id="22" name="Text 20"/>
          <p:cNvSpPr/>
          <p:nvPr/>
        </p:nvSpPr>
        <p:spPr>
          <a:xfrm>
            <a:off x="411480" y="5669280"/>
            <a:ext cx="5486400" cy="640080"/>
          </a:xfrm>
          <a:prstGeom prst="rect">
            <a:avLst/>
          </a:prstGeom>
          <a:noFill/>
          <a:ln/>
        </p:spPr>
        <p:txBody>
          <a:bodyPr wrap="square" rtlCol="0" anchor="ctr"/>
          <a:lstStyle/>
          <a:p>
            <a:pPr marL="0" indent="0">
              <a:buNone/>
            </a:pPr>
            <a:r>
              <a:rPr lang="en-US" sz="1000" dirty="0">
                <a:solidFill>
                  <a:srgbClr val="888888"/>
                </a:solidFill>
                <a:latin typeface="Calibri" pitchFamily="34" charset="0"/>
                <a:ea typeface="Calibri" pitchFamily="34" charset="-122"/>
                <a:cs typeface="Calibri" pitchFamily="34" charset="-120"/>
              </a:rPr>
              <a:t>GET /api/products</a:t>
            </a:r>
            <a:endParaRPr lang="en-US" sz="1000" dirty="0"/>
          </a:p>
          <a:p>
            <a:pPr marL="0" indent="0">
              <a:buNone/>
            </a:pPr>
            <a:r>
              <a:rPr lang="en-US" sz="1000" dirty="0">
                <a:solidFill>
                  <a:srgbClr val="888888"/>
                </a:solidFill>
                <a:latin typeface="Calibri" pitchFamily="34" charset="0"/>
                <a:ea typeface="Calibri" pitchFamily="34" charset="-122"/>
                <a:cs typeface="Calibri" pitchFamily="34" charset="-120"/>
              </a:rPr>
              <a:t>Sans authentification</a:t>
            </a:r>
            <a:endParaRPr lang="en-US" sz="1000" dirty="0"/>
          </a:p>
        </p:txBody>
      </p:sp>
      <p:sp>
        <p:nvSpPr>
          <p:cNvPr id="23" name="Shape 21"/>
          <p:cNvSpPr/>
          <p:nvPr/>
        </p:nvSpPr>
        <p:spPr>
          <a:xfrm>
            <a:off x="6309360" y="4709160"/>
            <a:ext cx="5760720" cy="1737360"/>
          </a:xfrm>
          <a:prstGeom prst="rect">
            <a:avLst/>
          </a:prstGeom>
          <a:solidFill>
            <a:srgbClr val="2E2A1A"/>
          </a:solidFill>
          <a:ln w="19050">
            <a:solidFill>
              <a:srgbClr val="C0392B"/>
            </a:solidFill>
            <a:prstDash val="solid"/>
          </a:ln>
        </p:spPr>
        <p:txBody>
          <a:bodyPr/>
          <a:lstStyle/>
          <a:p>
            <a:endParaRPr lang="fr-FR"/>
          </a:p>
        </p:txBody>
      </p:sp>
      <p:sp>
        <p:nvSpPr>
          <p:cNvPr id="24" name="Text 22"/>
          <p:cNvSpPr/>
          <p:nvPr/>
        </p:nvSpPr>
        <p:spPr>
          <a:xfrm>
            <a:off x="6446520" y="4800600"/>
            <a:ext cx="1097280" cy="411480"/>
          </a:xfrm>
          <a:prstGeom prst="rect">
            <a:avLst/>
          </a:prstGeom>
          <a:noFill/>
          <a:ln/>
        </p:spPr>
        <p:txBody>
          <a:bodyPr wrap="square" rtlCol="0" anchor="ctr"/>
          <a:lstStyle/>
          <a:p>
            <a:pPr marL="0" indent="0">
              <a:buNone/>
            </a:pPr>
            <a:r>
              <a:rPr lang="en-US" sz="1300" b="1" dirty="0">
                <a:solidFill>
                  <a:srgbClr val="E74C3C"/>
                </a:solidFill>
                <a:latin typeface="Calibri" pitchFamily="34" charset="0"/>
                <a:ea typeface="Calibri" pitchFamily="34" charset="-122"/>
                <a:cs typeface="Calibri" pitchFamily="34" charset="-120"/>
              </a:rPr>
              <a:t>US-04</a:t>
            </a:r>
            <a:endParaRPr lang="en-US" sz="1300" dirty="0"/>
          </a:p>
        </p:txBody>
      </p:sp>
      <p:sp>
        <p:nvSpPr>
          <p:cNvPr id="25" name="Text 23"/>
          <p:cNvSpPr/>
          <p:nvPr/>
        </p:nvSpPr>
        <p:spPr>
          <a:xfrm>
            <a:off x="10241280" y="4782312"/>
            <a:ext cx="1645920" cy="320040"/>
          </a:xfrm>
          <a:prstGeom prst="rect">
            <a:avLst/>
          </a:prstGeom>
          <a:noFill/>
          <a:ln/>
        </p:spPr>
        <p:txBody>
          <a:bodyPr wrap="square" rtlCol="0" anchor="ctr"/>
          <a:lstStyle/>
          <a:p>
            <a:pPr marL="0" indent="0" algn="r">
              <a:buNone/>
            </a:pPr>
            <a:r>
              <a:rPr lang="en-US" sz="800" b="1" dirty="0">
                <a:solidFill>
                  <a:srgbClr val="27AE60"/>
                </a:solidFill>
                <a:latin typeface="Calibri" pitchFamily="34" charset="0"/>
                <a:ea typeface="Calibri" pitchFamily="34" charset="-122"/>
                <a:cs typeface="Calibri" pitchFamily="34" charset="-120"/>
              </a:rPr>
              <a:t>IMPLEMENTED</a:t>
            </a:r>
            <a:endParaRPr lang="en-US" sz="800" dirty="0"/>
          </a:p>
        </p:txBody>
      </p:sp>
      <p:sp>
        <p:nvSpPr>
          <p:cNvPr id="26" name="Text 24"/>
          <p:cNvSpPr/>
          <p:nvPr/>
        </p:nvSpPr>
        <p:spPr>
          <a:xfrm>
            <a:off x="6446520" y="5212080"/>
            <a:ext cx="5486400" cy="45720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Notification asynchrone</a:t>
            </a:r>
            <a:endParaRPr lang="en-US" sz="1400" dirty="0"/>
          </a:p>
        </p:txBody>
      </p:sp>
      <p:sp>
        <p:nvSpPr>
          <p:cNvPr id="27" name="Text 25"/>
          <p:cNvSpPr/>
          <p:nvPr/>
        </p:nvSpPr>
        <p:spPr>
          <a:xfrm>
            <a:off x="6446520" y="5669280"/>
            <a:ext cx="5486400" cy="640080"/>
          </a:xfrm>
          <a:prstGeom prst="rect">
            <a:avLst/>
          </a:prstGeom>
          <a:noFill/>
          <a:ln/>
        </p:spPr>
        <p:txBody>
          <a:bodyPr wrap="square" rtlCol="0" anchor="ctr"/>
          <a:lstStyle/>
          <a:p>
            <a:pPr marL="0" indent="0">
              <a:buNone/>
            </a:pPr>
            <a:r>
              <a:rPr lang="en-US" sz="1000" dirty="0">
                <a:solidFill>
                  <a:srgbClr val="888888"/>
                </a:solidFill>
                <a:latin typeface="Calibri" pitchFamily="34" charset="0"/>
                <a:ea typeface="Calibri" pitchFamily="34" charset="-122"/>
                <a:cs typeface="Calibri" pitchFamily="34" charset="-120"/>
              </a:rPr>
              <a:t>Symfony Messenger</a:t>
            </a:r>
            <a:endParaRPr lang="en-US" sz="1000" dirty="0"/>
          </a:p>
          <a:p>
            <a:pPr marL="0" indent="0">
              <a:buNone/>
            </a:pPr>
            <a:r>
              <a:rPr lang="en-US" sz="1000" dirty="0">
                <a:solidFill>
                  <a:srgbClr val="888888"/>
                </a:solidFill>
                <a:latin typeface="Calibri" pitchFamily="34" charset="0"/>
                <a:ea typeface="Calibri" pitchFamily="34" charset="-122"/>
                <a:cs typeface="Calibri" pitchFamily="34" charset="-120"/>
              </a:rPr>
              <a:t>GhostAlert + Login events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10972800" cy="182880"/>
          </a:xfrm>
          <a:prstGeom prst="rect">
            <a:avLst/>
          </a:prstGeom>
          <a:noFill/>
          <a:ln/>
        </p:spPr>
        <p:txBody>
          <a:bodyPr wrap="square" rtlCol="0" anchor="ctr"/>
          <a:lstStyle/>
          <a:p>
            <a:pPr marL="0" indent="0">
              <a:buNone/>
            </a:pPr>
            <a:r>
              <a:rPr lang="en-US" sz="800" dirty="0">
                <a:solidFill>
                  <a:srgbClr val="888888"/>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Text 3"/>
          <p:cNvSpPr/>
          <p:nvPr/>
        </p:nvSpPr>
        <p:spPr>
          <a:xfrm>
            <a:off x="365760" y="91440"/>
            <a:ext cx="10972800" cy="292608"/>
          </a:xfrm>
          <a:prstGeom prst="rect">
            <a:avLst/>
          </a:prstGeom>
          <a:noFill/>
          <a:ln/>
        </p:spPr>
        <p:txBody>
          <a:bodyPr wrap="square" rtlCol="0" anchor="ctr"/>
          <a:lstStyle/>
          <a:p>
            <a:pPr marL="0" indent="0">
              <a:buNone/>
            </a:pPr>
            <a:r>
              <a:rPr lang="en-US" sz="900" b="1" kern="0" spc="200" dirty="0">
                <a:solidFill>
                  <a:srgbClr val="E74C3C"/>
                </a:solidFill>
                <a:latin typeface="Calibri" pitchFamily="34" charset="0"/>
                <a:ea typeface="Calibri" pitchFamily="34" charset="-122"/>
                <a:cs typeface="Calibri" pitchFamily="34" charset="-120"/>
              </a:rPr>
              <a:t>ARCHITECTURE TECHNIQUE</a:t>
            </a:r>
            <a:endParaRPr lang="en-US" sz="900" dirty="0"/>
          </a:p>
        </p:txBody>
      </p:sp>
      <p:sp>
        <p:nvSpPr>
          <p:cNvPr id="6" name="Shape 4"/>
          <p:cNvSpPr/>
          <p:nvPr/>
        </p:nvSpPr>
        <p:spPr>
          <a:xfrm>
            <a:off x="365760" y="402336"/>
            <a:ext cx="2377440" cy="45720"/>
          </a:xfrm>
          <a:prstGeom prst="rect">
            <a:avLst/>
          </a:prstGeom>
          <a:solidFill>
            <a:srgbClr val="C0392B"/>
          </a:solidFill>
          <a:ln/>
        </p:spPr>
        <p:txBody>
          <a:bodyPr/>
          <a:lstStyle/>
          <a:p>
            <a:endParaRPr lang="fr-FR"/>
          </a:p>
        </p:txBody>
      </p:sp>
      <p:sp>
        <p:nvSpPr>
          <p:cNvPr id="7" name="Text 5"/>
          <p:cNvSpPr/>
          <p:nvPr/>
        </p:nvSpPr>
        <p:spPr>
          <a:xfrm>
            <a:off x="365760" y="475488"/>
            <a:ext cx="11430000" cy="594360"/>
          </a:xfrm>
          <a:prstGeom prst="rect">
            <a:avLst/>
          </a:prstGeom>
          <a:noFill/>
          <a:ln/>
        </p:spPr>
        <p:txBody>
          <a:bodyPr wrap="square" rtlCol="0" anchor="ctr"/>
          <a:lstStyle/>
          <a:p>
            <a:pPr marL="0" indent="0">
              <a:buNone/>
            </a:pPr>
            <a:r>
              <a:rPr lang="en-US" sz="2200" b="1" dirty="0">
                <a:solidFill>
                  <a:srgbClr val="F0F0F0"/>
                </a:solidFill>
                <a:latin typeface="Georgia" pitchFamily="34" charset="0"/>
                <a:ea typeface="Georgia" pitchFamily="34" charset="-122"/>
                <a:cs typeface="Georgia" pitchFamily="34" charset="-120"/>
              </a:rPr>
              <a:t>API Gateway / BFF Pattern</a:t>
            </a:r>
            <a:endParaRPr lang="en-US" sz="2200" dirty="0"/>
          </a:p>
        </p:txBody>
      </p:sp>
      <p:sp>
        <p:nvSpPr>
          <p:cNvPr id="8" name="Shape 6"/>
          <p:cNvSpPr/>
          <p:nvPr/>
        </p:nvSpPr>
        <p:spPr>
          <a:xfrm>
            <a:off x="5120640" y="1188720"/>
            <a:ext cx="2011680" cy="548640"/>
          </a:xfrm>
          <a:prstGeom prst="rect">
            <a:avLst/>
          </a:prstGeom>
          <a:solidFill>
            <a:srgbClr val="2E1A2E"/>
          </a:solidFill>
          <a:ln w="19050">
            <a:solidFill>
              <a:srgbClr val="C0392B"/>
            </a:solidFill>
            <a:prstDash val="solid"/>
          </a:ln>
        </p:spPr>
        <p:txBody>
          <a:bodyPr/>
          <a:lstStyle/>
          <a:p>
            <a:endParaRPr lang="fr-FR"/>
          </a:p>
        </p:txBody>
      </p:sp>
      <p:sp>
        <p:nvSpPr>
          <p:cNvPr id="9" name="Text 7"/>
          <p:cNvSpPr/>
          <p:nvPr/>
        </p:nvSpPr>
        <p:spPr>
          <a:xfrm>
            <a:off x="5120640" y="1261872"/>
            <a:ext cx="2011680" cy="411480"/>
          </a:xfrm>
          <a:prstGeom prst="rect">
            <a:avLst/>
          </a:prstGeom>
          <a:noFill/>
          <a:ln/>
        </p:spPr>
        <p:txBody>
          <a:bodyPr wrap="square" rtlCol="0" anchor="ctr"/>
          <a:lstStyle/>
          <a:p>
            <a:pPr marL="0" indent="0" algn="ctr">
              <a:buNone/>
            </a:pPr>
            <a:r>
              <a:rPr lang="en-US" sz="900" b="1" dirty="0">
                <a:solidFill>
                  <a:srgbClr val="F0F0F0"/>
                </a:solidFill>
                <a:latin typeface="Calibri" pitchFamily="34" charset="0"/>
                <a:ea typeface="Calibri" pitchFamily="34" charset="-122"/>
                <a:cs typeface="Calibri" pitchFamily="34" charset="-120"/>
              </a:rPr>
              <a:t>CLIENT (Navigateur)</a:t>
            </a:r>
            <a:endParaRPr lang="en-US" sz="900" dirty="0"/>
          </a:p>
        </p:txBody>
      </p:sp>
      <p:sp>
        <p:nvSpPr>
          <p:cNvPr id="10" name="Shape 8"/>
          <p:cNvSpPr/>
          <p:nvPr/>
        </p:nvSpPr>
        <p:spPr>
          <a:xfrm>
            <a:off x="4114800" y="2148840"/>
            <a:ext cx="4023360" cy="685800"/>
          </a:xfrm>
          <a:prstGeom prst="rect">
            <a:avLst/>
          </a:prstGeom>
          <a:solidFill>
            <a:srgbClr val="1A1A2E"/>
          </a:solidFill>
          <a:ln w="19050">
            <a:solidFill>
              <a:srgbClr val="C0392B"/>
            </a:solidFill>
            <a:prstDash val="solid"/>
          </a:ln>
        </p:spPr>
        <p:txBody>
          <a:bodyPr/>
          <a:lstStyle/>
          <a:p>
            <a:endParaRPr lang="fr-FR"/>
          </a:p>
        </p:txBody>
      </p:sp>
      <p:sp>
        <p:nvSpPr>
          <p:cNvPr id="11" name="Text 9"/>
          <p:cNvSpPr/>
          <p:nvPr/>
        </p:nvSpPr>
        <p:spPr>
          <a:xfrm>
            <a:off x="4114800" y="2176272"/>
            <a:ext cx="4023360" cy="594360"/>
          </a:xfrm>
          <a:prstGeom prst="rect">
            <a:avLst/>
          </a:prstGeom>
          <a:noFill/>
          <a:ln/>
        </p:spPr>
        <p:txBody>
          <a:bodyPr wrap="square" rtlCol="0" anchor="ctr"/>
          <a:lstStyle/>
          <a:p>
            <a:pPr marL="0" indent="0" algn="ctr">
              <a:buNone/>
            </a:pPr>
            <a:r>
              <a:rPr lang="en-US" sz="900" dirty="0">
                <a:solidFill>
                  <a:srgbClr val="F39C12"/>
                </a:solidFill>
                <a:latin typeface="Calibri" pitchFamily="34" charset="0"/>
                <a:ea typeface="Calibri" pitchFamily="34" charset="-122"/>
                <a:cs typeface="Calibri" pitchFamily="34" charset="-120"/>
              </a:rPr>
              <a:t>API Gateway / BFF</a:t>
            </a:r>
            <a:endParaRPr lang="en-US" sz="900" dirty="0"/>
          </a:p>
          <a:p>
            <a:pPr marL="0" indent="0" algn="ctr">
              <a:buNone/>
            </a:pPr>
            <a:r>
              <a:rPr lang="en-US" sz="900" dirty="0">
                <a:solidFill>
                  <a:srgbClr val="F39C12"/>
                </a:solidFill>
                <a:latin typeface="Calibri" pitchFamily="34" charset="0"/>
                <a:ea typeface="Calibri" pitchFamily="34" charset="-122"/>
                <a:cs typeface="Calibri" pitchFamily="34" charset="-120"/>
              </a:rPr>
              <a:t>GET /api/profile/{id} · Cache 60s</a:t>
            </a:r>
            <a:endParaRPr lang="en-US" sz="900" dirty="0"/>
          </a:p>
        </p:txBody>
      </p:sp>
      <p:sp>
        <p:nvSpPr>
          <p:cNvPr id="12" name="Shape 10"/>
          <p:cNvSpPr/>
          <p:nvPr/>
        </p:nvSpPr>
        <p:spPr>
          <a:xfrm>
            <a:off x="274320" y="2148840"/>
            <a:ext cx="2743200" cy="685800"/>
          </a:xfrm>
          <a:prstGeom prst="rect">
            <a:avLst/>
          </a:prstGeom>
          <a:solidFill>
            <a:srgbClr val="2E1A1A"/>
          </a:solidFill>
          <a:ln w="19050">
            <a:solidFill>
              <a:srgbClr val="C0392B"/>
            </a:solidFill>
            <a:prstDash val="solid"/>
          </a:ln>
        </p:spPr>
        <p:txBody>
          <a:bodyPr/>
          <a:lstStyle/>
          <a:p>
            <a:endParaRPr lang="fr-FR"/>
          </a:p>
        </p:txBody>
      </p:sp>
      <p:sp>
        <p:nvSpPr>
          <p:cNvPr id="13" name="Text 11"/>
          <p:cNvSpPr/>
          <p:nvPr/>
        </p:nvSpPr>
        <p:spPr>
          <a:xfrm>
            <a:off x="274320" y="2176272"/>
            <a:ext cx="2743200" cy="594360"/>
          </a:xfrm>
          <a:prstGeom prst="rect">
            <a:avLst/>
          </a:prstGeom>
          <a:noFill/>
          <a:ln/>
        </p:spPr>
        <p:txBody>
          <a:bodyPr wrap="square" rtlCol="0" anchor="ctr"/>
          <a:lstStyle/>
          <a:p>
            <a:pPr marL="0" indent="0" algn="ctr">
              <a:buNone/>
            </a:pPr>
            <a:r>
              <a:rPr lang="en-US" sz="900" dirty="0">
                <a:solidFill>
                  <a:srgbClr val="E74C3C"/>
                </a:solidFill>
                <a:latin typeface="Calibri" pitchFamily="34" charset="0"/>
                <a:ea typeface="Calibri" pitchFamily="34" charset="-122"/>
                <a:cs typeface="Calibri" pitchFamily="34" charset="-120"/>
              </a:rPr>
              <a:t>Keycloak</a:t>
            </a:r>
            <a:endParaRPr lang="en-US" sz="900" dirty="0"/>
          </a:p>
          <a:p>
            <a:pPr marL="0" indent="0" algn="ctr">
              <a:buNone/>
            </a:pPr>
            <a:r>
              <a:rPr lang="en-US" sz="900" dirty="0">
                <a:solidFill>
                  <a:srgbClr val="E74C3C"/>
                </a:solidFill>
                <a:latin typeface="Calibri" pitchFamily="34" charset="0"/>
                <a:ea typeface="Calibri" pitchFamily="34" charset="-122"/>
                <a:cs typeface="Calibri" pitchFamily="34" charset="-120"/>
              </a:rPr>
              <a:t>OAuth2/OIDC · SSO</a:t>
            </a:r>
            <a:endParaRPr lang="en-US" sz="900" dirty="0"/>
          </a:p>
        </p:txBody>
      </p:sp>
      <p:sp>
        <p:nvSpPr>
          <p:cNvPr id="14" name="Shape 12"/>
          <p:cNvSpPr/>
          <p:nvPr/>
        </p:nvSpPr>
        <p:spPr>
          <a:xfrm>
            <a:off x="2788920" y="3291840"/>
            <a:ext cx="2743200" cy="685800"/>
          </a:xfrm>
          <a:prstGeom prst="rect">
            <a:avLst/>
          </a:prstGeom>
          <a:solidFill>
            <a:srgbClr val="1A2E2E"/>
          </a:solidFill>
          <a:ln w="19050">
            <a:solidFill>
              <a:srgbClr val="C0392B"/>
            </a:solidFill>
            <a:prstDash val="solid"/>
          </a:ln>
        </p:spPr>
        <p:txBody>
          <a:bodyPr/>
          <a:lstStyle/>
          <a:p>
            <a:endParaRPr lang="fr-FR"/>
          </a:p>
        </p:txBody>
      </p:sp>
      <p:sp>
        <p:nvSpPr>
          <p:cNvPr id="15" name="Text 13"/>
          <p:cNvSpPr/>
          <p:nvPr/>
        </p:nvSpPr>
        <p:spPr>
          <a:xfrm>
            <a:off x="2788920" y="3337560"/>
            <a:ext cx="2743200" cy="594360"/>
          </a:xfrm>
          <a:prstGeom prst="rect">
            <a:avLst/>
          </a:prstGeom>
          <a:noFill/>
          <a:ln/>
        </p:spPr>
        <p:txBody>
          <a:bodyPr wrap="square" rtlCol="0" anchor="ctr"/>
          <a:lstStyle/>
          <a:p>
            <a:pPr marL="0" indent="0" algn="ctr">
              <a:buNone/>
            </a:pPr>
            <a:r>
              <a:rPr lang="en-US" sz="800" dirty="0">
                <a:solidFill>
                  <a:srgbClr val="F0F0F0"/>
                </a:solidFill>
                <a:latin typeface="Calibri" pitchFamily="34" charset="0"/>
                <a:ea typeface="Calibri" pitchFamily="34" charset="-122"/>
                <a:cs typeface="Calibri" pitchFamily="34" charset="-120"/>
              </a:rPr>
              <a:t>UserService</a:t>
            </a:r>
            <a:endParaRPr lang="en-US" sz="800" dirty="0"/>
          </a:p>
          <a:p>
            <a:pPr marL="0" indent="0" algn="ctr">
              <a:buNone/>
            </a:pPr>
            <a:r>
              <a:rPr lang="en-US" sz="800" dirty="0">
                <a:solidFill>
                  <a:srgbClr val="F0F0F0"/>
                </a:solidFill>
                <a:latin typeface="Calibri" pitchFamily="34" charset="0"/>
                <a:ea typeface="Calibri" pitchFamily="34" charset="-122"/>
                <a:cs typeface="Calibri" pitchFamily="34" charset="-120"/>
              </a:rPr>
              <a:t>/internal/users</a:t>
            </a:r>
            <a:endParaRPr lang="en-US" sz="800" dirty="0"/>
          </a:p>
        </p:txBody>
      </p:sp>
      <p:sp>
        <p:nvSpPr>
          <p:cNvPr id="16" name="Shape 14"/>
          <p:cNvSpPr/>
          <p:nvPr/>
        </p:nvSpPr>
        <p:spPr>
          <a:xfrm>
            <a:off x="6812280" y="3282696"/>
            <a:ext cx="2743200" cy="685800"/>
          </a:xfrm>
          <a:prstGeom prst="rect">
            <a:avLst/>
          </a:prstGeom>
          <a:solidFill>
            <a:srgbClr val="1A2E2E"/>
          </a:solidFill>
          <a:ln w="19050">
            <a:solidFill>
              <a:srgbClr val="C0392B"/>
            </a:solidFill>
            <a:prstDash val="solid"/>
          </a:ln>
        </p:spPr>
        <p:txBody>
          <a:bodyPr/>
          <a:lstStyle/>
          <a:p>
            <a:endParaRPr lang="fr-FR"/>
          </a:p>
        </p:txBody>
      </p:sp>
      <p:sp>
        <p:nvSpPr>
          <p:cNvPr id="17" name="Text 15"/>
          <p:cNvSpPr/>
          <p:nvPr/>
        </p:nvSpPr>
        <p:spPr>
          <a:xfrm>
            <a:off x="6812280" y="3328416"/>
            <a:ext cx="2743200" cy="594360"/>
          </a:xfrm>
          <a:prstGeom prst="rect">
            <a:avLst/>
          </a:prstGeom>
          <a:noFill/>
          <a:ln/>
        </p:spPr>
        <p:txBody>
          <a:bodyPr wrap="square" rtlCol="0" anchor="ctr"/>
          <a:lstStyle/>
          <a:p>
            <a:pPr marL="0" indent="0" algn="ctr">
              <a:buNone/>
            </a:pPr>
            <a:r>
              <a:rPr lang="en-US" sz="800" dirty="0">
                <a:solidFill>
                  <a:srgbClr val="F0F0F0"/>
                </a:solidFill>
                <a:latin typeface="Calibri" pitchFamily="34" charset="0"/>
                <a:ea typeface="Calibri" pitchFamily="34" charset="-122"/>
                <a:cs typeface="Calibri" pitchFamily="34" charset="-120"/>
              </a:rPr>
              <a:t>SubscriptionService</a:t>
            </a:r>
            <a:endParaRPr lang="en-US" sz="800" dirty="0"/>
          </a:p>
          <a:p>
            <a:pPr marL="0" indent="0" algn="ctr">
              <a:buNone/>
            </a:pPr>
            <a:r>
              <a:rPr lang="en-US" sz="800" dirty="0">
                <a:solidFill>
                  <a:srgbClr val="F0F0F0"/>
                </a:solidFill>
                <a:latin typeface="Calibri" pitchFamily="34" charset="0"/>
                <a:ea typeface="Calibri" pitchFamily="34" charset="-122"/>
                <a:cs typeface="Calibri" pitchFamily="34" charset="-120"/>
              </a:rPr>
              <a:t>/internal/subscriptions</a:t>
            </a:r>
            <a:endParaRPr lang="en-US" sz="800" dirty="0"/>
          </a:p>
        </p:txBody>
      </p:sp>
      <p:sp>
        <p:nvSpPr>
          <p:cNvPr id="18" name="Shape 16"/>
          <p:cNvSpPr/>
          <p:nvPr/>
        </p:nvSpPr>
        <p:spPr>
          <a:xfrm>
            <a:off x="1645920" y="4297680"/>
            <a:ext cx="8961120" cy="777240"/>
          </a:xfrm>
          <a:prstGeom prst="rect">
            <a:avLst/>
          </a:prstGeom>
          <a:solidFill>
            <a:srgbClr val="1A1A1A"/>
          </a:solidFill>
          <a:ln w="19050">
            <a:solidFill>
              <a:srgbClr val="C0392B"/>
            </a:solidFill>
            <a:prstDash val="solid"/>
          </a:ln>
        </p:spPr>
        <p:txBody>
          <a:bodyPr/>
          <a:lstStyle/>
          <a:p>
            <a:endParaRPr lang="fr-FR"/>
          </a:p>
        </p:txBody>
      </p:sp>
      <p:sp>
        <p:nvSpPr>
          <p:cNvPr id="19" name="Text 17"/>
          <p:cNvSpPr/>
          <p:nvPr/>
        </p:nvSpPr>
        <p:spPr>
          <a:xfrm>
            <a:off x="1645920" y="4315968"/>
            <a:ext cx="8961120" cy="685800"/>
          </a:xfrm>
          <a:prstGeom prst="rect">
            <a:avLst/>
          </a:prstGeom>
          <a:noFill/>
          <a:ln/>
        </p:spPr>
        <p:txBody>
          <a:bodyPr wrap="square" rtlCol="0" anchor="ctr"/>
          <a:lstStyle/>
          <a:p>
            <a:pPr marL="0" indent="0" algn="ctr">
              <a:buNone/>
            </a:pPr>
            <a:r>
              <a:rPr lang="en-US" sz="1000" dirty="0">
                <a:solidFill>
                  <a:srgbClr val="F0F0F0"/>
                </a:solidFill>
                <a:latin typeface="Calibri" pitchFamily="34" charset="0"/>
                <a:ea typeface="Calibri" pitchFamily="34" charset="-122"/>
                <a:cs typeface="Calibri" pitchFamily="34" charset="-120"/>
              </a:rPr>
              <a:t>Application Symfony 6.4 / PHP 8.2</a:t>
            </a:r>
            <a:endParaRPr lang="en-US" sz="1000" dirty="0"/>
          </a:p>
          <a:p>
            <a:pPr marL="0" indent="0" algn="ctr">
              <a:buNone/>
            </a:pPr>
            <a:r>
              <a:rPr lang="en-US" sz="1000" dirty="0">
                <a:solidFill>
                  <a:srgbClr val="F0F0F0"/>
                </a:solidFill>
                <a:latin typeface="Calibri" pitchFamily="34" charset="0"/>
                <a:ea typeface="Calibri" pitchFamily="34" charset="-122"/>
                <a:cs typeface="Calibri" pitchFamily="34" charset="-120"/>
              </a:rPr>
              <a:t>Controllers · Messenger · Security</a:t>
            </a:r>
            <a:endParaRPr lang="en-US" sz="1000" dirty="0"/>
          </a:p>
        </p:txBody>
      </p:sp>
      <p:sp>
        <p:nvSpPr>
          <p:cNvPr id="20" name="Shape 18"/>
          <p:cNvSpPr/>
          <p:nvPr/>
        </p:nvSpPr>
        <p:spPr>
          <a:xfrm>
            <a:off x="274320" y="5349240"/>
            <a:ext cx="3200400" cy="685800"/>
          </a:xfrm>
          <a:prstGeom prst="rect">
            <a:avLst/>
          </a:prstGeom>
          <a:solidFill>
            <a:srgbClr val="1A2E1A"/>
          </a:solidFill>
          <a:ln w="19050">
            <a:solidFill>
              <a:srgbClr val="C0392B"/>
            </a:solidFill>
            <a:prstDash val="solid"/>
          </a:ln>
        </p:spPr>
        <p:txBody>
          <a:bodyPr/>
          <a:lstStyle/>
          <a:p>
            <a:endParaRPr lang="fr-FR"/>
          </a:p>
        </p:txBody>
      </p:sp>
      <p:sp>
        <p:nvSpPr>
          <p:cNvPr id="21" name="Text 19"/>
          <p:cNvSpPr/>
          <p:nvPr/>
        </p:nvSpPr>
        <p:spPr>
          <a:xfrm>
            <a:off x="274320" y="5394960"/>
            <a:ext cx="3200400" cy="594360"/>
          </a:xfrm>
          <a:prstGeom prst="rect">
            <a:avLst/>
          </a:prstGeom>
          <a:noFill/>
          <a:ln/>
        </p:spPr>
        <p:txBody>
          <a:bodyPr wrap="square" rtlCol="0" anchor="ctr"/>
          <a:lstStyle/>
          <a:p>
            <a:pPr marL="0" indent="0" algn="ctr">
              <a:buNone/>
            </a:pPr>
            <a:r>
              <a:rPr lang="en-US" sz="900" dirty="0">
                <a:solidFill>
                  <a:srgbClr val="888888"/>
                </a:solidFill>
                <a:latin typeface="Calibri" pitchFamily="34" charset="0"/>
                <a:ea typeface="Calibri" pitchFamily="34" charset="-122"/>
                <a:cs typeface="Calibri" pitchFamily="34" charset="-120"/>
              </a:rPr>
              <a:t>PostgreSQL</a:t>
            </a:r>
            <a:endParaRPr lang="en-US" sz="900" dirty="0"/>
          </a:p>
          <a:p>
            <a:pPr marL="0" indent="0" algn="ctr">
              <a:buNone/>
            </a:pPr>
            <a:r>
              <a:rPr lang="en-US" sz="900" dirty="0">
                <a:solidFill>
                  <a:srgbClr val="888888"/>
                </a:solidFill>
                <a:latin typeface="Calibri" pitchFamily="34" charset="0"/>
                <a:ea typeface="Calibri" pitchFamily="34" charset="-122"/>
                <a:cs typeface="Calibri" pitchFamily="34" charset="-120"/>
              </a:rPr>
              <a:t>Doctrine</a:t>
            </a:r>
            <a:endParaRPr lang="en-US" sz="900" dirty="0"/>
          </a:p>
        </p:txBody>
      </p:sp>
      <p:sp>
        <p:nvSpPr>
          <p:cNvPr id="22" name="Shape 20"/>
          <p:cNvSpPr/>
          <p:nvPr/>
        </p:nvSpPr>
        <p:spPr>
          <a:xfrm>
            <a:off x="4572000" y="5349240"/>
            <a:ext cx="3200400" cy="685800"/>
          </a:xfrm>
          <a:prstGeom prst="rect">
            <a:avLst/>
          </a:prstGeom>
          <a:solidFill>
            <a:srgbClr val="2E2A1A"/>
          </a:solidFill>
          <a:ln w="19050">
            <a:solidFill>
              <a:srgbClr val="C0392B"/>
            </a:solidFill>
            <a:prstDash val="solid"/>
          </a:ln>
        </p:spPr>
        <p:txBody>
          <a:bodyPr/>
          <a:lstStyle/>
          <a:p>
            <a:endParaRPr lang="fr-FR"/>
          </a:p>
        </p:txBody>
      </p:sp>
      <p:sp>
        <p:nvSpPr>
          <p:cNvPr id="23" name="Text 21"/>
          <p:cNvSpPr/>
          <p:nvPr/>
        </p:nvSpPr>
        <p:spPr>
          <a:xfrm>
            <a:off x="4572000" y="5394960"/>
            <a:ext cx="3200400" cy="594360"/>
          </a:xfrm>
          <a:prstGeom prst="rect">
            <a:avLst/>
          </a:prstGeom>
          <a:noFill/>
          <a:ln/>
        </p:spPr>
        <p:txBody>
          <a:bodyPr wrap="square" rtlCol="0" anchor="ctr"/>
          <a:lstStyle/>
          <a:p>
            <a:pPr marL="0" indent="0" algn="ctr">
              <a:buNone/>
            </a:pPr>
            <a:r>
              <a:rPr lang="en-US" sz="900" dirty="0">
                <a:solidFill>
                  <a:srgbClr val="888888"/>
                </a:solidFill>
                <a:latin typeface="Calibri" pitchFamily="34" charset="0"/>
                <a:ea typeface="Calibri" pitchFamily="34" charset="-122"/>
                <a:cs typeface="Calibri" pitchFamily="34" charset="-120"/>
              </a:rPr>
              <a:t>RabbitMQ</a:t>
            </a:r>
            <a:endParaRPr lang="en-US" sz="900" dirty="0"/>
          </a:p>
          <a:p>
            <a:pPr marL="0" indent="0" algn="ctr">
              <a:buNone/>
            </a:pPr>
            <a:r>
              <a:rPr lang="en-US" sz="900" dirty="0">
                <a:solidFill>
                  <a:srgbClr val="888888"/>
                </a:solidFill>
                <a:latin typeface="Calibri" pitchFamily="34" charset="0"/>
                <a:ea typeface="Calibri" pitchFamily="34" charset="-122"/>
                <a:cs typeface="Calibri" pitchFamily="34" charset="-120"/>
              </a:rPr>
              <a:t>AMQP/sync://</a:t>
            </a:r>
            <a:endParaRPr lang="en-US" sz="900" dirty="0"/>
          </a:p>
        </p:txBody>
      </p:sp>
      <p:sp>
        <p:nvSpPr>
          <p:cNvPr id="24" name="Shape 22"/>
          <p:cNvSpPr/>
          <p:nvPr/>
        </p:nvSpPr>
        <p:spPr>
          <a:xfrm>
            <a:off x="8869680" y="5349240"/>
            <a:ext cx="3200400" cy="685800"/>
          </a:xfrm>
          <a:prstGeom prst="rect">
            <a:avLst/>
          </a:prstGeom>
          <a:solidFill>
            <a:srgbClr val="1A1A2E"/>
          </a:solidFill>
          <a:ln w="19050">
            <a:solidFill>
              <a:srgbClr val="C0392B"/>
            </a:solidFill>
            <a:prstDash val="solid"/>
          </a:ln>
        </p:spPr>
        <p:txBody>
          <a:bodyPr/>
          <a:lstStyle/>
          <a:p>
            <a:endParaRPr lang="fr-FR"/>
          </a:p>
        </p:txBody>
      </p:sp>
      <p:sp>
        <p:nvSpPr>
          <p:cNvPr id="25" name="Text 23"/>
          <p:cNvSpPr/>
          <p:nvPr/>
        </p:nvSpPr>
        <p:spPr>
          <a:xfrm>
            <a:off x="8869680" y="5394960"/>
            <a:ext cx="3200400" cy="594360"/>
          </a:xfrm>
          <a:prstGeom prst="rect">
            <a:avLst/>
          </a:prstGeom>
          <a:noFill/>
          <a:ln/>
        </p:spPr>
        <p:txBody>
          <a:bodyPr wrap="square" rtlCol="0" anchor="ctr"/>
          <a:lstStyle/>
          <a:p>
            <a:pPr marL="0" indent="0" algn="ctr">
              <a:buNone/>
            </a:pPr>
            <a:r>
              <a:rPr lang="en-US" sz="900" dirty="0">
                <a:solidFill>
                  <a:srgbClr val="888888"/>
                </a:solidFill>
                <a:latin typeface="Calibri" pitchFamily="34" charset="0"/>
                <a:ea typeface="Calibri" pitchFamily="34" charset="-122"/>
                <a:cs typeface="Calibri" pitchFamily="34" charset="-120"/>
              </a:rPr>
              <a:t>Monolog</a:t>
            </a:r>
            <a:endParaRPr lang="en-US" sz="900" dirty="0"/>
          </a:p>
          <a:p>
            <a:pPr marL="0" indent="0" algn="ctr">
              <a:buNone/>
            </a:pPr>
            <a:r>
              <a:rPr lang="en-US" sz="900" dirty="0">
                <a:solidFill>
                  <a:srgbClr val="888888"/>
                </a:solidFill>
                <a:latin typeface="Calibri" pitchFamily="34" charset="0"/>
                <a:ea typeface="Calibri" pitchFamily="34" charset="-122"/>
                <a:cs typeface="Calibri" pitchFamily="34" charset="-120"/>
              </a:rPr>
              <a:t>Logs JSON</a:t>
            </a:r>
            <a:endParaRPr lang="en-US" sz="900" dirty="0"/>
          </a:p>
        </p:txBody>
      </p:sp>
      <p:sp>
        <p:nvSpPr>
          <p:cNvPr id="26" name="Text 24"/>
          <p:cNvSpPr/>
          <p:nvPr/>
        </p:nvSpPr>
        <p:spPr>
          <a:xfrm>
            <a:off x="6035040" y="1737360"/>
            <a:ext cx="274320" cy="411480"/>
          </a:xfrm>
          <a:prstGeom prst="rect">
            <a:avLst/>
          </a:prstGeom>
          <a:noFill/>
          <a:ln/>
        </p:spPr>
        <p:txBody>
          <a:bodyPr wrap="square" rtlCol="0" anchor="ctr"/>
          <a:lstStyle/>
          <a:p>
            <a:pPr marL="0" indent="0" algn="ctr">
              <a:buNone/>
            </a:pPr>
            <a:r>
              <a:rPr lang="en-US" sz="1200" dirty="0">
                <a:solidFill>
                  <a:srgbClr val="888888"/>
                </a:solidFill>
              </a:rPr>
              <a:t>↓</a:t>
            </a:r>
            <a:endParaRPr lang="en-US" sz="1200" dirty="0"/>
          </a:p>
        </p:txBody>
      </p:sp>
      <p:sp>
        <p:nvSpPr>
          <p:cNvPr id="27" name="Text 25"/>
          <p:cNvSpPr/>
          <p:nvPr/>
        </p:nvSpPr>
        <p:spPr>
          <a:xfrm>
            <a:off x="6035040" y="2834640"/>
            <a:ext cx="274320" cy="457200"/>
          </a:xfrm>
          <a:prstGeom prst="rect">
            <a:avLst/>
          </a:prstGeom>
          <a:noFill/>
          <a:ln/>
        </p:spPr>
        <p:txBody>
          <a:bodyPr wrap="square" rtlCol="0" anchor="ctr"/>
          <a:lstStyle/>
          <a:p>
            <a:pPr marL="0" indent="0" algn="ctr">
              <a:buNone/>
            </a:pPr>
            <a:r>
              <a:rPr lang="en-US" sz="1200" dirty="0">
                <a:solidFill>
                  <a:srgbClr val="888888"/>
                </a:solidFill>
              </a:rPr>
              <a:t>↓</a:t>
            </a:r>
            <a:endParaRPr lang="en-US" sz="1200" dirty="0"/>
          </a:p>
        </p:txBody>
      </p:sp>
      <p:sp>
        <p:nvSpPr>
          <p:cNvPr id="28" name="Text 26"/>
          <p:cNvSpPr/>
          <p:nvPr/>
        </p:nvSpPr>
        <p:spPr>
          <a:xfrm>
            <a:off x="6035040" y="3840480"/>
            <a:ext cx="274320" cy="457200"/>
          </a:xfrm>
          <a:prstGeom prst="rect">
            <a:avLst/>
          </a:prstGeom>
          <a:noFill/>
          <a:ln/>
        </p:spPr>
        <p:txBody>
          <a:bodyPr wrap="square" rtlCol="0" anchor="ctr"/>
          <a:lstStyle/>
          <a:p>
            <a:pPr marL="0" indent="0" algn="ctr">
              <a:buNone/>
            </a:pPr>
            <a:r>
              <a:rPr lang="en-US" sz="1200" dirty="0">
                <a:solidFill>
                  <a:srgbClr val="888888"/>
                </a:solidFill>
              </a:rPr>
              <a:t>↓</a:t>
            </a:r>
            <a:endParaRPr lang="en-US" sz="1200" dirty="0"/>
          </a:p>
        </p:txBody>
      </p:sp>
      <p:sp>
        <p:nvSpPr>
          <p:cNvPr id="29" name="Text 27"/>
          <p:cNvSpPr/>
          <p:nvPr/>
        </p:nvSpPr>
        <p:spPr>
          <a:xfrm>
            <a:off x="6035040" y="5029200"/>
            <a:ext cx="274320" cy="320040"/>
          </a:xfrm>
          <a:prstGeom prst="rect">
            <a:avLst/>
          </a:prstGeom>
          <a:noFill/>
          <a:ln/>
        </p:spPr>
        <p:txBody>
          <a:bodyPr wrap="square" rtlCol="0" anchor="ctr"/>
          <a:lstStyle/>
          <a:p>
            <a:pPr marL="0" indent="0" algn="ctr">
              <a:buNone/>
            </a:pPr>
            <a:r>
              <a:rPr lang="en-US" sz="1200" dirty="0">
                <a:solidFill>
                  <a:srgbClr val="888888"/>
                </a:solidFill>
              </a:rPr>
              <a: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10972800" cy="182880"/>
          </a:xfrm>
          <a:prstGeom prst="rect">
            <a:avLst/>
          </a:prstGeom>
          <a:noFill/>
          <a:ln/>
        </p:spPr>
        <p:txBody>
          <a:bodyPr wrap="square" rtlCol="0" anchor="ctr"/>
          <a:lstStyle/>
          <a:p>
            <a:pPr marL="0" indent="0">
              <a:buNone/>
            </a:pPr>
            <a:r>
              <a:rPr lang="en-US" sz="800" dirty="0">
                <a:solidFill>
                  <a:srgbClr val="888888"/>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Shape 3"/>
          <p:cNvSpPr/>
          <p:nvPr/>
        </p:nvSpPr>
        <p:spPr>
          <a:xfrm>
            <a:off x="365760" y="1051560"/>
            <a:ext cx="2377440" cy="54864"/>
          </a:xfrm>
          <a:prstGeom prst="rect">
            <a:avLst/>
          </a:prstGeom>
          <a:solidFill>
            <a:srgbClr val="C0392B"/>
          </a:solidFill>
          <a:ln/>
        </p:spPr>
        <p:txBody>
          <a:bodyPr/>
          <a:lstStyle/>
          <a:p>
            <a:endParaRPr lang="fr-FR"/>
          </a:p>
        </p:txBody>
      </p:sp>
      <p:sp>
        <p:nvSpPr>
          <p:cNvPr id="6" name="Text 4"/>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BAC A SABLE — EXPERIMENTATION</a:t>
            </a:r>
            <a:endParaRPr lang="en-US" sz="1100" dirty="0"/>
          </a:p>
        </p:txBody>
      </p:sp>
      <p:sp>
        <p:nvSpPr>
          <p:cNvPr id="7" name="Text 5"/>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Georgia" pitchFamily="34" charset="0"/>
                <a:ea typeface="Georgia" pitchFamily="34" charset="-122"/>
                <a:cs typeface="Georgia" pitchFamily="34" charset="-120"/>
              </a:rPr>
              <a:t>5 technologies testées</a:t>
            </a:r>
            <a:endParaRPr lang="en-US" sz="3400" dirty="0"/>
          </a:p>
          <a:p>
            <a:pPr marL="0" indent="0">
              <a:buNone/>
            </a:pPr>
            <a:r>
              <a:rPr lang="en-US" sz="3400" b="1" dirty="0">
                <a:solidFill>
                  <a:srgbClr val="F0F0F0"/>
                </a:solidFill>
                <a:latin typeface="Georgia" pitchFamily="34" charset="0"/>
                <a:ea typeface="Georgia" pitchFamily="34" charset="-122"/>
                <a:cs typeface="Georgia" pitchFamily="34" charset="-120"/>
              </a:rPr>
              <a:t>avant développement</a:t>
            </a:r>
            <a:endParaRPr lang="en-US" sz="3400" dirty="0"/>
          </a:p>
        </p:txBody>
      </p:sp>
      <p:sp>
        <p:nvSpPr>
          <p:cNvPr id="8" name="Shape 6"/>
          <p:cNvSpPr/>
          <p:nvPr/>
        </p:nvSpPr>
        <p:spPr>
          <a:xfrm>
            <a:off x="274320" y="2834640"/>
            <a:ext cx="3657600" cy="1463040"/>
          </a:xfrm>
          <a:prstGeom prst="rect">
            <a:avLst/>
          </a:prstGeom>
          <a:solidFill>
            <a:srgbClr val="1A1A2E"/>
          </a:solidFill>
          <a:ln w="19050">
            <a:solidFill>
              <a:srgbClr val="C0392B"/>
            </a:solidFill>
            <a:prstDash val="solid"/>
          </a:ln>
        </p:spPr>
        <p:txBody>
          <a:bodyPr/>
          <a:lstStyle/>
          <a:p>
            <a:endParaRPr lang="fr-FR"/>
          </a:p>
        </p:txBody>
      </p:sp>
      <p:sp>
        <p:nvSpPr>
          <p:cNvPr id="9" name="Text 7"/>
          <p:cNvSpPr/>
          <p:nvPr/>
        </p:nvSpPr>
        <p:spPr>
          <a:xfrm>
            <a:off x="411480" y="2926080"/>
            <a:ext cx="3383280" cy="411480"/>
          </a:xfrm>
          <a:prstGeom prst="rect">
            <a:avLst/>
          </a:prstGeom>
          <a:noFill/>
          <a:ln/>
        </p:spPr>
        <p:txBody>
          <a:bodyPr wrap="square" rtlCol="0" anchor="ctr"/>
          <a:lstStyle/>
          <a:p>
            <a:pPr marL="0" indent="0">
              <a:buNone/>
            </a:pPr>
            <a:r>
              <a:rPr lang="en-US" sz="1200" b="1" dirty="0">
                <a:solidFill>
                  <a:srgbClr val="F0F0F0"/>
                </a:solidFill>
                <a:latin typeface="Calibri" pitchFamily="34" charset="0"/>
                <a:ea typeface="Calibri" pitchFamily="34" charset="-122"/>
                <a:cs typeface="Calibri" pitchFamily="34" charset="-120"/>
              </a:rPr>
              <a:t>BFF ApiAggregator</a:t>
            </a:r>
            <a:endParaRPr lang="en-US" sz="1200" dirty="0"/>
          </a:p>
        </p:txBody>
      </p:sp>
      <p:sp>
        <p:nvSpPr>
          <p:cNvPr id="10" name="Text 8"/>
          <p:cNvSpPr/>
          <p:nvPr/>
        </p:nvSpPr>
        <p:spPr>
          <a:xfrm>
            <a:off x="411480" y="3337560"/>
            <a:ext cx="3383280" cy="274320"/>
          </a:xfrm>
          <a:prstGeom prst="rect">
            <a:avLst/>
          </a:prstGeom>
          <a:noFill/>
          <a:ln/>
        </p:spPr>
        <p:txBody>
          <a:bodyPr wrap="square" rtlCol="0" anchor="ctr"/>
          <a:lstStyle/>
          <a:p>
            <a:pPr marL="0" indent="0">
              <a:buNone/>
            </a:pPr>
            <a:r>
              <a:rPr lang="en-US" sz="1000" b="1" dirty="0">
                <a:solidFill>
                  <a:srgbClr val="27AE60"/>
                </a:solidFill>
                <a:latin typeface="Calibri" pitchFamily="34" charset="0"/>
                <a:ea typeface="Calibri" pitchFamily="34" charset="-122"/>
                <a:cs typeface="Calibri" pitchFamily="34" charset="-120"/>
              </a:rPr>
              <a:t>✅ Validé</a:t>
            </a:r>
            <a:endParaRPr lang="en-US" sz="1000" dirty="0"/>
          </a:p>
        </p:txBody>
      </p:sp>
      <p:sp>
        <p:nvSpPr>
          <p:cNvPr id="11" name="Text 9"/>
          <p:cNvSpPr/>
          <p:nvPr/>
        </p:nvSpPr>
        <p:spPr>
          <a:xfrm>
            <a:off x="411480" y="3611880"/>
            <a:ext cx="3383280" cy="594360"/>
          </a:xfrm>
          <a:prstGeom prst="rect">
            <a:avLst/>
          </a:prstGeom>
          <a:noFill/>
          <a:ln/>
        </p:spPr>
        <p:txBody>
          <a:bodyPr wrap="square" rtlCol="0" anchor="ctr"/>
          <a:lstStyle/>
          <a:p>
            <a:pPr marL="0" indent="0">
              <a:buNone/>
            </a:pPr>
            <a:r>
              <a:rPr lang="en-US" sz="900" dirty="0">
                <a:solidFill>
                  <a:srgbClr val="888888"/>
                </a:solidFill>
                <a:latin typeface="Calibri" pitchFamily="34" charset="0"/>
                <a:ea typeface="Calibri" pitchFamily="34" charset="-122"/>
                <a:cs typeface="Calibri" pitchFamily="34" charset="-120"/>
              </a:rPr>
              <a:t>Agrégation multi-services</a:t>
            </a:r>
            <a:endParaRPr lang="en-US" sz="900" dirty="0"/>
          </a:p>
          <a:p>
            <a:pPr marL="0" indent="0">
              <a:buNone/>
            </a:pPr>
            <a:r>
              <a:rPr lang="en-US" sz="900" dirty="0">
                <a:solidFill>
                  <a:srgbClr val="888888"/>
                </a:solidFill>
                <a:latin typeface="Calibri" pitchFamily="34" charset="0"/>
                <a:ea typeface="Calibri" pitchFamily="34" charset="-122"/>
                <a:cs typeface="Calibri" pitchFamily="34" charset="-120"/>
              </a:rPr>
              <a:t>Cache filesystem 60s · 206 si KO</a:t>
            </a:r>
            <a:endParaRPr lang="en-US" sz="900" dirty="0"/>
          </a:p>
        </p:txBody>
      </p:sp>
      <p:sp>
        <p:nvSpPr>
          <p:cNvPr id="12" name="Shape 10"/>
          <p:cNvSpPr/>
          <p:nvPr/>
        </p:nvSpPr>
        <p:spPr>
          <a:xfrm>
            <a:off x="4297680" y="2834640"/>
            <a:ext cx="3657600" cy="1463040"/>
          </a:xfrm>
          <a:prstGeom prst="rect">
            <a:avLst/>
          </a:prstGeom>
          <a:solidFill>
            <a:srgbClr val="1A1A2E"/>
          </a:solidFill>
          <a:ln w="19050">
            <a:solidFill>
              <a:srgbClr val="C0392B"/>
            </a:solidFill>
            <a:prstDash val="solid"/>
          </a:ln>
        </p:spPr>
        <p:txBody>
          <a:bodyPr/>
          <a:lstStyle/>
          <a:p>
            <a:endParaRPr lang="fr-FR"/>
          </a:p>
        </p:txBody>
      </p:sp>
      <p:sp>
        <p:nvSpPr>
          <p:cNvPr id="13" name="Text 11"/>
          <p:cNvSpPr/>
          <p:nvPr/>
        </p:nvSpPr>
        <p:spPr>
          <a:xfrm>
            <a:off x="4434840" y="2926080"/>
            <a:ext cx="3383280" cy="411480"/>
          </a:xfrm>
          <a:prstGeom prst="rect">
            <a:avLst/>
          </a:prstGeom>
          <a:noFill/>
          <a:ln/>
        </p:spPr>
        <p:txBody>
          <a:bodyPr wrap="square" rtlCol="0" anchor="ctr"/>
          <a:lstStyle/>
          <a:p>
            <a:pPr marL="0" indent="0">
              <a:buNone/>
            </a:pPr>
            <a:r>
              <a:rPr lang="en-US" sz="1200" b="1" dirty="0">
                <a:solidFill>
                  <a:srgbClr val="F0F0F0"/>
                </a:solidFill>
                <a:latin typeface="Calibri" pitchFamily="34" charset="0"/>
                <a:ea typeface="Calibri" pitchFamily="34" charset="-122"/>
                <a:cs typeface="Calibri" pitchFamily="34" charset="-120"/>
              </a:rPr>
              <a:t>Keycloak OAuth2</a:t>
            </a:r>
            <a:endParaRPr lang="en-US" sz="1200" dirty="0"/>
          </a:p>
        </p:txBody>
      </p:sp>
      <p:sp>
        <p:nvSpPr>
          <p:cNvPr id="14" name="Text 12"/>
          <p:cNvSpPr/>
          <p:nvPr/>
        </p:nvSpPr>
        <p:spPr>
          <a:xfrm>
            <a:off x="4434840" y="3337560"/>
            <a:ext cx="3383280" cy="274320"/>
          </a:xfrm>
          <a:prstGeom prst="rect">
            <a:avLst/>
          </a:prstGeom>
          <a:noFill/>
          <a:ln/>
        </p:spPr>
        <p:txBody>
          <a:bodyPr wrap="square" rtlCol="0" anchor="ctr"/>
          <a:lstStyle/>
          <a:p>
            <a:pPr marL="0" indent="0">
              <a:buNone/>
            </a:pPr>
            <a:r>
              <a:rPr lang="en-US" sz="1000" b="1" dirty="0">
                <a:solidFill>
                  <a:srgbClr val="27AE60"/>
                </a:solidFill>
                <a:latin typeface="Calibri" pitchFamily="34" charset="0"/>
                <a:ea typeface="Calibri" pitchFamily="34" charset="-122"/>
                <a:cs typeface="Calibri" pitchFamily="34" charset="-120"/>
              </a:rPr>
              <a:t>✅ Validé</a:t>
            </a:r>
            <a:endParaRPr lang="en-US" sz="1000" dirty="0"/>
          </a:p>
        </p:txBody>
      </p:sp>
      <p:sp>
        <p:nvSpPr>
          <p:cNvPr id="15" name="Text 13"/>
          <p:cNvSpPr/>
          <p:nvPr/>
        </p:nvSpPr>
        <p:spPr>
          <a:xfrm>
            <a:off x="4434840" y="3611880"/>
            <a:ext cx="3383280" cy="594360"/>
          </a:xfrm>
          <a:prstGeom prst="rect">
            <a:avLst/>
          </a:prstGeom>
          <a:noFill/>
          <a:ln/>
        </p:spPr>
        <p:txBody>
          <a:bodyPr wrap="square" rtlCol="0" anchor="ctr"/>
          <a:lstStyle/>
          <a:p>
            <a:pPr marL="0" indent="0">
              <a:buNone/>
            </a:pPr>
            <a:r>
              <a:rPr lang="en-US" sz="900" dirty="0">
                <a:solidFill>
                  <a:srgbClr val="888888"/>
                </a:solidFill>
                <a:latin typeface="Calibri" pitchFamily="34" charset="0"/>
                <a:ea typeface="Calibri" pitchFamily="34" charset="-122"/>
                <a:cs typeface="Calibri" pitchFamily="34" charset="-120"/>
              </a:rPr>
              <a:t>SSO local · Auth Code Flow</a:t>
            </a:r>
            <a:endParaRPr lang="en-US" sz="900" dirty="0"/>
          </a:p>
          <a:p>
            <a:pPr marL="0" indent="0">
              <a:buNone/>
            </a:pPr>
            <a:r>
              <a:rPr lang="en-US" sz="900" dirty="0">
                <a:solidFill>
                  <a:srgbClr val="888888"/>
                </a:solidFill>
                <a:latin typeface="Calibri" pitchFamily="34" charset="0"/>
                <a:ea typeface="Calibri" pitchFamily="34" charset="-122"/>
                <a:cs typeface="Calibri" pitchFamily="34" charset="-120"/>
              </a:rPr>
              <a:t>State CSRF · claims JWT</a:t>
            </a:r>
            <a:endParaRPr lang="en-US" sz="900" dirty="0"/>
          </a:p>
        </p:txBody>
      </p:sp>
      <p:sp>
        <p:nvSpPr>
          <p:cNvPr id="16" name="Shape 14"/>
          <p:cNvSpPr/>
          <p:nvPr/>
        </p:nvSpPr>
        <p:spPr>
          <a:xfrm>
            <a:off x="8321040" y="2834640"/>
            <a:ext cx="3657600" cy="1463040"/>
          </a:xfrm>
          <a:prstGeom prst="rect">
            <a:avLst/>
          </a:prstGeom>
          <a:solidFill>
            <a:srgbClr val="1A1A2E"/>
          </a:solidFill>
          <a:ln w="19050">
            <a:solidFill>
              <a:srgbClr val="C0392B"/>
            </a:solidFill>
            <a:prstDash val="solid"/>
          </a:ln>
        </p:spPr>
        <p:txBody>
          <a:bodyPr/>
          <a:lstStyle/>
          <a:p>
            <a:endParaRPr lang="fr-FR"/>
          </a:p>
        </p:txBody>
      </p:sp>
      <p:sp>
        <p:nvSpPr>
          <p:cNvPr id="17" name="Text 15"/>
          <p:cNvSpPr/>
          <p:nvPr/>
        </p:nvSpPr>
        <p:spPr>
          <a:xfrm>
            <a:off x="8458200" y="2926080"/>
            <a:ext cx="3383280" cy="411480"/>
          </a:xfrm>
          <a:prstGeom prst="rect">
            <a:avLst/>
          </a:prstGeom>
          <a:noFill/>
          <a:ln/>
        </p:spPr>
        <p:txBody>
          <a:bodyPr wrap="square" rtlCol="0" anchor="ctr"/>
          <a:lstStyle/>
          <a:p>
            <a:pPr marL="0" indent="0">
              <a:buNone/>
            </a:pPr>
            <a:r>
              <a:rPr lang="en-US" sz="1200" b="1" dirty="0">
                <a:solidFill>
                  <a:srgbClr val="F0F0F0"/>
                </a:solidFill>
                <a:latin typeface="Calibri" pitchFamily="34" charset="0"/>
                <a:ea typeface="Calibri" pitchFamily="34" charset="-122"/>
                <a:cs typeface="Calibri" pitchFamily="34" charset="-120"/>
              </a:rPr>
              <a:t>Symfony Messenger</a:t>
            </a:r>
            <a:endParaRPr lang="en-US" sz="1200" dirty="0"/>
          </a:p>
        </p:txBody>
      </p:sp>
      <p:sp>
        <p:nvSpPr>
          <p:cNvPr id="18" name="Text 16"/>
          <p:cNvSpPr/>
          <p:nvPr/>
        </p:nvSpPr>
        <p:spPr>
          <a:xfrm>
            <a:off x="8458200" y="3337560"/>
            <a:ext cx="3383280" cy="274320"/>
          </a:xfrm>
          <a:prstGeom prst="rect">
            <a:avLst/>
          </a:prstGeom>
          <a:noFill/>
          <a:ln/>
        </p:spPr>
        <p:txBody>
          <a:bodyPr wrap="square" rtlCol="0" anchor="ctr"/>
          <a:lstStyle/>
          <a:p>
            <a:pPr marL="0" indent="0">
              <a:buNone/>
            </a:pPr>
            <a:r>
              <a:rPr lang="en-US" sz="1000" b="1" dirty="0">
                <a:solidFill>
                  <a:srgbClr val="27AE60"/>
                </a:solidFill>
                <a:latin typeface="Calibri" pitchFamily="34" charset="0"/>
                <a:ea typeface="Calibri" pitchFamily="34" charset="-122"/>
                <a:cs typeface="Calibri" pitchFamily="34" charset="-120"/>
              </a:rPr>
              <a:t>✅ Validé</a:t>
            </a:r>
            <a:endParaRPr lang="en-US" sz="1000" dirty="0"/>
          </a:p>
        </p:txBody>
      </p:sp>
      <p:sp>
        <p:nvSpPr>
          <p:cNvPr id="19" name="Text 17"/>
          <p:cNvSpPr/>
          <p:nvPr/>
        </p:nvSpPr>
        <p:spPr>
          <a:xfrm>
            <a:off x="8458200" y="3611880"/>
            <a:ext cx="3383280" cy="594360"/>
          </a:xfrm>
          <a:prstGeom prst="rect">
            <a:avLst/>
          </a:prstGeom>
          <a:noFill/>
          <a:ln/>
        </p:spPr>
        <p:txBody>
          <a:bodyPr wrap="square" rtlCol="0" anchor="ctr"/>
          <a:lstStyle/>
          <a:p>
            <a:pPr marL="0" indent="0">
              <a:buNone/>
            </a:pPr>
            <a:r>
              <a:rPr lang="en-US" sz="900" dirty="0">
                <a:solidFill>
                  <a:srgbClr val="888888"/>
                </a:solidFill>
                <a:latin typeface="Calibri" pitchFamily="34" charset="0"/>
                <a:ea typeface="Calibri" pitchFamily="34" charset="-122"/>
                <a:cs typeface="Calibri" pitchFamily="34" charset="-120"/>
              </a:rPr>
              <a:t>sync:// transparent en dev</a:t>
            </a:r>
            <a:endParaRPr lang="en-US" sz="900" dirty="0"/>
          </a:p>
          <a:p>
            <a:pPr marL="0" indent="0">
              <a:buNone/>
            </a:pPr>
            <a:r>
              <a:rPr lang="en-US" sz="900" dirty="0">
                <a:solidFill>
                  <a:srgbClr val="888888"/>
                </a:solidFill>
                <a:latin typeface="Calibri" pitchFamily="34" charset="0"/>
                <a:ea typeface="Calibri" pitchFamily="34" charset="-122"/>
                <a:cs typeface="Calibri" pitchFamily="34" charset="-120"/>
              </a:rPr>
              <a:t>AMQP en prod — sans code change</a:t>
            </a:r>
            <a:endParaRPr lang="en-US" sz="900" dirty="0"/>
          </a:p>
        </p:txBody>
      </p:sp>
      <p:sp>
        <p:nvSpPr>
          <p:cNvPr id="20" name="Shape 18"/>
          <p:cNvSpPr/>
          <p:nvPr/>
        </p:nvSpPr>
        <p:spPr>
          <a:xfrm>
            <a:off x="2286000" y="4526280"/>
            <a:ext cx="3657600" cy="1463040"/>
          </a:xfrm>
          <a:prstGeom prst="rect">
            <a:avLst/>
          </a:prstGeom>
          <a:solidFill>
            <a:srgbClr val="1A1A2E"/>
          </a:solidFill>
          <a:ln w="19050">
            <a:solidFill>
              <a:srgbClr val="C0392B"/>
            </a:solidFill>
            <a:prstDash val="solid"/>
          </a:ln>
        </p:spPr>
        <p:txBody>
          <a:bodyPr/>
          <a:lstStyle/>
          <a:p>
            <a:endParaRPr lang="fr-FR"/>
          </a:p>
        </p:txBody>
      </p:sp>
      <p:sp>
        <p:nvSpPr>
          <p:cNvPr id="21" name="Text 19"/>
          <p:cNvSpPr/>
          <p:nvPr/>
        </p:nvSpPr>
        <p:spPr>
          <a:xfrm>
            <a:off x="2423160" y="4617720"/>
            <a:ext cx="3383280" cy="411480"/>
          </a:xfrm>
          <a:prstGeom prst="rect">
            <a:avLst/>
          </a:prstGeom>
          <a:noFill/>
          <a:ln/>
        </p:spPr>
        <p:txBody>
          <a:bodyPr wrap="square" rtlCol="0" anchor="ctr"/>
          <a:lstStyle/>
          <a:p>
            <a:pPr marL="0" indent="0">
              <a:buNone/>
            </a:pPr>
            <a:r>
              <a:rPr lang="en-US" sz="1200" b="1" dirty="0">
                <a:solidFill>
                  <a:srgbClr val="F0F0F0"/>
                </a:solidFill>
                <a:latin typeface="Calibri" pitchFamily="34" charset="0"/>
                <a:ea typeface="Calibri" pitchFamily="34" charset="-122"/>
                <a:cs typeface="Calibri" pitchFamily="34" charset="-120"/>
              </a:rPr>
              <a:t>GitHub Actions</a:t>
            </a:r>
            <a:endParaRPr lang="en-US" sz="1200" dirty="0"/>
          </a:p>
        </p:txBody>
      </p:sp>
      <p:sp>
        <p:nvSpPr>
          <p:cNvPr id="22" name="Text 20"/>
          <p:cNvSpPr/>
          <p:nvPr/>
        </p:nvSpPr>
        <p:spPr>
          <a:xfrm>
            <a:off x="2423160" y="5029200"/>
            <a:ext cx="3383280" cy="274320"/>
          </a:xfrm>
          <a:prstGeom prst="rect">
            <a:avLst/>
          </a:prstGeom>
          <a:noFill/>
          <a:ln/>
        </p:spPr>
        <p:txBody>
          <a:bodyPr wrap="square" rtlCol="0" anchor="ctr"/>
          <a:lstStyle/>
          <a:p>
            <a:pPr marL="0" indent="0">
              <a:buNone/>
            </a:pPr>
            <a:r>
              <a:rPr lang="en-US" sz="1000" b="1" dirty="0">
                <a:solidFill>
                  <a:srgbClr val="27AE60"/>
                </a:solidFill>
                <a:latin typeface="Calibri" pitchFamily="34" charset="0"/>
                <a:ea typeface="Calibri" pitchFamily="34" charset="-122"/>
                <a:cs typeface="Calibri" pitchFamily="34" charset="-120"/>
              </a:rPr>
              <a:t>✅ Validé</a:t>
            </a:r>
            <a:endParaRPr lang="en-US" sz="1000" dirty="0"/>
          </a:p>
        </p:txBody>
      </p:sp>
      <p:sp>
        <p:nvSpPr>
          <p:cNvPr id="23" name="Text 21"/>
          <p:cNvSpPr/>
          <p:nvPr/>
        </p:nvSpPr>
        <p:spPr>
          <a:xfrm>
            <a:off x="2423160" y="5303520"/>
            <a:ext cx="3383280" cy="594360"/>
          </a:xfrm>
          <a:prstGeom prst="rect">
            <a:avLst/>
          </a:prstGeom>
          <a:noFill/>
          <a:ln/>
        </p:spPr>
        <p:txBody>
          <a:bodyPr wrap="square" rtlCol="0" anchor="ctr"/>
          <a:lstStyle/>
          <a:p>
            <a:pPr marL="0" indent="0">
              <a:buNone/>
            </a:pPr>
            <a:r>
              <a:rPr lang="en-US" sz="900" dirty="0">
                <a:solidFill>
                  <a:srgbClr val="888888"/>
                </a:solidFill>
                <a:latin typeface="Calibri" pitchFamily="34" charset="0"/>
                <a:ea typeface="Calibri" pitchFamily="34" charset="-122"/>
                <a:cs typeface="Calibri" pitchFamily="34" charset="-120"/>
              </a:rPr>
              <a:t>Self-hosted runner Windows</a:t>
            </a:r>
            <a:endParaRPr lang="en-US" sz="900" dirty="0"/>
          </a:p>
          <a:p>
            <a:pPr marL="0" indent="0">
              <a:buNone/>
            </a:pPr>
            <a:r>
              <a:rPr lang="en-US" sz="900" dirty="0">
                <a:solidFill>
                  <a:srgbClr val="888888"/>
                </a:solidFill>
                <a:latin typeface="Calibri" pitchFamily="34" charset="0"/>
                <a:ea typeface="Calibri" pitchFamily="34" charset="-122"/>
                <a:cs typeface="Calibri" pitchFamily="34" charset="-120"/>
              </a:rPr>
              <a:t>11 jobs · déploiement automatique</a:t>
            </a:r>
            <a:endParaRPr lang="en-US" sz="900" dirty="0"/>
          </a:p>
        </p:txBody>
      </p:sp>
      <p:sp>
        <p:nvSpPr>
          <p:cNvPr id="24" name="Shape 22"/>
          <p:cNvSpPr/>
          <p:nvPr/>
        </p:nvSpPr>
        <p:spPr>
          <a:xfrm>
            <a:off x="6309360" y="4526280"/>
            <a:ext cx="3657600" cy="1463040"/>
          </a:xfrm>
          <a:prstGeom prst="rect">
            <a:avLst/>
          </a:prstGeom>
          <a:solidFill>
            <a:srgbClr val="2E2A1A"/>
          </a:solidFill>
          <a:ln w="19050">
            <a:solidFill>
              <a:srgbClr val="C0392B"/>
            </a:solidFill>
            <a:prstDash val="solid"/>
          </a:ln>
        </p:spPr>
        <p:txBody>
          <a:bodyPr/>
          <a:lstStyle/>
          <a:p>
            <a:endParaRPr lang="fr-FR"/>
          </a:p>
        </p:txBody>
      </p:sp>
      <p:sp>
        <p:nvSpPr>
          <p:cNvPr id="25" name="Text 23"/>
          <p:cNvSpPr/>
          <p:nvPr/>
        </p:nvSpPr>
        <p:spPr>
          <a:xfrm>
            <a:off x="6446520" y="4617720"/>
            <a:ext cx="3383280" cy="411480"/>
          </a:xfrm>
          <a:prstGeom prst="rect">
            <a:avLst/>
          </a:prstGeom>
          <a:noFill/>
          <a:ln/>
        </p:spPr>
        <p:txBody>
          <a:bodyPr wrap="square" rtlCol="0" anchor="ctr"/>
          <a:lstStyle/>
          <a:p>
            <a:pPr marL="0" indent="0">
              <a:buNone/>
            </a:pPr>
            <a:r>
              <a:rPr lang="en-US" sz="1200" b="1" dirty="0">
                <a:solidFill>
                  <a:srgbClr val="F0F0F0"/>
                </a:solidFill>
                <a:latin typeface="Calibri" pitchFamily="34" charset="0"/>
                <a:ea typeface="Calibri" pitchFamily="34" charset="-122"/>
                <a:cs typeface="Calibri" pitchFamily="34" charset="-120"/>
              </a:rPr>
              <a:t>Docker / Apache</a:t>
            </a:r>
            <a:endParaRPr lang="en-US" sz="1200" dirty="0"/>
          </a:p>
        </p:txBody>
      </p:sp>
      <p:sp>
        <p:nvSpPr>
          <p:cNvPr id="26" name="Text 24"/>
          <p:cNvSpPr/>
          <p:nvPr/>
        </p:nvSpPr>
        <p:spPr>
          <a:xfrm>
            <a:off x="6446520" y="5029200"/>
            <a:ext cx="3383280" cy="274320"/>
          </a:xfrm>
          <a:prstGeom prst="rect">
            <a:avLst/>
          </a:prstGeom>
          <a:noFill/>
          <a:ln/>
        </p:spPr>
        <p:txBody>
          <a:bodyPr wrap="square" rtlCol="0" anchor="ctr"/>
          <a:lstStyle/>
          <a:p>
            <a:pPr marL="0" indent="0">
              <a:buNone/>
            </a:pPr>
            <a:r>
              <a:rPr lang="en-US" sz="1000" b="1" dirty="0">
                <a:solidFill>
                  <a:srgbClr val="E67E22"/>
                </a:solidFill>
                <a:latin typeface="Calibri" pitchFamily="34" charset="0"/>
                <a:ea typeface="Calibri" pitchFamily="34" charset="-122"/>
                <a:cs typeface="Calibri" pitchFamily="34" charset="-120"/>
              </a:rPr>
              <a:t>⚠️ Problème résolu</a:t>
            </a:r>
            <a:endParaRPr lang="en-US" sz="1000" dirty="0"/>
          </a:p>
        </p:txBody>
      </p:sp>
      <p:sp>
        <p:nvSpPr>
          <p:cNvPr id="27" name="Text 25"/>
          <p:cNvSpPr/>
          <p:nvPr/>
        </p:nvSpPr>
        <p:spPr>
          <a:xfrm>
            <a:off x="6446520" y="5303520"/>
            <a:ext cx="3383280" cy="594360"/>
          </a:xfrm>
          <a:prstGeom prst="rect">
            <a:avLst/>
          </a:prstGeom>
          <a:noFill/>
          <a:ln/>
        </p:spPr>
        <p:txBody>
          <a:bodyPr wrap="square" rtlCol="0" anchor="ctr"/>
          <a:lstStyle/>
          <a:p>
            <a:pPr marL="0" indent="0">
              <a:buNone/>
            </a:pPr>
            <a:r>
              <a:rPr lang="en-US" sz="900" dirty="0">
                <a:solidFill>
                  <a:srgbClr val="888888"/>
                </a:solidFill>
                <a:latin typeface="Calibri" pitchFamily="34" charset="0"/>
                <a:ea typeface="Calibri" pitchFamily="34" charset="-122"/>
                <a:cs typeface="Calibri" pitchFamily="34" charset="-120"/>
              </a:rPr>
              <a:t>mod_php ne passe pas</a:t>
            </a:r>
            <a:endParaRPr lang="en-US" sz="900" dirty="0"/>
          </a:p>
          <a:p>
            <a:pPr marL="0" indent="0">
              <a:buNone/>
            </a:pPr>
            <a:r>
              <a:rPr lang="en-US" sz="900" dirty="0">
                <a:solidFill>
                  <a:srgbClr val="888888"/>
                </a:solidFill>
                <a:latin typeface="Calibri" pitchFamily="34" charset="0"/>
                <a:ea typeface="Calibri" pitchFamily="34" charset="-122"/>
                <a:cs typeface="Calibri" pitchFamily="34" charset="-120"/>
              </a:rPr>
              <a:t>les vars Docker → SetEnv Apache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10972800" cy="182880"/>
          </a:xfrm>
          <a:prstGeom prst="rect">
            <a:avLst/>
          </a:prstGeom>
          <a:noFill/>
          <a:ln/>
        </p:spPr>
        <p:txBody>
          <a:bodyPr wrap="square" rtlCol="0" anchor="ctr"/>
          <a:lstStyle/>
          <a:p>
            <a:pPr marL="0" indent="0">
              <a:buNone/>
            </a:pPr>
            <a:r>
              <a:rPr lang="en-US" sz="800" dirty="0">
                <a:solidFill>
                  <a:srgbClr val="888888"/>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Shape 3"/>
          <p:cNvSpPr/>
          <p:nvPr/>
        </p:nvSpPr>
        <p:spPr>
          <a:xfrm>
            <a:off x="365760" y="1051560"/>
            <a:ext cx="2377440" cy="54864"/>
          </a:xfrm>
          <a:prstGeom prst="rect">
            <a:avLst/>
          </a:prstGeom>
          <a:solidFill>
            <a:srgbClr val="C0392B"/>
          </a:solidFill>
          <a:ln/>
        </p:spPr>
        <p:txBody>
          <a:bodyPr/>
          <a:lstStyle/>
          <a:p>
            <a:endParaRPr lang="fr-FR"/>
          </a:p>
        </p:txBody>
      </p:sp>
      <p:sp>
        <p:nvSpPr>
          <p:cNvPr id="6" name="Text 4"/>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QUALITE MESUREE</a:t>
            </a:r>
            <a:endParaRPr lang="en-US" sz="1100" dirty="0"/>
          </a:p>
        </p:txBody>
      </p:sp>
      <p:sp>
        <p:nvSpPr>
          <p:cNvPr id="7" name="Text 5"/>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Georgia" pitchFamily="34" charset="0"/>
                <a:ea typeface="Georgia" pitchFamily="34" charset="-122"/>
                <a:cs typeface="Georgia" pitchFamily="34" charset="-120"/>
              </a:rPr>
              <a:t>Résultats — chiffres clés</a:t>
            </a:r>
            <a:endParaRPr lang="en-US" sz="3400" dirty="0"/>
          </a:p>
        </p:txBody>
      </p:sp>
      <p:sp>
        <p:nvSpPr>
          <p:cNvPr id="8" name="Shape 6"/>
          <p:cNvSpPr/>
          <p:nvPr/>
        </p:nvSpPr>
        <p:spPr>
          <a:xfrm>
            <a:off x="274320" y="2743200"/>
            <a:ext cx="2743200" cy="3291840"/>
          </a:xfrm>
          <a:prstGeom prst="rect">
            <a:avLst/>
          </a:prstGeom>
          <a:solidFill>
            <a:srgbClr val="1A2E1A"/>
          </a:solidFill>
          <a:ln w="19050">
            <a:solidFill>
              <a:srgbClr val="C0392B"/>
            </a:solidFill>
            <a:prstDash val="solid"/>
          </a:ln>
        </p:spPr>
        <p:txBody>
          <a:bodyPr/>
          <a:lstStyle/>
          <a:p>
            <a:endParaRPr lang="fr-FR"/>
          </a:p>
        </p:txBody>
      </p:sp>
      <p:sp>
        <p:nvSpPr>
          <p:cNvPr id="9" name="Text 7"/>
          <p:cNvSpPr/>
          <p:nvPr/>
        </p:nvSpPr>
        <p:spPr>
          <a:xfrm>
            <a:off x="365760" y="2926080"/>
            <a:ext cx="2560320" cy="1188720"/>
          </a:xfrm>
          <a:prstGeom prst="rect">
            <a:avLst/>
          </a:prstGeom>
          <a:noFill/>
          <a:ln/>
        </p:spPr>
        <p:txBody>
          <a:bodyPr wrap="square" rtlCol="0" anchor="ctr"/>
          <a:lstStyle/>
          <a:p>
            <a:pPr marL="0" indent="0" algn="ctr">
              <a:buNone/>
            </a:pPr>
            <a:r>
              <a:rPr lang="en-US" sz="4000" b="1" dirty="0">
                <a:solidFill>
                  <a:srgbClr val="F0F0F0"/>
                </a:solidFill>
                <a:latin typeface="Georgia" pitchFamily="34" charset="0"/>
                <a:ea typeface="Georgia" pitchFamily="34" charset="-122"/>
                <a:cs typeface="Georgia" pitchFamily="34" charset="-120"/>
              </a:rPr>
              <a:t>59</a:t>
            </a:r>
            <a:endParaRPr lang="en-US" sz="4000" dirty="0"/>
          </a:p>
        </p:txBody>
      </p:sp>
      <p:sp>
        <p:nvSpPr>
          <p:cNvPr id="10" name="Shape 8"/>
          <p:cNvSpPr/>
          <p:nvPr/>
        </p:nvSpPr>
        <p:spPr>
          <a:xfrm>
            <a:off x="731520" y="4160520"/>
            <a:ext cx="1828800" cy="45720"/>
          </a:xfrm>
          <a:prstGeom prst="rect">
            <a:avLst/>
          </a:prstGeom>
          <a:solidFill>
            <a:srgbClr val="C0392B"/>
          </a:solidFill>
          <a:ln/>
        </p:spPr>
        <p:txBody>
          <a:bodyPr/>
          <a:lstStyle/>
          <a:p>
            <a:endParaRPr lang="fr-FR"/>
          </a:p>
        </p:txBody>
      </p:sp>
      <p:sp>
        <p:nvSpPr>
          <p:cNvPr id="11" name="Text 9"/>
          <p:cNvSpPr/>
          <p:nvPr/>
        </p:nvSpPr>
        <p:spPr>
          <a:xfrm>
            <a:off x="365760" y="4251960"/>
            <a:ext cx="2560320" cy="457200"/>
          </a:xfrm>
          <a:prstGeom prst="rect">
            <a:avLst/>
          </a:prstGeom>
          <a:noFill/>
          <a:ln/>
        </p:spPr>
        <p:txBody>
          <a:bodyPr wrap="square" rtlCol="0" anchor="ctr"/>
          <a:lstStyle/>
          <a:p>
            <a:pPr marL="0" indent="0" algn="ctr">
              <a:buNone/>
            </a:pPr>
            <a:r>
              <a:rPr lang="en-US" sz="1200" b="1" dirty="0">
                <a:solidFill>
                  <a:srgbClr val="F39C12"/>
                </a:solidFill>
                <a:latin typeface="Calibri" pitchFamily="34" charset="0"/>
                <a:ea typeface="Calibri" pitchFamily="34" charset="-122"/>
                <a:cs typeface="Calibri" pitchFamily="34" charset="-120"/>
              </a:rPr>
              <a:t>tests PHPUnit</a:t>
            </a:r>
            <a:endParaRPr lang="en-US" sz="1200" dirty="0"/>
          </a:p>
        </p:txBody>
      </p:sp>
      <p:sp>
        <p:nvSpPr>
          <p:cNvPr id="12" name="Text 10"/>
          <p:cNvSpPr/>
          <p:nvPr/>
        </p:nvSpPr>
        <p:spPr>
          <a:xfrm>
            <a:off x="365760" y="4754880"/>
            <a:ext cx="2560320" cy="457200"/>
          </a:xfrm>
          <a:prstGeom prst="rect">
            <a:avLst/>
          </a:prstGeom>
          <a:noFill/>
          <a:ln/>
        </p:spPr>
        <p:txBody>
          <a:bodyPr wrap="square" rtlCol="0" anchor="ctr"/>
          <a:lstStyle/>
          <a:p>
            <a:pPr marL="0" indent="0" algn="ctr">
              <a:buNone/>
            </a:pPr>
            <a:r>
              <a:rPr lang="en-US" sz="1000" dirty="0">
                <a:solidFill>
                  <a:srgbClr val="888888"/>
                </a:solidFill>
                <a:latin typeface="Calibri" pitchFamily="34" charset="0"/>
                <a:ea typeface="Calibri" pitchFamily="34" charset="-122"/>
                <a:cs typeface="Calibri" pitchFamily="34" charset="-120"/>
              </a:rPr>
              <a:t>186 assertions · 0 échec</a:t>
            </a:r>
            <a:endParaRPr lang="en-US" sz="1000" dirty="0"/>
          </a:p>
        </p:txBody>
      </p:sp>
      <p:sp>
        <p:nvSpPr>
          <p:cNvPr id="13" name="Shape 11"/>
          <p:cNvSpPr/>
          <p:nvPr/>
        </p:nvSpPr>
        <p:spPr>
          <a:xfrm>
            <a:off x="3291840" y="2743200"/>
            <a:ext cx="2743200" cy="3291840"/>
          </a:xfrm>
          <a:prstGeom prst="rect">
            <a:avLst/>
          </a:prstGeom>
          <a:solidFill>
            <a:srgbClr val="1A1A2E"/>
          </a:solidFill>
          <a:ln w="19050">
            <a:solidFill>
              <a:srgbClr val="C0392B"/>
            </a:solidFill>
            <a:prstDash val="solid"/>
          </a:ln>
        </p:spPr>
        <p:txBody>
          <a:bodyPr/>
          <a:lstStyle/>
          <a:p>
            <a:endParaRPr lang="fr-FR"/>
          </a:p>
        </p:txBody>
      </p:sp>
      <p:sp>
        <p:nvSpPr>
          <p:cNvPr id="14" name="Text 12"/>
          <p:cNvSpPr/>
          <p:nvPr/>
        </p:nvSpPr>
        <p:spPr>
          <a:xfrm>
            <a:off x="3383280" y="2926080"/>
            <a:ext cx="2560320" cy="1188720"/>
          </a:xfrm>
          <a:prstGeom prst="rect">
            <a:avLst/>
          </a:prstGeom>
          <a:noFill/>
          <a:ln/>
        </p:spPr>
        <p:txBody>
          <a:bodyPr wrap="square" rtlCol="0" anchor="ctr"/>
          <a:lstStyle/>
          <a:p>
            <a:pPr marL="0" indent="0" algn="ctr">
              <a:buNone/>
            </a:pPr>
            <a:r>
              <a:rPr lang="en-US" sz="4000" b="1" dirty="0">
                <a:solidFill>
                  <a:srgbClr val="F0F0F0"/>
                </a:solidFill>
                <a:latin typeface="Georgia" pitchFamily="34" charset="0"/>
                <a:ea typeface="Georgia" pitchFamily="34" charset="-122"/>
                <a:cs typeface="Georgia" pitchFamily="34" charset="-120"/>
              </a:rPr>
              <a:t>78,95%</a:t>
            </a:r>
            <a:endParaRPr lang="en-US" sz="4000" dirty="0"/>
          </a:p>
        </p:txBody>
      </p:sp>
      <p:sp>
        <p:nvSpPr>
          <p:cNvPr id="15" name="Shape 13"/>
          <p:cNvSpPr/>
          <p:nvPr/>
        </p:nvSpPr>
        <p:spPr>
          <a:xfrm>
            <a:off x="3749040" y="4160520"/>
            <a:ext cx="1828800" cy="45720"/>
          </a:xfrm>
          <a:prstGeom prst="rect">
            <a:avLst/>
          </a:prstGeom>
          <a:solidFill>
            <a:srgbClr val="C0392B"/>
          </a:solidFill>
          <a:ln/>
        </p:spPr>
        <p:txBody>
          <a:bodyPr/>
          <a:lstStyle/>
          <a:p>
            <a:endParaRPr lang="fr-FR"/>
          </a:p>
        </p:txBody>
      </p:sp>
      <p:sp>
        <p:nvSpPr>
          <p:cNvPr id="16" name="Text 14"/>
          <p:cNvSpPr/>
          <p:nvPr/>
        </p:nvSpPr>
        <p:spPr>
          <a:xfrm>
            <a:off x="3383280" y="4251960"/>
            <a:ext cx="2560320" cy="457200"/>
          </a:xfrm>
          <a:prstGeom prst="rect">
            <a:avLst/>
          </a:prstGeom>
          <a:noFill/>
          <a:ln/>
        </p:spPr>
        <p:txBody>
          <a:bodyPr wrap="square" rtlCol="0" anchor="ctr"/>
          <a:lstStyle/>
          <a:p>
            <a:pPr marL="0" indent="0" algn="ctr">
              <a:buNone/>
            </a:pPr>
            <a:r>
              <a:rPr lang="en-US" sz="1200" b="1" dirty="0">
                <a:solidFill>
                  <a:srgbClr val="F39C12"/>
                </a:solidFill>
                <a:latin typeface="Calibri" pitchFamily="34" charset="0"/>
                <a:ea typeface="Calibri" pitchFamily="34" charset="-122"/>
                <a:cs typeface="Calibri" pitchFamily="34" charset="-120"/>
              </a:rPr>
              <a:t>couverture classes</a:t>
            </a:r>
            <a:endParaRPr lang="en-US" sz="1200" dirty="0"/>
          </a:p>
        </p:txBody>
      </p:sp>
      <p:sp>
        <p:nvSpPr>
          <p:cNvPr id="17" name="Text 15"/>
          <p:cNvSpPr/>
          <p:nvPr/>
        </p:nvSpPr>
        <p:spPr>
          <a:xfrm>
            <a:off x="3383280" y="4754880"/>
            <a:ext cx="2560320" cy="457200"/>
          </a:xfrm>
          <a:prstGeom prst="rect">
            <a:avLst/>
          </a:prstGeom>
          <a:noFill/>
          <a:ln/>
        </p:spPr>
        <p:txBody>
          <a:bodyPr wrap="square" rtlCol="0" anchor="ctr"/>
          <a:lstStyle/>
          <a:p>
            <a:pPr marL="0" indent="0" algn="ctr">
              <a:buNone/>
            </a:pPr>
            <a:r>
              <a:rPr lang="en-US" sz="1000" dirty="0">
                <a:solidFill>
                  <a:srgbClr val="888888"/>
                </a:solidFill>
                <a:latin typeface="Calibri" pitchFamily="34" charset="0"/>
                <a:ea typeface="Calibri" pitchFamily="34" charset="-122"/>
                <a:cs typeface="Calibri" pitchFamily="34" charset="-120"/>
              </a:rPr>
              <a:t>59,11% lignes · PCOV</a:t>
            </a:r>
            <a:endParaRPr lang="en-US" sz="1000" dirty="0"/>
          </a:p>
        </p:txBody>
      </p:sp>
      <p:sp>
        <p:nvSpPr>
          <p:cNvPr id="18" name="Shape 16"/>
          <p:cNvSpPr/>
          <p:nvPr/>
        </p:nvSpPr>
        <p:spPr>
          <a:xfrm>
            <a:off x="6309360" y="2743200"/>
            <a:ext cx="2743200" cy="3291840"/>
          </a:xfrm>
          <a:prstGeom prst="rect">
            <a:avLst/>
          </a:prstGeom>
          <a:solidFill>
            <a:srgbClr val="2E2A1A"/>
          </a:solidFill>
          <a:ln w="19050">
            <a:solidFill>
              <a:srgbClr val="C0392B"/>
            </a:solidFill>
            <a:prstDash val="solid"/>
          </a:ln>
        </p:spPr>
        <p:txBody>
          <a:bodyPr/>
          <a:lstStyle/>
          <a:p>
            <a:endParaRPr lang="fr-FR"/>
          </a:p>
        </p:txBody>
      </p:sp>
      <p:sp>
        <p:nvSpPr>
          <p:cNvPr id="19" name="Text 17"/>
          <p:cNvSpPr/>
          <p:nvPr/>
        </p:nvSpPr>
        <p:spPr>
          <a:xfrm>
            <a:off x="6400800" y="2926080"/>
            <a:ext cx="2560320" cy="1188720"/>
          </a:xfrm>
          <a:prstGeom prst="rect">
            <a:avLst/>
          </a:prstGeom>
          <a:noFill/>
          <a:ln/>
        </p:spPr>
        <p:txBody>
          <a:bodyPr wrap="square" rtlCol="0" anchor="ctr"/>
          <a:lstStyle/>
          <a:p>
            <a:pPr marL="0" indent="0" algn="ctr">
              <a:buNone/>
            </a:pPr>
            <a:r>
              <a:rPr lang="en-US" sz="4000" b="1" dirty="0">
                <a:solidFill>
                  <a:srgbClr val="F0F0F0"/>
                </a:solidFill>
                <a:latin typeface="Georgia" pitchFamily="34" charset="0"/>
                <a:ea typeface="Georgia" pitchFamily="34" charset="-122"/>
                <a:cs typeface="Georgia" pitchFamily="34" charset="-120"/>
              </a:rPr>
              <a:t>35/35</a:t>
            </a:r>
            <a:endParaRPr lang="en-US" sz="4000" dirty="0"/>
          </a:p>
        </p:txBody>
      </p:sp>
      <p:sp>
        <p:nvSpPr>
          <p:cNvPr id="20" name="Shape 18"/>
          <p:cNvSpPr/>
          <p:nvPr/>
        </p:nvSpPr>
        <p:spPr>
          <a:xfrm>
            <a:off x="6766560" y="4160520"/>
            <a:ext cx="1828800" cy="45720"/>
          </a:xfrm>
          <a:prstGeom prst="rect">
            <a:avLst/>
          </a:prstGeom>
          <a:solidFill>
            <a:srgbClr val="C0392B"/>
          </a:solidFill>
          <a:ln/>
        </p:spPr>
        <p:txBody>
          <a:bodyPr/>
          <a:lstStyle/>
          <a:p>
            <a:endParaRPr lang="fr-FR"/>
          </a:p>
        </p:txBody>
      </p:sp>
      <p:sp>
        <p:nvSpPr>
          <p:cNvPr id="21" name="Text 19"/>
          <p:cNvSpPr/>
          <p:nvPr/>
        </p:nvSpPr>
        <p:spPr>
          <a:xfrm>
            <a:off x="6400800" y="4251960"/>
            <a:ext cx="2560320" cy="457200"/>
          </a:xfrm>
          <a:prstGeom prst="rect">
            <a:avLst/>
          </a:prstGeom>
          <a:noFill/>
          <a:ln/>
        </p:spPr>
        <p:txBody>
          <a:bodyPr wrap="square" rtlCol="0" anchor="ctr"/>
          <a:lstStyle/>
          <a:p>
            <a:pPr marL="0" indent="0" algn="ctr">
              <a:buNone/>
            </a:pPr>
            <a:r>
              <a:rPr lang="en-US" sz="1200" b="1" dirty="0">
                <a:solidFill>
                  <a:srgbClr val="F39C12"/>
                </a:solidFill>
                <a:latin typeface="Calibri" pitchFamily="34" charset="0"/>
                <a:ea typeface="Calibri" pitchFamily="34" charset="-122"/>
                <a:cs typeface="Calibri" pitchFamily="34" charset="-120"/>
              </a:rPr>
              <a:t>checks k6</a:t>
            </a:r>
            <a:endParaRPr lang="en-US" sz="1200" dirty="0"/>
          </a:p>
        </p:txBody>
      </p:sp>
      <p:sp>
        <p:nvSpPr>
          <p:cNvPr id="22" name="Text 20"/>
          <p:cNvSpPr/>
          <p:nvPr/>
        </p:nvSpPr>
        <p:spPr>
          <a:xfrm>
            <a:off x="6400800" y="4754880"/>
            <a:ext cx="2560320" cy="457200"/>
          </a:xfrm>
          <a:prstGeom prst="rect">
            <a:avLst/>
          </a:prstGeom>
          <a:noFill/>
          <a:ln/>
        </p:spPr>
        <p:txBody>
          <a:bodyPr wrap="square" rtlCol="0" anchor="ctr"/>
          <a:lstStyle/>
          <a:p>
            <a:pPr marL="0" indent="0" algn="ctr">
              <a:buNone/>
            </a:pPr>
            <a:r>
              <a:rPr lang="en-US" sz="1000" dirty="0">
                <a:solidFill>
                  <a:srgbClr val="888888"/>
                </a:solidFill>
                <a:latin typeface="Calibri" pitchFamily="34" charset="0"/>
                <a:ea typeface="Calibri" pitchFamily="34" charset="-122"/>
                <a:cs typeface="Calibri" pitchFamily="34" charset="-120"/>
              </a:rPr>
              <a:t>p95 &lt; 200ms · 0% erreurs</a:t>
            </a:r>
            <a:endParaRPr lang="en-US" sz="1000" dirty="0"/>
          </a:p>
        </p:txBody>
      </p:sp>
      <p:sp>
        <p:nvSpPr>
          <p:cNvPr id="23" name="Shape 21"/>
          <p:cNvSpPr/>
          <p:nvPr/>
        </p:nvSpPr>
        <p:spPr>
          <a:xfrm>
            <a:off x="9326880" y="2743200"/>
            <a:ext cx="2743200" cy="3291840"/>
          </a:xfrm>
          <a:prstGeom prst="rect">
            <a:avLst/>
          </a:prstGeom>
          <a:solidFill>
            <a:srgbClr val="2E1A1A"/>
          </a:solidFill>
          <a:ln w="19050">
            <a:solidFill>
              <a:srgbClr val="C0392B"/>
            </a:solidFill>
            <a:prstDash val="solid"/>
          </a:ln>
        </p:spPr>
        <p:txBody>
          <a:bodyPr/>
          <a:lstStyle/>
          <a:p>
            <a:endParaRPr lang="fr-FR"/>
          </a:p>
        </p:txBody>
      </p:sp>
      <p:sp>
        <p:nvSpPr>
          <p:cNvPr id="24" name="Text 22"/>
          <p:cNvSpPr/>
          <p:nvPr/>
        </p:nvSpPr>
        <p:spPr>
          <a:xfrm>
            <a:off x="9418320" y="2926080"/>
            <a:ext cx="2560320" cy="1188720"/>
          </a:xfrm>
          <a:prstGeom prst="rect">
            <a:avLst/>
          </a:prstGeom>
          <a:noFill/>
          <a:ln/>
        </p:spPr>
        <p:txBody>
          <a:bodyPr wrap="square" rtlCol="0" anchor="ctr"/>
          <a:lstStyle/>
          <a:p>
            <a:pPr marL="0" indent="0" algn="ctr">
              <a:buNone/>
            </a:pPr>
            <a:r>
              <a:rPr lang="en-US" sz="4000" b="1" dirty="0">
                <a:solidFill>
                  <a:srgbClr val="F0F0F0"/>
                </a:solidFill>
                <a:latin typeface="Georgia" pitchFamily="34" charset="0"/>
                <a:ea typeface="Georgia" pitchFamily="34" charset="-122"/>
                <a:cs typeface="Georgia" pitchFamily="34" charset="-120"/>
              </a:rPr>
              <a:t>0</a:t>
            </a:r>
            <a:endParaRPr lang="en-US" sz="4000" dirty="0"/>
          </a:p>
        </p:txBody>
      </p:sp>
      <p:sp>
        <p:nvSpPr>
          <p:cNvPr id="25" name="Shape 23"/>
          <p:cNvSpPr/>
          <p:nvPr/>
        </p:nvSpPr>
        <p:spPr>
          <a:xfrm>
            <a:off x="9784080" y="4160520"/>
            <a:ext cx="1828800" cy="45720"/>
          </a:xfrm>
          <a:prstGeom prst="rect">
            <a:avLst/>
          </a:prstGeom>
          <a:solidFill>
            <a:srgbClr val="C0392B"/>
          </a:solidFill>
          <a:ln/>
        </p:spPr>
        <p:txBody>
          <a:bodyPr/>
          <a:lstStyle/>
          <a:p>
            <a:endParaRPr lang="fr-FR"/>
          </a:p>
        </p:txBody>
      </p:sp>
      <p:sp>
        <p:nvSpPr>
          <p:cNvPr id="26" name="Text 24"/>
          <p:cNvSpPr/>
          <p:nvPr/>
        </p:nvSpPr>
        <p:spPr>
          <a:xfrm>
            <a:off x="9418320" y="4251960"/>
            <a:ext cx="2560320" cy="457200"/>
          </a:xfrm>
          <a:prstGeom prst="rect">
            <a:avLst/>
          </a:prstGeom>
          <a:noFill/>
          <a:ln/>
        </p:spPr>
        <p:txBody>
          <a:bodyPr wrap="square" rtlCol="0" anchor="ctr"/>
          <a:lstStyle/>
          <a:p>
            <a:pPr marL="0" indent="0" algn="ctr">
              <a:buNone/>
            </a:pPr>
            <a:r>
              <a:rPr lang="en-US" sz="1200" b="1" dirty="0">
                <a:solidFill>
                  <a:srgbClr val="F39C12"/>
                </a:solidFill>
                <a:latin typeface="Calibri" pitchFamily="34" charset="0"/>
                <a:ea typeface="Calibri" pitchFamily="34" charset="-122"/>
                <a:cs typeface="Calibri" pitchFamily="34" charset="-120"/>
              </a:rPr>
              <a:t>CVE Critical</a:t>
            </a:r>
            <a:endParaRPr lang="en-US" sz="1200" dirty="0"/>
          </a:p>
        </p:txBody>
      </p:sp>
      <p:sp>
        <p:nvSpPr>
          <p:cNvPr id="27" name="Text 25"/>
          <p:cNvSpPr/>
          <p:nvPr/>
        </p:nvSpPr>
        <p:spPr>
          <a:xfrm>
            <a:off x="9418320" y="4754880"/>
            <a:ext cx="2560320" cy="457200"/>
          </a:xfrm>
          <a:prstGeom prst="rect">
            <a:avLst/>
          </a:prstGeom>
          <a:noFill/>
          <a:ln/>
        </p:spPr>
        <p:txBody>
          <a:bodyPr wrap="square" rtlCol="0" anchor="ctr"/>
          <a:lstStyle/>
          <a:p>
            <a:pPr marL="0" indent="0" algn="ctr">
              <a:buNone/>
            </a:pPr>
            <a:r>
              <a:rPr lang="en-US" sz="1000" dirty="0">
                <a:solidFill>
                  <a:srgbClr val="888888"/>
                </a:solidFill>
                <a:latin typeface="Calibri" pitchFamily="34" charset="0"/>
                <a:ea typeface="Calibri" pitchFamily="34" charset="-122"/>
                <a:cs typeface="Calibri" pitchFamily="34" charset="-120"/>
              </a:rPr>
              <a:t>Trivy image scan</a:t>
            </a:r>
            <a:endParaRPr lang="en-US" sz="1000" dirty="0"/>
          </a:p>
        </p:txBody>
      </p:sp>
      <p:sp>
        <p:nvSpPr>
          <p:cNvPr id="28" name="Shape 26"/>
          <p:cNvSpPr/>
          <p:nvPr/>
        </p:nvSpPr>
        <p:spPr>
          <a:xfrm>
            <a:off x="274320" y="6080760"/>
            <a:ext cx="11704320" cy="411480"/>
          </a:xfrm>
          <a:prstGeom prst="rect">
            <a:avLst/>
          </a:prstGeom>
          <a:solidFill>
            <a:srgbClr val="1A1A1A"/>
          </a:solidFill>
          <a:ln w="19050">
            <a:solidFill>
              <a:srgbClr val="C0392B"/>
            </a:solidFill>
            <a:prstDash val="solid"/>
          </a:ln>
        </p:spPr>
        <p:txBody>
          <a:bodyPr/>
          <a:lstStyle/>
          <a:p>
            <a:endParaRPr lang="fr-FR"/>
          </a:p>
        </p:txBody>
      </p:sp>
      <p:sp>
        <p:nvSpPr>
          <p:cNvPr id="29" name="Text 27"/>
          <p:cNvSpPr/>
          <p:nvPr/>
        </p:nvSpPr>
        <p:spPr>
          <a:xfrm>
            <a:off x="457200" y="6108192"/>
            <a:ext cx="11338560" cy="320040"/>
          </a:xfrm>
          <a:prstGeom prst="rect">
            <a:avLst/>
          </a:prstGeom>
          <a:noFill/>
          <a:ln/>
        </p:spPr>
        <p:txBody>
          <a:bodyPr wrap="square" rtlCol="0" anchor="ctr"/>
          <a:lstStyle/>
          <a:p>
            <a:pPr marL="0" indent="0">
              <a:buNone/>
            </a:pPr>
            <a:r>
              <a:rPr lang="en-US" sz="1000" dirty="0">
                <a:solidFill>
                  <a:srgbClr val="27AE60"/>
                </a:solidFill>
                <a:latin typeface="Calibri" pitchFamily="34" charset="0"/>
                <a:ea typeface="Calibri" pitchFamily="34" charset="-122"/>
                <a:cs typeface="Calibri" pitchFamily="34" charset="-120"/>
              </a:rPr>
              <a:t>✅  Pipeline complet : install → sast → sonar → trivy → unit-test → e2e → k6 → build-image → trivy-image → staging → production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0000"/>
        </a:solidFill>
        <a:effectLst/>
      </p:bgPr>
    </p:bg>
    <p:spTree>
      <p:nvGrpSpPr>
        <p:cNvPr id="1" name=""/>
        <p:cNvGrpSpPr/>
        <p:nvPr/>
      </p:nvGrpSpPr>
      <p:grpSpPr>
        <a:xfrm>
          <a:off x="0" y="0"/>
          <a:ext cx="0" cy="0"/>
          <a:chOff x="0" y="0"/>
          <a:chExt cx="0" cy="0"/>
        </a:xfrm>
      </p:grpSpPr>
      <p:sp>
        <p:nvSpPr>
          <p:cNvPr id="2" name="Shape 0"/>
          <p:cNvSpPr/>
          <p:nvPr/>
        </p:nvSpPr>
        <p:spPr>
          <a:xfrm>
            <a:off x="0" y="3200400"/>
            <a:ext cx="12192000" cy="73152"/>
          </a:xfrm>
          <a:prstGeom prst="rect">
            <a:avLst/>
          </a:prstGeom>
          <a:solidFill>
            <a:srgbClr val="C0392B"/>
          </a:solidFill>
          <a:ln/>
        </p:spPr>
        <p:txBody>
          <a:bodyPr/>
          <a:lstStyle/>
          <a:p>
            <a:endParaRPr lang="fr-FR"/>
          </a:p>
        </p:txBody>
      </p:sp>
      <p:sp>
        <p:nvSpPr>
          <p:cNvPr id="3" name="Text 1"/>
          <p:cNvSpPr/>
          <p:nvPr/>
        </p:nvSpPr>
        <p:spPr>
          <a:xfrm>
            <a:off x="0" y="1828800"/>
            <a:ext cx="12192000" cy="640080"/>
          </a:xfrm>
          <a:prstGeom prst="rect">
            <a:avLst/>
          </a:prstGeom>
          <a:noFill/>
          <a:ln/>
        </p:spPr>
        <p:txBody>
          <a:bodyPr wrap="square" rtlCol="0" anchor="ctr"/>
          <a:lstStyle/>
          <a:p>
            <a:pPr marL="0" indent="0" algn="ctr">
              <a:buNone/>
            </a:pPr>
            <a:r>
              <a:rPr lang="en-US" sz="1400" b="1" kern="0" spc="600" dirty="0">
                <a:solidFill>
                  <a:srgbClr val="E74C3C"/>
                </a:solidFill>
                <a:latin typeface="Calibri" pitchFamily="34" charset="0"/>
                <a:ea typeface="Calibri" pitchFamily="34" charset="-122"/>
                <a:cs typeface="Calibri" pitchFamily="34" charset="-120"/>
              </a:rPr>
              <a:t>PARTIE 3</a:t>
            </a:r>
            <a:endParaRPr lang="en-US" sz="1400" dirty="0"/>
          </a:p>
        </p:txBody>
      </p:sp>
      <p:sp>
        <p:nvSpPr>
          <p:cNvPr id="4" name="Text 2"/>
          <p:cNvSpPr/>
          <p:nvPr/>
        </p:nvSpPr>
        <p:spPr>
          <a:xfrm>
            <a:off x="0" y="2560320"/>
            <a:ext cx="12192000" cy="1371600"/>
          </a:xfrm>
          <a:prstGeom prst="rect">
            <a:avLst/>
          </a:prstGeom>
          <a:noFill/>
          <a:ln/>
        </p:spPr>
        <p:txBody>
          <a:bodyPr wrap="square" rtlCol="0" anchor="ctr"/>
          <a:lstStyle/>
          <a:p>
            <a:pPr marL="0" indent="0" algn="ctr">
              <a:buNone/>
            </a:pPr>
            <a:r>
              <a:rPr lang="en-US" sz="5000" b="1" dirty="0">
                <a:solidFill>
                  <a:srgbClr val="F0F0F0"/>
                </a:solidFill>
                <a:latin typeface="Georgia" pitchFamily="34" charset="0"/>
                <a:ea typeface="Georgia" pitchFamily="34" charset="-122"/>
                <a:cs typeface="Georgia" pitchFamily="34" charset="-120"/>
              </a:rPr>
              <a:t>Sécurité &amp; Remédiation</a:t>
            </a:r>
            <a:endParaRPr lang="en-US" sz="5000" dirty="0"/>
          </a:p>
        </p:txBody>
      </p:sp>
      <p:sp>
        <p:nvSpPr>
          <p:cNvPr id="5" name="Text 3"/>
          <p:cNvSpPr/>
          <p:nvPr/>
        </p:nvSpPr>
        <p:spPr>
          <a:xfrm>
            <a:off x="0" y="4023360"/>
            <a:ext cx="12192000" cy="457200"/>
          </a:xfrm>
          <a:prstGeom prst="rect">
            <a:avLst/>
          </a:prstGeom>
          <a:noFill/>
          <a:ln/>
        </p:spPr>
        <p:txBody>
          <a:bodyPr wrap="square" rtlCol="0" anchor="ctr"/>
          <a:lstStyle/>
          <a:p>
            <a:pPr marL="0" indent="0" algn="ctr">
              <a:buNone/>
            </a:pPr>
            <a:r>
              <a:rPr lang="en-US" sz="1400" i="1" dirty="0">
                <a:solidFill>
                  <a:srgbClr val="888888"/>
                </a:solidFill>
                <a:latin typeface="Calibri" pitchFamily="34" charset="0"/>
                <a:ea typeface="Calibri" pitchFamily="34" charset="-122"/>
                <a:cs typeface="Calibri" pitchFamily="34" charset="-120"/>
              </a:rPr>
              <a:t>OWASP Top 10 · Plan de remédiation · Mesures préventives v2</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10972800" cy="182880"/>
          </a:xfrm>
          <a:prstGeom prst="rect">
            <a:avLst/>
          </a:prstGeom>
          <a:noFill/>
          <a:ln/>
        </p:spPr>
        <p:txBody>
          <a:bodyPr wrap="square" rtlCol="0" anchor="ctr"/>
          <a:lstStyle/>
          <a:p>
            <a:pPr marL="0" indent="0">
              <a:buNone/>
            </a:pPr>
            <a:r>
              <a:rPr lang="en-US" sz="800" dirty="0">
                <a:solidFill>
                  <a:srgbClr val="888888"/>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Shape 3"/>
          <p:cNvSpPr/>
          <p:nvPr/>
        </p:nvSpPr>
        <p:spPr>
          <a:xfrm>
            <a:off x="365760" y="1051560"/>
            <a:ext cx="2377440" cy="54864"/>
          </a:xfrm>
          <a:prstGeom prst="rect">
            <a:avLst/>
          </a:prstGeom>
          <a:solidFill>
            <a:srgbClr val="C0392B"/>
          </a:solidFill>
          <a:ln/>
        </p:spPr>
        <p:txBody>
          <a:bodyPr/>
          <a:lstStyle/>
          <a:p>
            <a:endParaRPr lang="fr-FR"/>
          </a:p>
        </p:txBody>
      </p:sp>
      <p:sp>
        <p:nvSpPr>
          <p:cNvPr id="6" name="Text 4"/>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ANALYSE SECURITE — OWASP TOP 10</a:t>
            </a:r>
            <a:endParaRPr lang="en-US" sz="1100" dirty="0"/>
          </a:p>
        </p:txBody>
      </p:sp>
      <p:sp>
        <p:nvSpPr>
          <p:cNvPr id="7" name="Text 5"/>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Georgia" pitchFamily="34" charset="0"/>
                <a:ea typeface="Georgia" pitchFamily="34" charset="-122"/>
                <a:cs typeface="Georgia" pitchFamily="34" charset="-120"/>
              </a:rPr>
              <a:t>7 vulnérabilités identifiées en v1</a:t>
            </a:r>
            <a:endParaRPr lang="en-US" sz="3400" dirty="0"/>
          </a:p>
        </p:txBody>
      </p:sp>
      <p:sp>
        <p:nvSpPr>
          <p:cNvPr id="8" name="Shape 6"/>
          <p:cNvSpPr/>
          <p:nvPr/>
        </p:nvSpPr>
        <p:spPr>
          <a:xfrm>
            <a:off x="274320" y="2606040"/>
            <a:ext cx="8686800" cy="457200"/>
          </a:xfrm>
          <a:prstGeom prst="rect">
            <a:avLst/>
          </a:prstGeom>
          <a:solidFill>
            <a:srgbClr val="1A1A2E"/>
          </a:solidFill>
          <a:ln w="12700">
            <a:solidFill>
              <a:srgbClr val="2A2A3E"/>
            </a:solidFill>
            <a:prstDash val="solid"/>
          </a:ln>
        </p:spPr>
        <p:txBody>
          <a:bodyPr/>
          <a:lstStyle/>
          <a:p>
            <a:endParaRPr lang="fr-FR"/>
          </a:p>
        </p:txBody>
      </p:sp>
      <p:sp>
        <p:nvSpPr>
          <p:cNvPr id="9" name="Text 7"/>
          <p:cNvSpPr/>
          <p:nvPr/>
        </p:nvSpPr>
        <p:spPr>
          <a:xfrm>
            <a:off x="411480" y="2651760"/>
            <a:ext cx="731520" cy="365760"/>
          </a:xfrm>
          <a:prstGeom prst="rect">
            <a:avLst/>
          </a:prstGeom>
          <a:noFill/>
          <a:ln/>
        </p:spPr>
        <p:txBody>
          <a:bodyPr wrap="square" rtlCol="0" anchor="ctr"/>
          <a:lstStyle/>
          <a:p>
            <a:pPr marL="0" indent="0">
              <a:buNone/>
            </a:pPr>
            <a:r>
              <a:rPr lang="en-US" sz="1000" b="1" dirty="0">
                <a:solidFill>
                  <a:srgbClr val="E74C3C"/>
                </a:solidFill>
                <a:latin typeface="Calibri" pitchFamily="34" charset="0"/>
                <a:ea typeface="Calibri" pitchFamily="34" charset="-122"/>
                <a:cs typeface="Calibri" pitchFamily="34" charset="-120"/>
              </a:rPr>
              <a:t>V-01</a:t>
            </a:r>
            <a:endParaRPr lang="en-US" sz="1000" dirty="0"/>
          </a:p>
        </p:txBody>
      </p:sp>
      <p:sp>
        <p:nvSpPr>
          <p:cNvPr id="10" name="Text 8"/>
          <p:cNvSpPr/>
          <p:nvPr/>
        </p:nvSpPr>
        <p:spPr>
          <a:xfrm>
            <a:off x="1188720" y="2651760"/>
            <a:ext cx="6400800" cy="36576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access_control: [] en dev</a:t>
            </a:r>
            <a:endParaRPr lang="en-US" sz="1100" dirty="0"/>
          </a:p>
        </p:txBody>
      </p:sp>
      <p:sp>
        <p:nvSpPr>
          <p:cNvPr id="11" name="Shape 9"/>
          <p:cNvSpPr/>
          <p:nvPr/>
        </p:nvSpPr>
        <p:spPr>
          <a:xfrm>
            <a:off x="9144000" y="2670048"/>
            <a:ext cx="2560320" cy="320040"/>
          </a:xfrm>
          <a:prstGeom prst="rect">
            <a:avLst/>
          </a:prstGeom>
          <a:solidFill>
            <a:srgbClr val="0D0D0D"/>
          </a:solidFill>
          <a:ln w="19050">
            <a:solidFill>
              <a:srgbClr val="E74C3C"/>
            </a:solidFill>
            <a:prstDash val="solid"/>
          </a:ln>
        </p:spPr>
        <p:txBody>
          <a:bodyPr/>
          <a:lstStyle/>
          <a:p>
            <a:endParaRPr lang="fr-FR"/>
          </a:p>
        </p:txBody>
      </p:sp>
      <p:sp>
        <p:nvSpPr>
          <p:cNvPr id="12" name="Text 10"/>
          <p:cNvSpPr/>
          <p:nvPr/>
        </p:nvSpPr>
        <p:spPr>
          <a:xfrm>
            <a:off x="9144000" y="2670048"/>
            <a:ext cx="2560320" cy="320040"/>
          </a:xfrm>
          <a:prstGeom prst="rect">
            <a:avLst/>
          </a:prstGeom>
          <a:noFill/>
          <a:ln/>
        </p:spPr>
        <p:txBody>
          <a:bodyPr wrap="square" rtlCol="0" anchor="ctr"/>
          <a:lstStyle/>
          <a:p>
            <a:pPr marL="0" indent="0" algn="ctr">
              <a:buNone/>
            </a:pPr>
            <a:r>
              <a:rPr lang="en-US" sz="900" b="1" dirty="0">
                <a:solidFill>
                  <a:srgbClr val="E74C3C"/>
                </a:solidFill>
                <a:latin typeface="Calibri" pitchFamily="34" charset="0"/>
                <a:ea typeface="Calibri" pitchFamily="34" charset="-122"/>
                <a:cs typeface="Calibri" pitchFamily="34" charset="-120"/>
              </a:rPr>
              <a:t>CRITIQUE</a:t>
            </a:r>
            <a:endParaRPr lang="en-US" sz="900" dirty="0"/>
          </a:p>
        </p:txBody>
      </p:sp>
      <p:sp>
        <p:nvSpPr>
          <p:cNvPr id="13" name="Shape 11"/>
          <p:cNvSpPr/>
          <p:nvPr/>
        </p:nvSpPr>
        <p:spPr>
          <a:xfrm>
            <a:off x="274320" y="3163824"/>
            <a:ext cx="8686800" cy="457200"/>
          </a:xfrm>
          <a:prstGeom prst="rect">
            <a:avLst/>
          </a:prstGeom>
          <a:solidFill>
            <a:srgbClr val="1A1A2E"/>
          </a:solidFill>
          <a:ln w="12700">
            <a:solidFill>
              <a:srgbClr val="2A2A3E"/>
            </a:solidFill>
            <a:prstDash val="solid"/>
          </a:ln>
        </p:spPr>
        <p:txBody>
          <a:bodyPr/>
          <a:lstStyle/>
          <a:p>
            <a:endParaRPr lang="fr-FR"/>
          </a:p>
        </p:txBody>
      </p:sp>
      <p:sp>
        <p:nvSpPr>
          <p:cNvPr id="14" name="Text 12"/>
          <p:cNvSpPr/>
          <p:nvPr/>
        </p:nvSpPr>
        <p:spPr>
          <a:xfrm>
            <a:off x="411480" y="3209544"/>
            <a:ext cx="731520" cy="365760"/>
          </a:xfrm>
          <a:prstGeom prst="rect">
            <a:avLst/>
          </a:prstGeom>
          <a:noFill/>
          <a:ln/>
        </p:spPr>
        <p:txBody>
          <a:bodyPr wrap="square" rtlCol="0" anchor="ctr"/>
          <a:lstStyle/>
          <a:p>
            <a:pPr marL="0" indent="0">
              <a:buNone/>
            </a:pPr>
            <a:r>
              <a:rPr lang="en-US" sz="1000" b="1" dirty="0">
                <a:solidFill>
                  <a:srgbClr val="E67E22"/>
                </a:solidFill>
                <a:latin typeface="Calibri" pitchFamily="34" charset="0"/>
                <a:ea typeface="Calibri" pitchFamily="34" charset="-122"/>
                <a:cs typeface="Calibri" pitchFamily="34" charset="-120"/>
              </a:rPr>
              <a:t>V-02</a:t>
            </a:r>
            <a:endParaRPr lang="en-US" sz="1000" dirty="0"/>
          </a:p>
        </p:txBody>
      </p:sp>
      <p:sp>
        <p:nvSpPr>
          <p:cNvPr id="15" name="Text 13"/>
          <p:cNvSpPr/>
          <p:nvPr/>
        </p:nvSpPr>
        <p:spPr>
          <a:xfrm>
            <a:off x="1188720" y="3209544"/>
            <a:ext cx="6400800" cy="36576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SQLite sans chiffrement en prod</a:t>
            </a:r>
            <a:endParaRPr lang="en-US" sz="1100" dirty="0"/>
          </a:p>
        </p:txBody>
      </p:sp>
      <p:sp>
        <p:nvSpPr>
          <p:cNvPr id="16" name="Shape 14"/>
          <p:cNvSpPr/>
          <p:nvPr/>
        </p:nvSpPr>
        <p:spPr>
          <a:xfrm>
            <a:off x="9144000" y="3227832"/>
            <a:ext cx="2560320" cy="320040"/>
          </a:xfrm>
          <a:prstGeom prst="rect">
            <a:avLst/>
          </a:prstGeom>
          <a:solidFill>
            <a:srgbClr val="0D0D0D"/>
          </a:solidFill>
          <a:ln w="19050">
            <a:solidFill>
              <a:srgbClr val="E67E22"/>
            </a:solidFill>
            <a:prstDash val="solid"/>
          </a:ln>
        </p:spPr>
        <p:txBody>
          <a:bodyPr/>
          <a:lstStyle/>
          <a:p>
            <a:endParaRPr lang="fr-FR"/>
          </a:p>
        </p:txBody>
      </p:sp>
      <p:sp>
        <p:nvSpPr>
          <p:cNvPr id="17" name="Text 15"/>
          <p:cNvSpPr/>
          <p:nvPr/>
        </p:nvSpPr>
        <p:spPr>
          <a:xfrm>
            <a:off x="9144000" y="3227832"/>
            <a:ext cx="2560320" cy="320040"/>
          </a:xfrm>
          <a:prstGeom prst="rect">
            <a:avLst/>
          </a:prstGeom>
          <a:noFill/>
          <a:ln/>
        </p:spPr>
        <p:txBody>
          <a:bodyPr wrap="square" rtlCol="0" anchor="ctr"/>
          <a:lstStyle/>
          <a:p>
            <a:pPr marL="0" indent="0" algn="ctr">
              <a:buNone/>
            </a:pPr>
            <a:r>
              <a:rPr lang="en-US" sz="900" b="1" dirty="0">
                <a:solidFill>
                  <a:srgbClr val="E67E22"/>
                </a:solidFill>
                <a:latin typeface="Calibri" pitchFamily="34" charset="0"/>
                <a:ea typeface="Calibri" pitchFamily="34" charset="-122"/>
                <a:cs typeface="Calibri" pitchFamily="34" charset="-120"/>
              </a:rPr>
              <a:t>HAUTE</a:t>
            </a:r>
            <a:endParaRPr lang="en-US" sz="900" dirty="0"/>
          </a:p>
        </p:txBody>
      </p:sp>
      <p:sp>
        <p:nvSpPr>
          <p:cNvPr id="18" name="Shape 16"/>
          <p:cNvSpPr/>
          <p:nvPr/>
        </p:nvSpPr>
        <p:spPr>
          <a:xfrm>
            <a:off x="274320" y="3721608"/>
            <a:ext cx="8686800" cy="457200"/>
          </a:xfrm>
          <a:prstGeom prst="rect">
            <a:avLst/>
          </a:prstGeom>
          <a:solidFill>
            <a:srgbClr val="1A1A2E"/>
          </a:solidFill>
          <a:ln w="12700">
            <a:solidFill>
              <a:srgbClr val="2A2A3E"/>
            </a:solidFill>
            <a:prstDash val="solid"/>
          </a:ln>
        </p:spPr>
        <p:txBody>
          <a:bodyPr/>
          <a:lstStyle/>
          <a:p>
            <a:endParaRPr lang="fr-FR"/>
          </a:p>
        </p:txBody>
      </p:sp>
      <p:sp>
        <p:nvSpPr>
          <p:cNvPr id="19" name="Text 17"/>
          <p:cNvSpPr/>
          <p:nvPr/>
        </p:nvSpPr>
        <p:spPr>
          <a:xfrm>
            <a:off x="411480" y="3767328"/>
            <a:ext cx="731520" cy="365760"/>
          </a:xfrm>
          <a:prstGeom prst="rect">
            <a:avLst/>
          </a:prstGeom>
          <a:noFill/>
          <a:ln/>
        </p:spPr>
        <p:txBody>
          <a:bodyPr wrap="square" rtlCol="0" anchor="ctr"/>
          <a:lstStyle/>
          <a:p>
            <a:pPr marL="0" indent="0">
              <a:buNone/>
            </a:pPr>
            <a:r>
              <a:rPr lang="en-US" sz="1000" b="1" dirty="0">
                <a:solidFill>
                  <a:srgbClr val="E74C3C"/>
                </a:solidFill>
                <a:latin typeface="Calibri" pitchFamily="34" charset="0"/>
                <a:ea typeface="Calibri" pitchFamily="34" charset="-122"/>
                <a:cs typeface="Calibri" pitchFamily="34" charset="-120"/>
              </a:rPr>
              <a:t>V-03</a:t>
            </a:r>
            <a:endParaRPr lang="en-US" sz="1000" dirty="0"/>
          </a:p>
        </p:txBody>
      </p:sp>
      <p:sp>
        <p:nvSpPr>
          <p:cNvPr id="20" name="Text 18"/>
          <p:cNvSpPr/>
          <p:nvPr/>
        </p:nvSpPr>
        <p:spPr>
          <a:xfrm>
            <a:off x="1188720" y="3767328"/>
            <a:ext cx="6400800" cy="36576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APP_SECRET potentiellement exposé</a:t>
            </a:r>
            <a:endParaRPr lang="en-US" sz="1100" dirty="0"/>
          </a:p>
        </p:txBody>
      </p:sp>
      <p:sp>
        <p:nvSpPr>
          <p:cNvPr id="21" name="Shape 19"/>
          <p:cNvSpPr/>
          <p:nvPr/>
        </p:nvSpPr>
        <p:spPr>
          <a:xfrm>
            <a:off x="9144000" y="3785616"/>
            <a:ext cx="2560320" cy="320040"/>
          </a:xfrm>
          <a:prstGeom prst="rect">
            <a:avLst/>
          </a:prstGeom>
          <a:solidFill>
            <a:srgbClr val="0D0D0D"/>
          </a:solidFill>
          <a:ln w="19050">
            <a:solidFill>
              <a:srgbClr val="E74C3C"/>
            </a:solidFill>
            <a:prstDash val="solid"/>
          </a:ln>
        </p:spPr>
        <p:txBody>
          <a:bodyPr/>
          <a:lstStyle/>
          <a:p>
            <a:endParaRPr lang="fr-FR"/>
          </a:p>
        </p:txBody>
      </p:sp>
      <p:sp>
        <p:nvSpPr>
          <p:cNvPr id="22" name="Text 20"/>
          <p:cNvSpPr/>
          <p:nvPr/>
        </p:nvSpPr>
        <p:spPr>
          <a:xfrm>
            <a:off x="9144000" y="3785616"/>
            <a:ext cx="2560320" cy="320040"/>
          </a:xfrm>
          <a:prstGeom prst="rect">
            <a:avLst/>
          </a:prstGeom>
          <a:noFill/>
          <a:ln/>
        </p:spPr>
        <p:txBody>
          <a:bodyPr wrap="square" rtlCol="0" anchor="ctr"/>
          <a:lstStyle/>
          <a:p>
            <a:pPr marL="0" indent="0" algn="ctr">
              <a:buNone/>
            </a:pPr>
            <a:r>
              <a:rPr lang="en-US" sz="900" b="1" dirty="0">
                <a:solidFill>
                  <a:srgbClr val="E74C3C"/>
                </a:solidFill>
                <a:latin typeface="Calibri" pitchFamily="34" charset="0"/>
                <a:ea typeface="Calibri" pitchFamily="34" charset="-122"/>
                <a:cs typeface="Calibri" pitchFamily="34" charset="-120"/>
              </a:rPr>
              <a:t>CRITIQUE</a:t>
            </a:r>
            <a:endParaRPr lang="en-US" sz="900" dirty="0"/>
          </a:p>
        </p:txBody>
      </p:sp>
      <p:sp>
        <p:nvSpPr>
          <p:cNvPr id="23" name="Shape 21"/>
          <p:cNvSpPr/>
          <p:nvPr/>
        </p:nvSpPr>
        <p:spPr>
          <a:xfrm>
            <a:off x="274320" y="4279392"/>
            <a:ext cx="8686800" cy="457200"/>
          </a:xfrm>
          <a:prstGeom prst="rect">
            <a:avLst/>
          </a:prstGeom>
          <a:solidFill>
            <a:srgbClr val="1A1A2E"/>
          </a:solidFill>
          <a:ln w="12700">
            <a:solidFill>
              <a:srgbClr val="2A2A3E"/>
            </a:solidFill>
            <a:prstDash val="solid"/>
          </a:ln>
        </p:spPr>
        <p:txBody>
          <a:bodyPr/>
          <a:lstStyle/>
          <a:p>
            <a:endParaRPr lang="fr-FR"/>
          </a:p>
        </p:txBody>
      </p:sp>
      <p:sp>
        <p:nvSpPr>
          <p:cNvPr id="24" name="Text 22"/>
          <p:cNvSpPr/>
          <p:nvPr/>
        </p:nvSpPr>
        <p:spPr>
          <a:xfrm>
            <a:off x="411480" y="4325112"/>
            <a:ext cx="731520" cy="365760"/>
          </a:xfrm>
          <a:prstGeom prst="rect">
            <a:avLst/>
          </a:prstGeom>
          <a:noFill/>
          <a:ln/>
        </p:spPr>
        <p:txBody>
          <a:bodyPr wrap="square" rtlCol="0" anchor="ctr"/>
          <a:lstStyle/>
          <a:p>
            <a:pPr marL="0" indent="0">
              <a:buNone/>
            </a:pPr>
            <a:r>
              <a:rPr lang="en-US" sz="1000" b="1" dirty="0">
                <a:solidFill>
                  <a:srgbClr val="E67E22"/>
                </a:solidFill>
                <a:latin typeface="Calibri" pitchFamily="34" charset="0"/>
                <a:ea typeface="Calibri" pitchFamily="34" charset="-122"/>
                <a:cs typeface="Calibri" pitchFamily="34" charset="-120"/>
              </a:rPr>
              <a:t>V-04</a:t>
            </a:r>
            <a:endParaRPr lang="en-US" sz="1000" dirty="0"/>
          </a:p>
        </p:txBody>
      </p:sp>
      <p:sp>
        <p:nvSpPr>
          <p:cNvPr id="25" name="Text 23"/>
          <p:cNvSpPr/>
          <p:nvPr/>
        </p:nvSpPr>
        <p:spPr>
          <a:xfrm>
            <a:off x="1188720" y="4325112"/>
            <a:ext cx="6400800" cy="36576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Pas de rate limiting sur /api/*</a:t>
            </a:r>
            <a:endParaRPr lang="en-US" sz="1100" dirty="0"/>
          </a:p>
        </p:txBody>
      </p:sp>
      <p:sp>
        <p:nvSpPr>
          <p:cNvPr id="26" name="Shape 24"/>
          <p:cNvSpPr/>
          <p:nvPr/>
        </p:nvSpPr>
        <p:spPr>
          <a:xfrm>
            <a:off x="9144000" y="4343400"/>
            <a:ext cx="2560320" cy="320040"/>
          </a:xfrm>
          <a:prstGeom prst="rect">
            <a:avLst/>
          </a:prstGeom>
          <a:solidFill>
            <a:srgbClr val="0D0D0D"/>
          </a:solidFill>
          <a:ln w="19050">
            <a:solidFill>
              <a:srgbClr val="E67E22"/>
            </a:solidFill>
            <a:prstDash val="solid"/>
          </a:ln>
        </p:spPr>
        <p:txBody>
          <a:bodyPr/>
          <a:lstStyle/>
          <a:p>
            <a:endParaRPr lang="fr-FR"/>
          </a:p>
        </p:txBody>
      </p:sp>
      <p:sp>
        <p:nvSpPr>
          <p:cNvPr id="27" name="Text 25"/>
          <p:cNvSpPr/>
          <p:nvPr/>
        </p:nvSpPr>
        <p:spPr>
          <a:xfrm>
            <a:off x="9144000" y="4343400"/>
            <a:ext cx="2560320" cy="320040"/>
          </a:xfrm>
          <a:prstGeom prst="rect">
            <a:avLst/>
          </a:prstGeom>
          <a:noFill/>
          <a:ln/>
        </p:spPr>
        <p:txBody>
          <a:bodyPr wrap="square" rtlCol="0" anchor="ctr"/>
          <a:lstStyle/>
          <a:p>
            <a:pPr marL="0" indent="0" algn="ctr">
              <a:buNone/>
            </a:pPr>
            <a:r>
              <a:rPr lang="en-US" sz="900" b="1" dirty="0">
                <a:solidFill>
                  <a:srgbClr val="E67E22"/>
                </a:solidFill>
                <a:latin typeface="Calibri" pitchFamily="34" charset="0"/>
                <a:ea typeface="Calibri" pitchFamily="34" charset="-122"/>
                <a:cs typeface="Calibri" pitchFamily="34" charset="-120"/>
              </a:rPr>
              <a:t>HAUTE</a:t>
            </a:r>
            <a:endParaRPr lang="en-US" sz="900" dirty="0"/>
          </a:p>
        </p:txBody>
      </p:sp>
      <p:sp>
        <p:nvSpPr>
          <p:cNvPr id="28" name="Shape 26"/>
          <p:cNvSpPr/>
          <p:nvPr/>
        </p:nvSpPr>
        <p:spPr>
          <a:xfrm>
            <a:off x="274320" y="4837176"/>
            <a:ext cx="8686800" cy="457200"/>
          </a:xfrm>
          <a:prstGeom prst="rect">
            <a:avLst/>
          </a:prstGeom>
          <a:solidFill>
            <a:srgbClr val="1A1A2E"/>
          </a:solidFill>
          <a:ln w="12700">
            <a:solidFill>
              <a:srgbClr val="2A2A3E"/>
            </a:solidFill>
            <a:prstDash val="solid"/>
          </a:ln>
        </p:spPr>
        <p:txBody>
          <a:bodyPr/>
          <a:lstStyle/>
          <a:p>
            <a:endParaRPr lang="fr-FR"/>
          </a:p>
        </p:txBody>
      </p:sp>
      <p:sp>
        <p:nvSpPr>
          <p:cNvPr id="29" name="Text 27"/>
          <p:cNvSpPr/>
          <p:nvPr/>
        </p:nvSpPr>
        <p:spPr>
          <a:xfrm>
            <a:off x="411480" y="4882896"/>
            <a:ext cx="731520" cy="365760"/>
          </a:xfrm>
          <a:prstGeom prst="rect">
            <a:avLst/>
          </a:prstGeom>
          <a:noFill/>
          <a:ln/>
        </p:spPr>
        <p:txBody>
          <a:bodyPr wrap="square" rtlCol="0" anchor="ctr"/>
          <a:lstStyle/>
          <a:p>
            <a:pPr marL="0" indent="0">
              <a:buNone/>
            </a:pPr>
            <a:r>
              <a:rPr lang="en-US" sz="1000" b="1" dirty="0">
                <a:solidFill>
                  <a:srgbClr val="F39C12"/>
                </a:solidFill>
                <a:latin typeface="Calibri" pitchFamily="34" charset="0"/>
                <a:ea typeface="Calibri" pitchFamily="34" charset="-122"/>
                <a:cs typeface="Calibri" pitchFamily="34" charset="-120"/>
              </a:rPr>
              <a:t>V-05</a:t>
            </a:r>
            <a:endParaRPr lang="en-US" sz="1000" dirty="0"/>
          </a:p>
        </p:txBody>
      </p:sp>
      <p:sp>
        <p:nvSpPr>
          <p:cNvPr id="30" name="Text 28"/>
          <p:cNvSpPr/>
          <p:nvPr/>
        </p:nvSpPr>
        <p:spPr>
          <a:xfrm>
            <a:off x="1188720" y="4882896"/>
            <a:ext cx="6400800" cy="36576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Headers CSP / HSTS absents</a:t>
            </a:r>
            <a:endParaRPr lang="en-US" sz="1100" dirty="0"/>
          </a:p>
        </p:txBody>
      </p:sp>
      <p:sp>
        <p:nvSpPr>
          <p:cNvPr id="31" name="Shape 29"/>
          <p:cNvSpPr/>
          <p:nvPr/>
        </p:nvSpPr>
        <p:spPr>
          <a:xfrm>
            <a:off x="9144000" y="4901184"/>
            <a:ext cx="2560320" cy="320040"/>
          </a:xfrm>
          <a:prstGeom prst="rect">
            <a:avLst/>
          </a:prstGeom>
          <a:solidFill>
            <a:srgbClr val="0D0D0D"/>
          </a:solidFill>
          <a:ln w="19050">
            <a:solidFill>
              <a:srgbClr val="F39C12"/>
            </a:solidFill>
            <a:prstDash val="solid"/>
          </a:ln>
        </p:spPr>
        <p:txBody>
          <a:bodyPr/>
          <a:lstStyle/>
          <a:p>
            <a:endParaRPr lang="fr-FR"/>
          </a:p>
        </p:txBody>
      </p:sp>
      <p:sp>
        <p:nvSpPr>
          <p:cNvPr id="32" name="Text 30"/>
          <p:cNvSpPr/>
          <p:nvPr/>
        </p:nvSpPr>
        <p:spPr>
          <a:xfrm>
            <a:off x="9144000" y="4901184"/>
            <a:ext cx="2560320" cy="320040"/>
          </a:xfrm>
          <a:prstGeom prst="rect">
            <a:avLst/>
          </a:prstGeom>
          <a:noFill/>
          <a:ln/>
        </p:spPr>
        <p:txBody>
          <a:bodyPr wrap="square" rtlCol="0" anchor="ctr"/>
          <a:lstStyle/>
          <a:p>
            <a:pPr marL="0" indent="0" algn="ctr">
              <a:buNone/>
            </a:pPr>
            <a:r>
              <a:rPr lang="en-US" sz="900" b="1" dirty="0">
                <a:solidFill>
                  <a:srgbClr val="F39C12"/>
                </a:solidFill>
                <a:latin typeface="Calibri" pitchFamily="34" charset="0"/>
                <a:ea typeface="Calibri" pitchFamily="34" charset="-122"/>
                <a:cs typeface="Calibri" pitchFamily="34" charset="-120"/>
              </a:rPr>
              <a:t>MOYENNE</a:t>
            </a:r>
            <a:endParaRPr lang="en-US" sz="900" dirty="0"/>
          </a:p>
        </p:txBody>
      </p:sp>
      <p:sp>
        <p:nvSpPr>
          <p:cNvPr id="33" name="Shape 31"/>
          <p:cNvSpPr/>
          <p:nvPr/>
        </p:nvSpPr>
        <p:spPr>
          <a:xfrm>
            <a:off x="274320" y="5394960"/>
            <a:ext cx="8686800" cy="457200"/>
          </a:xfrm>
          <a:prstGeom prst="rect">
            <a:avLst/>
          </a:prstGeom>
          <a:solidFill>
            <a:srgbClr val="1A1A2E"/>
          </a:solidFill>
          <a:ln w="12700">
            <a:solidFill>
              <a:srgbClr val="2A2A3E"/>
            </a:solidFill>
            <a:prstDash val="solid"/>
          </a:ln>
        </p:spPr>
        <p:txBody>
          <a:bodyPr/>
          <a:lstStyle/>
          <a:p>
            <a:endParaRPr lang="fr-FR"/>
          </a:p>
        </p:txBody>
      </p:sp>
      <p:sp>
        <p:nvSpPr>
          <p:cNvPr id="34" name="Text 32"/>
          <p:cNvSpPr/>
          <p:nvPr/>
        </p:nvSpPr>
        <p:spPr>
          <a:xfrm>
            <a:off x="411480" y="5440680"/>
            <a:ext cx="731520" cy="365760"/>
          </a:xfrm>
          <a:prstGeom prst="rect">
            <a:avLst/>
          </a:prstGeom>
          <a:noFill/>
          <a:ln/>
        </p:spPr>
        <p:txBody>
          <a:bodyPr wrap="square" rtlCol="0" anchor="ctr"/>
          <a:lstStyle/>
          <a:p>
            <a:pPr marL="0" indent="0">
              <a:buNone/>
            </a:pPr>
            <a:r>
              <a:rPr lang="en-US" sz="1000" b="1" dirty="0">
                <a:solidFill>
                  <a:srgbClr val="F39C12"/>
                </a:solidFill>
                <a:latin typeface="Calibri" pitchFamily="34" charset="0"/>
                <a:ea typeface="Calibri" pitchFamily="34" charset="-122"/>
                <a:cs typeface="Calibri" pitchFamily="34" charset="-120"/>
              </a:rPr>
              <a:t>V-06</a:t>
            </a:r>
            <a:endParaRPr lang="en-US" sz="1000" dirty="0"/>
          </a:p>
        </p:txBody>
      </p:sp>
      <p:sp>
        <p:nvSpPr>
          <p:cNvPr id="35" name="Text 33"/>
          <p:cNvSpPr/>
          <p:nvPr/>
        </p:nvSpPr>
        <p:spPr>
          <a:xfrm>
            <a:off x="1188720" y="5440680"/>
            <a:ext cx="6400800" cy="36576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Logs sans anonymisation RGPD</a:t>
            </a:r>
            <a:endParaRPr lang="en-US" sz="1100" dirty="0"/>
          </a:p>
        </p:txBody>
      </p:sp>
      <p:sp>
        <p:nvSpPr>
          <p:cNvPr id="36" name="Shape 34"/>
          <p:cNvSpPr/>
          <p:nvPr/>
        </p:nvSpPr>
        <p:spPr>
          <a:xfrm>
            <a:off x="9144000" y="5458968"/>
            <a:ext cx="2560320" cy="320040"/>
          </a:xfrm>
          <a:prstGeom prst="rect">
            <a:avLst/>
          </a:prstGeom>
          <a:solidFill>
            <a:srgbClr val="0D0D0D"/>
          </a:solidFill>
          <a:ln w="19050">
            <a:solidFill>
              <a:srgbClr val="F39C12"/>
            </a:solidFill>
            <a:prstDash val="solid"/>
          </a:ln>
        </p:spPr>
        <p:txBody>
          <a:bodyPr/>
          <a:lstStyle/>
          <a:p>
            <a:endParaRPr lang="fr-FR"/>
          </a:p>
        </p:txBody>
      </p:sp>
      <p:sp>
        <p:nvSpPr>
          <p:cNvPr id="37" name="Text 35"/>
          <p:cNvSpPr/>
          <p:nvPr/>
        </p:nvSpPr>
        <p:spPr>
          <a:xfrm>
            <a:off x="9144000" y="5458968"/>
            <a:ext cx="2560320" cy="320040"/>
          </a:xfrm>
          <a:prstGeom prst="rect">
            <a:avLst/>
          </a:prstGeom>
          <a:noFill/>
          <a:ln/>
        </p:spPr>
        <p:txBody>
          <a:bodyPr wrap="square" rtlCol="0" anchor="ctr"/>
          <a:lstStyle/>
          <a:p>
            <a:pPr marL="0" indent="0" algn="ctr">
              <a:buNone/>
            </a:pPr>
            <a:r>
              <a:rPr lang="en-US" sz="900" b="1" dirty="0">
                <a:solidFill>
                  <a:srgbClr val="F39C12"/>
                </a:solidFill>
                <a:latin typeface="Calibri" pitchFamily="34" charset="0"/>
                <a:ea typeface="Calibri" pitchFamily="34" charset="-122"/>
                <a:cs typeface="Calibri" pitchFamily="34" charset="-120"/>
              </a:rPr>
              <a:t>MOYENNE</a:t>
            </a:r>
            <a:endParaRPr lang="en-US" sz="900" dirty="0"/>
          </a:p>
        </p:txBody>
      </p:sp>
      <p:sp>
        <p:nvSpPr>
          <p:cNvPr id="38" name="Shape 36"/>
          <p:cNvSpPr/>
          <p:nvPr/>
        </p:nvSpPr>
        <p:spPr>
          <a:xfrm>
            <a:off x="274320" y="5952744"/>
            <a:ext cx="8686800" cy="457200"/>
          </a:xfrm>
          <a:prstGeom prst="rect">
            <a:avLst/>
          </a:prstGeom>
          <a:solidFill>
            <a:srgbClr val="1A1A2E"/>
          </a:solidFill>
          <a:ln w="12700">
            <a:solidFill>
              <a:srgbClr val="2A2A3E"/>
            </a:solidFill>
            <a:prstDash val="solid"/>
          </a:ln>
        </p:spPr>
        <p:txBody>
          <a:bodyPr/>
          <a:lstStyle/>
          <a:p>
            <a:endParaRPr lang="fr-FR"/>
          </a:p>
        </p:txBody>
      </p:sp>
      <p:sp>
        <p:nvSpPr>
          <p:cNvPr id="39" name="Text 37"/>
          <p:cNvSpPr/>
          <p:nvPr/>
        </p:nvSpPr>
        <p:spPr>
          <a:xfrm>
            <a:off x="411480" y="5998464"/>
            <a:ext cx="731520" cy="365760"/>
          </a:xfrm>
          <a:prstGeom prst="rect">
            <a:avLst/>
          </a:prstGeom>
          <a:noFill/>
          <a:ln/>
        </p:spPr>
        <p:txBody>
          <a:bodyPr wrap="square" rtlCol="0" anchor="ctr"/>
          <a:lstStyle/>
          <a:p>
            <a:pPr marL="0" indent="0">
              <a:buNone/>
            </a:pPr>
            <a:r>
              <a:rPr lang="en-US" sz="1000" b="1" dirty="0">
                <a:solidFill>
                  <a:srgbClr val="888888"/>
                </a:solidFill>
                <a:latin typeface="Calibri" pitchFamily="34" charset="0"/>
                <a:ea typeface="Calibri" pitchFamily="34" charset="-122"/>
                <a:cs typeface="Calibri" pitchFamily="34" charset="-120"/>
              </a:rPr>
              <a:t>V-07</a:t>
            </a:r>
            <a:endParaRPr lang="en-US" sz="1000" dirty="0"/>
          </a:p>
        </p:txBody>
      </p:sp>
      <p:sp>
        <p:nvSpPr>
          <p:cNvPr id="40" name="Text 38"/>
          <p:cNvSpPr/>
          <p:nvPr/>
        </p:nvSpPr>
        <p:spPr>
          <a:xfrm>
            <a:off x="1188720" y="5998464"/>
            <a:ext cx="6400800" cy="36576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Image Docker php:8.2-apache (large)</a:t>
            </a:r>
            <a:endParaRPr lang="en-US" sz="1100" dirty="0"/>
          </a:p>
        </p:txBody>
      </p:sp>
      <p:sp>
        <p:nvSpPr>
          <p:cNvPr id="41" name="Shape 39"/>
          <p:cNvSpPr/>
          <p:nvPr/>
        </p:nvSpPr>
        <p:spPr>
          <a:xfrm>
            <a:off x="9144000" y="6016752"/>
            <a:ext cx="2560320" cy="320040"/>
          </a:xfrm>
          <a:prstGeom prst="rect">
            <a:avLst/>
          </a:prstGeom>
          <a:solidFill>
            <a:srgbClr val="0D0D0D"/>
          </a:solidFill>
          <a:ln w="19050">
            <a:solidFill>
              <a:srgbClr val="888888"/>
            </a:solidFill>
            <a:prstDash val="solid"/>
          </a:ln>
        </p:spPr>
        <p:txBody>
          <a:bodyPr/>
          <a:lstStyle/>
          <a:p>
            <a:endParaRPr lang="fr-FR"/>
          </a:p>
        </p:txBody>
      </p:sp>
      <p:sp>
        <p:nvSpPr>
          <p:cNvPr id="42" name="Text 40"/>
          <p:cNvSpPr/>
          <p:nvPr/>
        </p:nvSpPr>
        <p:spPr>
          <a:xfrm>
            <a:off x="9144000" y="6016752"/>
            <a:ext cx="2560320" cy="320040"/>
          </a:xfrm>
          <a:prstGeom prst="rect">
            <a:avLst/>
          </a:prstGeom>
          <a:noFill/>
          <a:ln/>
        </p:spPr>
        <p:txBody>
          <a:bodyPr wrap="square" rtlCol="0" anchor="ctr"/>
          <a:lstStyle/>
          <a:p>
            <a:pPr marL="0" indent="0" algn="ctr">
              <a:buNone/>
            </a:pPr>
            <a:r>
              <a:rPr lang="en-US" sz="900" b="1" dirty="0">
                <a:solidFill>
                  <a:srgbClr val="888888"/>
                </a:solidFill>
                <a:latin typeface="Calibri" pitchFamily="34" charset="0"/>
                <a:ea typeface="Calibri" pitchFamily="34" charset="-122"/>
                <a:cs typeface="Calibri" pitchFamily="34" charset="-120"/>
              </a:rPr>
              <a:t>BASSE</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10972800" cy="182880"/>
          </a:xfrm>
          <a:prstGeom prst="rect">
            <a:avLst/>
          </a:prstGeom>
          <a:noFill/>
          <a:ln/>
        </p:spPr>
        <p:txBody>
          <a:bodyPr wrap="square" rtlCol="0" anchor="ctr"/>
          <a:lstStyle/>
          <a:p>
            <a:pPr marL="0" indent="0">
              <a:buNone/>
            </a:pPr>
            <a:r>
              <a:rPr lang="en-US" sz="800" dirty="0">
                <a:solidFill>
                  <a:srgbClr val="888888"/>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Shape 3"/>
          <p:cNvSpPr/>
          <p:nvPr/>
        </p:nvSpPr>
        <p:spPr>
          <a:xfrm>
            <a:off x="365760" y="1051560"/>
            <a:ext cx="2377440" cy="54864"/>
          </a:xfrm>
          <a:prstGeom prst="rect">
            <a:avLst/>
          </a:prstGeom>
          <a:solidFill>
            <a:srgbClr val="C0392B"/>
          </a:solidFill>
          <a:ln/>
        </p:spPr>
        <p:txBody>
          <a:bodyPr/>
          <a:lstStyle/>
          <a:p>
            <a:endParaRPr lang="fr-FR"/>
          </a:p>
        </p:txBody>
      </p:sp>
      <p:sp>
        <p:nvSpPr>
          <p:cNvPr id="6" name="Text 4"/>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PLAN DE REMEDIATION</a:t>
            </a:r>
            <a:endParaRPr lang="en-US" sz="1100" dirty="0"/>
          </a:p>
        </p:txBody>
      </p:sp>
      <p:sp>
        <p:nvSpPr>
          <p:cNvPr id="7" name="Text 5"/>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Georgia" pitchFamily="34" charset="0"/>
                <a:ea typeface="Georgia" pitchFamily="34" charset="-122"/>
                <a:cs typeface="Georgia" pitchFamily="34" charset="-120"/>
              </a:rPr>
              <a:t>3 sprints — du critique au préventif</a:t>
            </a:r>
            <a:endParaRPr lang="en-US" sz="3400" dirty="0"/>
          </a:p>
        </p:txBody>
      </p:sp>
      <p:sp>
        <p:nvSpPr>
          <p:cNvPr id="8" name="Shape 6"/>
          <p:cNvSpPr/>
          <p:nvPr/>
        </p:nvSpPr>
        <p:spPr>
          <a:xfrm>
            <a:off x="365760" y="2743200"/>
            <a:ext cx="3657600" cy="3657600"/>
          </a:xfrm>
          <a:prstGeom prst="rect">
            <a:avLst/>
          </a:prstGeom>
          <a:solidFill>
            <a:srgbClr val="2E1A1A"/>
          </a:solidFill>
          <a:ln w="19050">
            <a:solidFill>
              <a:srgbClr val="C0392B"/>
            </a:solidFill>
            <a:prstDash val="solid"/>
          </a:ln>
        </p:spPr>
        <p:txBody>
          <a:bodyPr/>
          <a:lstStyle/>
          <a:p>
            <a:endParaRPr lang="fr-FR"/>
          </a:p>
        </p:txBody>
      </p:sp>
      <p:sp>
        <p:nvSpPr>
          <p:cNvPr id="9" name="Text 7"/>
          <p:cNvSpPr/>
          <p:nvPr/>
        </p:nvSpPr>
        <p:spPr>
          <a:xfrm>
            <a:off x="502920" y="2834640"/>
            <a:ext cx="3383280" cy="640080"/>
          </a:xfrm>
          <a:prstGeom prst="rect">
            <a:avLst/>
          </a:prstGeom>
          <a:noFill/>
          <a:ln/>
        </p:spPr>
        <p:txBody>
          <a:bodyPr wrap="square" rtlCol="0" anchor="ctr"/>
          <a:lstStyle/>
          <a:p>
            <a:pPr marL="0" indent="0" algn="ctr">
              <a:buNone/>
            </a:pPr>
            <a:r>
              <a:rPr lang="en-US" sz="1400" b="1" dirty="0">
                <a:solidFill>
                  <a:srgbClr val="F0F0F0"/>
                </a:solidFill>
                <a:latin typeface="Georgia" pitchFamily="34" charset="0"/>
                <a:ea typeface="Georgia" pitchFamily="34" charset="-122"/>
                <a:cs typeface="Georgia" pitchFamily="34" charset="-120"/>
              </a:rPr>
              <a:t>Sprint 1</a:t>
            </a:r>
            <a:endParaRPr lang="en-US" sz="1400" dirty="0"/>
          </a:p>
          <a:p>
            <a:pPr marL="0" indent="0" algn="ctr">
              <a:buNone/>
            </a:pPr>
            <a:r>
              <a:rPr lang="en-US" sz="1400" b="1" dirty="0">
                <a:solidFill>
                  <a:srgbClr val="F0F0F0"/>
                </a:solidFill>
                <a:latin typeface="Georgia" pitchFamily="34" charset="0"/>
                <a:ea typeface="Georgia" pitchFamily="34" charset="-122"/>
                <a:cs typeface="Georgia" pitchFamily="34" charset="-120"/>
              </a:rPr>
              <a:t>Immédiat</a:t>
            </a:r>
            <a:endParaRPr lang="en-US" sz="1400" dirty="0"/>
          </a:p>
        </p:txBody>
      </p:sp>
      <p:sp>
        <p:nvSpPr>
          <p:cNvPr id="10" name="Shape 8"/>
          <p:cNvSpPr/>
          <p:nvPr/>
        </p:nvSpPr>
        <p:spPr>
          <a:xfrm>
            <a:off x="822960" y="3520440"/>
            <a:ext cx="2743200" cy="45720"/>
          </a:xfrm>
          <a:prstGeom prst="rect">
            <a:avLst/>
          </a:prstGeom>
          <a:solidFill>
            <a:srgbClr val="C0392B"/>
          </a:solidFill>
          <a:ln/>
        </p:spPr>
        <p:txBody>
          <a:bodyPr/>
          <a:lstStyle/>
          <a:p>
            <a:endParaRPr lang="fr-FR"/>
          </a:p>
        </p:txBody>
      </p:sp>
      <p:sp>
        <p:nvSpPr>
          <p:cNvPr id="11" name="Text 9"/>
          <p:cNvSpPr/>
          <p:nvPr/>
        </p:nvSpPr>
        <p:spPr>
          <a:xfrm>
            <a:off x="548640" y="3611880"/>
            <a:ext cx="3291840" cy="2194560"/>
          </a:xfrm>
          <a:prstGeom prst="rect">
            <a:avLst/>
          </a:prstGeom>
          <a:noFill/>
          <a:ln/>
        </p:spPr>
        <p:txBody>
          <a:bodyPr wrap="square" rtlCol="0" anchor="ctr"/>
          <a:lstStyle/>
          <a:p>
            <a:pPr marL="0" indent="0">
              <a:spcAft>
                <a:spcPts val="400"/>
              </a:spcAft>
              <a:buNone/>
            </a:pPr>
            <a:r>
              <a:rPr lang="en-US" sz="1100" dirty="0">
                <a:solidFill>
                  <a:srgbClr val="888888"/>
                </a:solidFill>
                <a:latin typeface="Calibri" pitchFamily="34" charset="0"/>
                <a:ea typeface="Calibri" pitchFamily="34" charset="-122"/>
                <a:cs typeface="Calibri" pitchFamily="34" charset="-120"/>
              </a:rPr>
              <a:t>• Activer access_control en prod</a:t>
            </a:r>
            <a:endParaRPr lang="en-US" sz="1100" dirty="0"/>
          </a:p>
          <a:p>
            <a:pPr marL="0" indent="0">
              <a:spcAft>
                <a:spcPts val="400"/>
              </a:spcAft>
              <a:buNone/>
            </a:pPr>
            <a:r>
              <a:rPr lang="en-US" sz="1100" dirty="0">
                <a:solidFill>
                  <a:srgbClr val="888888"/>
                </a:solidFill>
                <a:latin typeface="Calibri" pitchFamily="34" charset="0"/>
                <a:ea typeface="Calibri" pitchFamily="34" charset="-122"/>
                <a:cs typeface="Calibri" pitchFamily="34" charset="-120"/>
              </a:rPr>
              <a:t>• Secrets via GitHub Secrets / Vault</a:t>
            </a:r>
            <a:endParaRPr lang="en-US" sz="1100" dirty="0"/>
          </a:p>
          <a:p>
            <a:pPr marL="0" indent="0">
              <a:spcAft>
                <a:spcPts val="400"/>
              </a:spcAft>
              <a:buNone/>
            </a:pPr>
            <a:r>
              <a:rPr lang="en-US" sz="1100" dirty="0">
                <a:solidFill>
                  <a:srgbClr val="888888"/>
                </a:solidFill>
                <a:latin typeface="Calibri" pitchFamily="34" charset="0"/>
                <a:ea typeface="Calibri" pitchFamily="34" charset="-122"/>
                <a:cs typeface="Calibri" pitchFamily="34" charset="-120"/>
              </a:rPr>
              <a:t>• Migrer vers PostgreSQL</a:t>
            </a:r>
            <a:endParaRPr lang="en-US" sz="1100" dirty="0"/>
          </a:p>
        </p:txBody>
      </p:sp>
      <p:sp>
        <p:nvSpPr>
          <p:cNvPr id="12" name="Shape 10"/>
          <p:cNvSpPr/>
          <p:nvPr/>
        </p:nvSpPr>
        <p:spPr>
          <a:xfrm>
            <a:off x="640080" y="5897880"/>
            <a:ext cx="3108960" cy="347472"/>
          </a:xfrm>
          <a:prstGeom prst="rect">
            <a:avLst/>
          </a:prstGeom>
          <a:solidFill>
            <a:srgbClr val="0A0A0A"/>
          </a:solidFill>
          <a:ln w="19050">
            <a:solidFill>
              <a:srgbClr val="27AE60"/>
            </a:solidFill>
            <a:prstDash val="solid"/>
          </a:ln>
        </p:spPr>
        <p:txBody>
          <a:bodyPr/>
          <a:lstStyle/>
          <a:p>
            <a:endParaRPr lang="fr-FR"/>
          </a:p>
        </p:txBody>
      </p:sp>
      <p:sp>
        <p:nvSpPr>
          <p:cNvPr id="13" name="Text 11"/>
          <p:cNvSpPr/>
          <p:nvPr/>
        </p:nvSpPr>
        <p:spPr>
          <a:xfrm>
            <a:off x="640080" y="5897880"/>
            <a:ext cx="3108960" cy="347472"/>
          </a:xfrm>
          <a:prstGeom prst="rect">
            <a:avLst/>
          </a:prstGeom>
          <a:noFill/>
          <a:ln/>
        </p:spPr>
        <p:txBody>
          <a:bodyPr wrap="square" rtlCol="0" anchor="ctr"/>
          <a:lstStyle/>
          <a:p>
            <a:pPr marL="0" indent="0" algn="ctr">
              <a:buNone/>
            </a:pPr>
            <a:r>
              <a:rPr lang="en-US" sz="1100" b="1" dirty="0">
                <a:solidFill>
                  <a:srgbClr val="27AE60"/>
                </a:solidFill>
                <a:latin typeface="Calibri" pitchFamily="34" charset="0"/>
                <a:ea typeface="Calibri" pitchFamily="34" charset="-122"/>
                <a:cs typeface="Calibri" pitchFamily="34" charset="-120"/>
              </a:rPr>
              <a:t>Critique → Résolu</a:t>
            </a:r>
            <a:endParaRPr lang="en-US" sz="1100" dirty="0"/>
          </a:p>
        </p:txBody>
      </p:sp>
      <p:sp>
        <p:nvSpPr>
          <p:cNvPr id="14" name="Shape 12"/>
          <p:cNvSpPr/>
          <p:nvPr/>
        </p:nvSpPr>
        <p:spPr>
          <a:xfrm>
            <a:off x="4297680" y="2743200"/>
            <a:ext cx="3657600" cy="3657600"/>
          </a:xfrm>
          <a:prstGeom prst="rect">
            <a:avLst/>
          </a:prstGeom>
          <a:solidFill>
            <a:srgbClr val="2E2A1A"/>
          </a:solidFill>
          <a:ln w="19050">
            <a:solidFill>
              <a:srgbClr val="C0392B"/>
            </a:solidFill>
            <a:prstDash val="solid"/>
          </a:ln>
        </p:spPr>
        <p:txBody>
          <a:bodyPr/>
          <a:lstStyle/>
          <a:p>
            <a:endParaRPr lang="fr-FR"/>
          </a:p>
        </p:txBody>
      </p:sp>
      <p:sp>
        <p:nvSpPr>
          <p:cNvPr id="15" name="Text 13"/>
          <p:cNvSpPr/>
          <p:nvPr/>
        </p:nvSpPr>
        <p:spPr>
          <a:xfrm>
            <a:off x="4434840" y="2834640"/>
            <a:ext cx="3383280" cy="640080"/>
          </a:xfrm>
          <a:prstGeom prst="rect">
            <a:avLst/>
          </a:prstGeom>
          <a:noFill/>
          <a:ln/>
        </p:spPr>
        <p:txBody>
          <a:bodyPr wrap="square" rtlCol="0" anchor="ctr"/>
          <a:lstStyle/>
          <a:p>
            <a:pPr marL="0" indent="0" algn="ctr">
              <a:buNone/>
            </a:pPr>
            <a:r>
              <a:rPr lang="en-US" sz="1400" b="1" dirty="0">
                <a:solidFill>
                  <a:srgbClr val="F0F0F0"/>
                </a:solidFill>
                <a:latin typeface="Georgia" pitchFamily="34" charset="0"/>
                <a:ea typeface="Georgia" pitchFamily="34" charset="-122"/>
                <a:cs typeface="Georgia" pitchFamily="34" charset="-120"/>
              </a:rPr>
              <a:t>Sprint 2</a:t>
            </a:r>
            <a:endParaRPr lang="en-US" sz="1400" dirty="0"/>
          </a:p>
          <a:p>
            <a:pPr marL="0" indent="0" algn="ctr">
              <a:buNone/>
            </a:pPr>
            <a:r>
              <a:rPr lang="en-US" sz="1400" b="1" dirty="0">
                <a:solidFill>
                  <a:srgbClr val="F0F0F0"/>
                </a:solidFill>
                <a:latin typeface="Georgia" pitchFamily="34" charset="0"/>
                <a:ea typeface="Georgia" pitchFamily="34" charset="-122"/>
                <a:cs typeface="Georgia" pitchFamily="34" charset="-120"/>
              </a:rPr>
              <a:t>1 mois</a:t>
            </a:r>
            <a:endParaRPr lang="en-US" sz="1400" dirty="0"/>
          </a:p>
        </p:txBody>
      </p:sp>
      <p:sp>
        <p:nvSpPr>
          <p:cNvPr id="16" name="Shape 14"/>
          <p:cNvSpPr/>
          <p:nvPr/>
        </p:nvSpPr>
        <p:spPr>
          <a:xfrm>
            <a:off x="4754880" y="3520440"/>
            <a:ext cx="2743200" cy="45720"/>
          </a:xfrm>
          <a:prstGeom prst="rect">
            <a:avLst/>
          </a:prstGeom>
          <a:solidFill>
            <a:srgbClr val="C0392B"/>
          </a:solidFill>
          <a:ln/>
        </p:spPr>
        <p:txBody>
          <a:bodyPr/>
          <a:lstStyle/>
          <a:p>
            <a:endParaRPr lang="fr-FR"/>
          </a:p>
        </p:txBody>
      </p:sp>
      <p:sp>
        <p:nvSpPr>
          <p:cNvPr id="17" name="Text 15"/>
          <p:cNvSpPr/>
          <p:nvPr/>
        </p:nvSpPr>
        <p:spPr>
          <a:xfrm>
            <a:off x="4480560" y="3611880"/>
            <a:ext cx="3291840" cy="2194560"/>
          </a:xfrm>
          <a:prstGeom prst="rect">
            <a:avLst/>
          </a:prstGeom>
          <a:noFill/>
          <a:ln/>
        </p:spPr>
        <p:txBody>
          <a:bodyPr wrap="square" rtlCol="0" anchor="ctr"/>
          <a:lstStyle/>
          <a:p>
            <a:pPr marL="0" indent="0">
              <a:spcAft>
                <a:spcPts val="400"/>
              </a:spcAft>
              <a:buNone/>
            </a:pPr>
            <a:r>
              <a:rPr lang="en-US" sz="1100" dirty="0">
                <a:solidFill>
                  <a:srgbClr val="888888"/>
                </a:solidFill>
                <a:latin typeface="Calibri" pitchFamily="34" charset="0"/>
                <a:ea typeface="Calibri" pitchFamily="34" charset="-122"/>
                <a:cs typeface="Calibri" pitchFamily="34" charset="-120"/>
              </a:rPr>
              <a:t>• Rate limiting Symfony</a:t>
            </a:r>
            <a:endParaRPr lang="en-US" sz="1100" dirty="0"/>
          </a:p>
          <a:p>
            <a:pPr marL="0" indent="0">
              <a:spcAft>
                <a:spcPts val="400"/>
              </a:spcAft>
              <a:buNone/>
            </a:pPr>
            <a:r>
              <a:rPr lang="en-US" sz="1100" dirty="0">
                <a:solidFill>
                  <a:srgbClr val="888888"/>
                </a:solidFill>
                <a:latin typeface="Calibri" pitchFamily="34" charset="0"/>
                <a:ea typeface="Calibri" pitchFamily="34" charset="-122"/>
                <a:cs typeface="Calibri" pitchFamily="34" charset="-120"/>
              </a:rPr>
              <a:t>• Headers CSP / HSTS</a:t>
            </a:r>
            <a:endParaRPr lang="en-US" sz="1100" dirty="0"/>
          </a:p>
          <a:p>
            <a:pPr marL="0" indent="0">
              <a:spcAft>
                <a:spcPts val="400"/>
              </a:spcAft>
              <a:buNone/>
            </a:pPr>
            <a:r>
              <a:rPr lang="en-US" sz="1100" dirty="0">
                <a:solidFill>
                  <a:srgbClr val="888888"/>
                </a:solidFill>
                <a:latin typeface="Calibri" pitchFamily="34" charset="0"/>
                <a:ea typeface="Calibri" pitchFamily="34" charset="-122"/>
                <a:cs typeface="Calibri" pitchFamily="34" charset="-120"/>
              </a:rPr>
              <a:t>• Anonymisation logs RGPD</a:t>
            </a:r>
            <a:endParaRPr lang="en-US" sz="1100" dirty="0"/>
          </a:p>
        </p:txBody>
      </p:sp>
      <p:sp>
        <p:nvSpPr>
          <p:cNvPr id="18" name="Shape 16"/>
          <p:cNvSpPr/>
          <p:nvPr/>
        </p:nvSpPr>
        <p:spPr>
          <a:xfrm>
            <a:off x="4572000" y="5897880"/>
            <a:ext cx="3108960" cy="347472"/>
          </a:xfrm>
          <a:prstGeom prst="rect">
            <a:avLst/>
          </a:prstGeom>
          <a:solidFill>
            <a:srgbClr val="0A0A0A"/>
          </a:solidFill>
          <a:ln w="19050">
            <a:solidFill>
              <a:srgbClr val="F39C12"/>
            </a:solidFill>
            <a:prstDash val="solid"/>
          </a:ln>
        </p:spPr>
        <p:txBody>
          <a:bodyPr/>
          <a:lstStyle/>
          <a:p>
            <a:endParaRPr lang="fr-FR"/>
          </a:p>
        </p:txBody>
      </p:sp>
      <p:sp>
        <p:nvSpPr>
          <p:cNvPr id="19" name="Text 17"/>
          <p:cNvSpPr/>
          <p:nvPr/>
        </p:nvSpPr>
        <p:spPr>
          <a:xfrm>
            <a:off x="4572000" y="5897880"/>
            <a:ext cx="3108960" cy="347472"/>
          </a:xfrm>
          <a:prstGeom prst="rect">
            <a:avLst/>
          </a:prstGeom>
          <a:noFill/>
          <a:ln/>
        </p:spPr>
        <p:txBody>
          <a:bodyPr wrap="square" rtlCol="0" anchor="ctr"/>
          <a:lstStyle/>
          <a:p>
            <a:pPr marL="0" indent="0" algn="ctr">
              <a:buNone/>
            </a:pPr>
            <a:r>
              <a:rPr lang="en-US" sz="1100" b="1" dirty="0">
                <a:solidFill>
                  <a:srgbClr val="F39C12"/>
                </a:solidFill>
                <a:latin typeface="Calibri" pitchFamily="34" charset="0"/>
                <a:ea typeface="Calibri" pitchFamily="34" charset="-122"/>
                <a:cs typeface="Calibri" pitchFamily="34" charset="-120"/>
              </a:rPr>
              <a:t>Haute → Résolu</a:t>
            </a:r>
            <a:endParaRPr lang="en-US" sz="1100" dirty="0"/>
          </a:p>
        </p:txBody>
      </p:sp>
      <p:sp>
        <p:nvSpPr>
          <p:cNvPr id="20" name="Shape 18"/>
          <p:cNvSpPr/>
          <p:nvPr/>
        </p:nvSpPr>
        <p:spPr>
          <a:xfrm>
            <a:off x="8229600" y="2743200"/>
            <a:ext cx="3657600" cy="3657600"/>
          </a:xfrm>
          <a:prstGeom prst="rect">
            <a:avLst/>
          </a:prstGeom>
          <a:solidFill>
            <a:srgbClr val="1A1A2E"/>
          </a:solidFill>
          <a:ln w="19050">
            <a:solidFill>
              <a:srgbClr val="C0392B"/>
            </a:solidFill>
            <a:prstDash val="solid"/>
          </a:ln>
        </p:spPr>
        <p:txBody>
          <a:bodyPr/>
          <a:lstStyle/>
          <a:p>
            <a:endParaRPr lang="fr-FR"/>
          </a:p>
        </p:txBody>
      </p:sp>
      <p:sp>
        <p:nvSpPr>
          <p:cNvPr id="21" name="Text 19"/>
          <p:cNvSpPr/>
          <p:nvPr/>
        </p:nvSpPr>
        <p:spPr>
          <a:xfrm>
            <a:off x="8366760" y="2834640"/>
            <a:ext cx="3383280" cy="640080"/>
          </a:xfrm>
          <a:prstGeom prst="rect">
            <a:avLst/>
          </a:prstGeom>
          <a:noFill/>
          <a:ln/>
        </p:spPr>
        <p:txBody>
          <a:bodyPr wrap="square" rtlCol="0" anchor="ctr"/>
          <a:lstStyle/>
          <a:p>
            <a:pPr marL="0" indent="0" algn="ctr">
              <a:buNone/>
            </a:pPr>
            <a:r>
              <a:rPr lang="en-US" sz="1400" b="1" dirty="0">
                <a:solidFill>
                  <a:srgbClr val="F0F0F0"/>
                </a:solidFill>
                <a:latin typeface="Georgia" pitchFamily="34" charset="0"/>
                <a:ea typeface="Georgia" pitchFamily="34" charset="-122"/>
                <a:cs typeface="Georgia" pitchFamily="34" charset="-120"/>
              </a:rPr>
              <a:t>Sprint 3</a:t>
            </a:r>
            <a:endParaRPr lang="en-US" sz="1400" dirty="0"/>
          </a:p>
          <a:p>
            <a:pPr marL="0" indent="0" algn="ctr">
              <a:buNone/>
            </a:pPr>
            <a:r>
              <a:rPr lang="en-US" sz="1400" b="1" dirty="0">
                <a:solidFill>
                  <a:srgbClr val="F0F0F0"/>
                </a:solidFill>
                <a:latin typeface="Georgia" pitchFamily="34" charset="0"/>
                <a:ea typeface="Georgia" pitchFamily="34" charset="-122"/>
                <a:cs typeface="Georgia" pitchFamily="34" charset="-120"/>
              </a:rPr>
              <a:t>3 mois</a:t>
            </a:r>
            <a:endParaRPr lang="en-US" sz="1400" dirty="0"/>
          </a:p>
        </p:txBody>
      </p:sp>
      <p:sp>
        <p:nvSpPr>
          <p:cNvPr id="22" name="Shape 20"/>
          <p:cNvSpPr/>
          <p:nvPr/>
        </p:nvSpPr>
        <p:spPr>
          <a:xfrm>
            <a:off x="8686800" y="3520440"/>
            <a:ext cx="2743200" cy="45720"/>
          </a:xfrm>
          <a:prstGeom prst="rect">
            <a:avLst/>
          </a:prstGeom>
          <a:solidFill>
            <a:srgbClr val="C0392B"/>
          </a:solidFill>
          <a:ln/>
        </p:spPr>
        <p:txBody>
          <a:bodyPr/>
          <a:lstStyle/>
          <a:p>
            <a:endParaRPr lang="fr-FR"/>
          </a:p>
        </p:txBody>
      </p:sp>
      <p:sp>
        <p:nvSpPr>
          <p:cNvPr id="23" name="Text 21"/>
          <p:cNvSpPr/>
          <p:nvPr/>
        </p:nvSpPr>
        <p:spPr>
          <a:xfrm>
            <a:off x="8412480" y="3611880"/>
            <a:ext cx="3291840" cy="2194560"/>
          </a:xfrm>
          <a:prstGeom prst="rect">
            <a:avLst/>
          </a:prstGeom>
          <a:noFill/>
          <a:ln/>
        </p:spPr>
        <p:txBody>
          <a:bodyPr wrap="square" rtlCol="0" anchor="ctr"/>
          <a:lstStyle/>
          <a:p>
            <a:pPr marL="0" indent="0">
              <a:spcAft>
                <a:spcPts val="400"/>
              </a:spcAft>
              <a:buNone/>
            </a:pPr>
            <a:r>
              <a:rPr lang="en-US" sz="1100" dirty="0">
                <a:solidFill>
                  <a:srgbClr val="888888"/>
                </a:solidFill>
                <a:latin typeface="Calibri" pitchFamily="34" charset="0"/>
                <a:ea typeface="Calibri" pitchFamily="34" charset="-122"/>
                <a:cs typeface="Calibri" pitchFamily="34" charset="-120"/>
              </a:rPr>
              <a:t>• Image Docker alpine/distroless</a:t>
            </a:r>
            <a:endParaRPr lang="en-US" sz="1100" dirty="0"/>
          </a:p>
          <a:p>
            <a:pPr marL="0" indent="0">
              <a:spcAft>
                <a:spcPts val="400"/>
              </a:spcAft>
              <a:buNone/>
            </a:pPr>
            <a:r>
              <a:rPr lang="en-US" sz="1100" dirty="0">
                <a:solidFill>
                  <a:srgbClr val="888888"/>
                </a:solidFill>
                <a:latin typeface="Calibri" pitchFamily="34" charset="0"/>
                <a:ea typeface="Calibri" pitchFamily="34" charset="-122"/>
                <a:cs typeface="Calibri" pitchFamily="34" charset="-120"/>
              </a:rPr>
              <a:t>• WAF en frontal</a:t>
            </a:r>
            <a:endParaRPr lang="en-US" sz="1100" dirty="0"/>
          </a:p>
          <a:p>
            <a:pPr marL="0" indent="0">
              <a:spcAft>
                <a:spcPts val="400"/>
              </a:spcAft>
              <a:buNone/>
            </a:pPr>
            <a:r>
              <a:rPr lang="en-US" sz="1100" dirty="0">
                <a:solidFill>
                  <a:srgbClr val="888888"/>
                </a:solidFill>
                <a:latin typeface="Calibri" pitchFamily="34" charset="0"/>
                <a:ea typeface="Calibri" pitchFamily="34" charset="-122"/>
                <a:cs typeface="Calibri" pitchFamily="34" charset="-120"/>
              </a:rPr>
              <a:t>• Audit RGPD complet</a:t>
            </a:r>
            <a:endParaRPr lang="en-US" sz="1100" dirty="0"/>
          </a:p>
        </p:txBody>
      </p:sp>
      <p:sp>
        <p:nvSpPr>
          <p:cNvPr id="24" name="Shape 22"/>
          <p:cNvSpPr/>
          <p:nvPr/>
        </p:nvSpPr>
        <p:spPr>
          <a:xfrm>
            <a:off x="8503920" y="5897880"/>
            <a:ext cx="3108960" cy="347472"/>
          </a:xfrm>
          <a:prstGeom prst="rect">
            <a:avLst/>
          </a:prstGeom>
          <a:solidFill>
            <a:srgbClr val="0A0A0A"/>
          </a:solidFill>
          <a:ln w="19050">
            <a:solidFill>
              <a:srgbClr val="888888"/>
            </a:solidFill>
            <a:prstDash val="solid"/>
          </a:ln>
        </p:spPr>
        <p:txBody>
          <a:bodyPr/>
          <a:lstStyle/>
          <a:p>
            <a:endParaRPr lang="fr-FR"/>
          </a:p>
        </p:txBody>
      </p:sp>
      <p:sp>
        <p:nvSpPr>
          <p:cNvPr id="25" name="Text 23"/>
          <p:cNvSpPr/>
          <p:nvPr/>
        </p:nvSpPr>
        <p:spPr>
          <a:xfrm>
            <a:off x="8503920" y="5897880"/>
            <a:ext cx="3108960" cy="347472"/>
          </a:xfrm>
          <a:prstGeom prst="rect">
            <a:avLst/>
          </a:prstGeom>
          <a:noFill/>
          <a:ln/>
        </p:spPr>
        <p:txBody>
          <a:bodyPr wrap="square" rtlCol="0" anchor="ctr"/>
          <a:lstStyle/>
          <a:p>
            <a:pPr marL="0" indent="0" algn="ctr">
              <a:buNone/>
            </a:pPr>
            <a:r>
              <a:rPr lang="en-US" sz="1100" b="1" dirty="0">
                <a:solidFill>
                  <a:srgbClr val="888888"/>
                </a:solidFill>
                <a:latin typeface="Calibri" pitchFamily="34" charset="0"/>
                <a:ea typeface="Calibri" pitchFamily="34" charset="-122"/>
                <a:cs typeface="Calibri" pitchFamily="34" charset="-120"/>
              </a:rPr>
              <a:t>Surface réduite</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10972800" cy="182880"/>
          </a:xfrm>
          <a:prstGeom prst="rect">
            <a:avLst/>
          </a:prstGeom>
          <a:noFill/>
          <a:ln/>
        </p:spPr>
        <p:txBody>
          <a:bodyPr wrap="square" rtlCol="0" anchor="ctr"/>
          <a:lstStyle/>
          <a:p>
            <a:pPr marL="0" indent="0">
              <a:buNone/>
            </a:pPr>
            <a:r>
              <a:rPr lang="en-US" sz="800" dirty="0">
                <a:solidFill>
                  <a:srgbClr val="888888"/>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Shape 3"/>
          <p:cNvSpPr/>
          <p:nvPr/>
        </p:nvSpPr>
        <p:spPr>
          <a:xfrm>
            <a:off x="365760" y="1051560"/>
            <a:ext cx="2377440" cy="54864"/>
          </a:xfrm>
          <a:prstGeom prst="rect">
            <a:avLst/>
          </a:prstGeom>
          <a:solidFill>
            <a:srgbClr val="C0392B"/>
          </a:solidFill>
          <a:ln/>
        </p:spPr>
        <p:txBody>
          <a:bodyPr/>
          <a:lstStyle/>
          <a:p>
            <a:endParaRPr lang="fr-FR"/>
          </a:p>
        </p:txBody>
      </p:sp>
      <p:sp>
        <p:nvSpPr>
          <p:cNvPr id="6" name="Text 4"/>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VERSION 2 — DEVSECOPS RENFORCE</a:t>
            </a:r>
            <a:endParaRPr lang="en-US" sz="1100" dirty="0"/>
          </a:p>
        </p:txBody>
      </p:sp>
      <p:sp>
        <p:nvSpPr>
          <p:cNvPr id="7" name="Text 5"/>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Georgia" pitchFamily="34" charset="0"/>
                <a:ea typeface="Georgia" pitchFamily="34" charset="-122"/>
                <a:cs typeface="Georgia" pitchFamily="34" charset="-120"/>
              </a:rPr>
              <a:t>3 mesures préventives</a:t>
            </a:r>
            <a:endParaRPr lang="en-US" sz="3400" dirty="0"/>
          </a:p>
          <a:p>
            <a:pPr marL="0" indent="0">
              <a:buNone/>
            </a:pPr>
            <a:r>
              <a:rPr lang="en-US" sz="3400" b="1" dirty="0">
                <a:solidFill>
                  <a:srgbClr val="F0F0F0"/>
                </a:solidFill>
                <a:latin typeface="Georgia" pitchFamily="34" charset="0"/>
                <a:ea typeface="Georgia" pitchFamily="34" charset="-122"/>
                <a:cs typeface="Georgia" pitchFamily="34" charset="-120"/>
              </a:rPr>
              <a:t>pour la v2</a:t>
            </a:r>
            <a:endParaRPr lang="en-US" sz="3400" dirty="0"/>
          </a:p>
        </p:txBody>
      </p:sp>
      <p:sp>
        <p:nvSpPr>
          <p:cNvPr id="8" name="Shape 6"/>
          <p:cNvSpPr/>
          <p:nvPr/>
        </p:nvSpPr>
        <p:spPr>
          <a:xfrm>
            <a:off x="365760" y="2743200"/>
            <a:ext cx="3657600" cy="3749040"/>
          </a:xfrm>
          <a:prstGeom prst="rect">
            <a:avLst/>
          </a:prstGeom>
          <a:solidFill>
            <a:srgbClr val="2E1A1A"/>
          </a:solidFill>
          <a:ln w="19050">
            <a:solidFill>
              <a:srgbClr val="C0392B"/>
            </a:solidFill>
            <a:prstDash val="solid"/>
          </a:ln>
        </p:spPr>
        <p:txBody>
          <a:bodyPr/>
          <a:lstStyle/>
          <a:p>
            <a:endParaRPr lang="fr-FR"/>
          </a:p>
        </p:txBody>
      </p:sp>
      <p:sp>
        <p:nvSpPr>
          <p:cNvPr id="9" name="Text 7"/>
          <p:cNvSpPr/>
          <p:nvPr/>
        </p:nvSpPr>
        <p:spPr>
          <a:xfrm>
            <a:off x="548640" y="2834640"/>
            <a:ext cx="914400" cy="731520"/>
          </a:xfrm>
          <a:prstGeom prst="rect">
            <a:avLst/>
          </a:prstGeom>
          <a:noFill/>
          <a:ln/>
        </p:spPr>
        <p:txBody>
          <a:bodyPr wrap="square" rtlCol="0" anchor="ctr"/>
          <a:lstStyle/>
          <a:p>
            <a:pPr marL="0" indent="0">
              <a:buNone/>
            </a:pPr>
            <a:r>
              <a:rPr lang="en-US" sz="3600" b="1" dirty="0">
                <a:solidFill>
                  <a:srgbClr val="E74C3C"/>
                </a:solidFill>
                <a:latin typeface="Georgia" pitchFamily="34" charset="0"/>
                <a:ea typeface="Georgia" pitchFamily="34" charset="-122"/>
                <a:cs typeface="Georgia" pitchFamily="34" charset="-120"/>
              </a:rPr>
              <a:t>01</a:t>
            </a:r>
            <a:endParaRPr lang="en-US" sz="3600" dirty="0"/>
          </a:p>
        </p:txBody>
      </p:sp>
      <p:sp>
        <p:nvSpPr>
          <p:cNvPr id="10" name="Text 8"/>
          <p:cNvSpPr/>
          <p:nvPr/>
        </p:nvSpPr>
        <p:spPr>
          <a:xfrm>
            <a:off x="2926080" y="2834640"/>
            <a:ext cx="914400" cy="731520"/>
          </a:xfrm>
          <a:prstGeom prst="rect">
            <a:avLst/>
          </a:prstGeom>
          <a:noFill/>
          <a:ln/>
        </p:spPr>
        <p:txBody>
          <a:bodyPr wrap="square" rtlCol="0" anchor="ctr"/>
          <a:lstStyle/>
          <a:p>
            <a:pPr marL="0" indent="0" algn="r">
              <a:buNone/>
            </a:pPr>
            <a:r>
              <a:rPr lang="en-US" sz="2800" dirty="0">
                <a:solidFill>
                  <a:srgbClr val="000000"/>
                </a:solidFill>
              </a:rPr>
              <a:t>🔐</a:t>
            </a:r>
            <a:endParaRPr lang="en-US" sz="2800" dirty="0"/>
          </a:p>
        </p:txBody>
      </p:sp>
      <p:sp>
        <p:nvSpPr>
          <p:cNvPr id="11" name="Shape 9"/>
          <p:cNvSpPr/>
          <p:nvPr/>
        </p:nvSpPr>
        <p:spPr>
          <a:xfrm>
            <a:off x="640080" y="3566160"/>
            <a:ext cx="3108960" cy="45720"/>
          </a:xfrm>
          <a:prstGeom prst="rect">
            <a:avLst/>
          </a:prstGeom>
          <a:solidFill>
            <a:srgbClr val="C0392B"/>
          </a:solidFill>
          <a:ln/>
        </p:spPr>
        <p:txBody>
          <a:bodyPr/>
          <a:lstStyle/>
          <a:p>
            <a:endParaRPr lang="fr-FR"/>
          </a:p>
        </p:txBody>
      </p:sp>
      <p:sp>
        <p:nvSpPr>
          <p:cNvPr id="12" name="Text 10"/>
          <p:cNvSpPr/>
          <p:nvPr/>
        </p:nvSpPr>
        <p:spPr>
          <a:xfrm>
            <a:off x="548640" y="3657600"/>
            <a:ext cx="3291840" cy="50292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Secrets Management</a:t>
            </a:r>
            <a:endParaRPr lang="en-US" sz="1400" dirty="0"/>
          </a:p>
        </p:txBody>
      </p:sp>
      <p:sp>
        <p:nvSpPr>
          <p:cNvPr id="13" name="Text 11"/>
          <p:cNvSpPr/>
          <p:nvPr/>
        </p:nvSpPr>
        <p:spPr>
          <a:xfrm>
            <a:off x="548640" y="4206240"/>
            <a:ext cx="3291840" cy="1828800"/>
          </a:xfrm>
          <a:prstGeom prst="rect">
            <a:avLst/>
          </a:prstGeom>
          <a:noFill/>
          <a:ln/>
        </p:spPr>
        <p:txBody>
          <a:bodyPr wrap="square" rtlCol="0" anchor="ctr"/>
          <a:lstStyle/>
          <a:p>
            <a:pPr marL="0" indent="0">
              <a:buNone/>
            </a:pPr>
            <a:r>
              <a:rPr lang="en-US" sz="1100" dirty="0">
                <a:solidFill>
                  <a:srgbClr val="888888"/>
                </a:solidFill>
                <a:latin typeface="Calibri" pitchFamily="34" charset="0"/>
                <a:ea typeface="Calibri" pitchFamily="34" charset="-122"/>
                <a:cs typeface="Calibri" pitchFamily="34" charset="-120"/>
              </a:rPr>
              <a:t>HashiCorp Vault ou GitHub Secrets</a:t>
            </a:r>
            <a:endParaRPr lang="en-US" sz="1100" dirty="0"/>
          </a:p>
          <a:p>
            <a:pPr marL="0" indent="0">
              <a:buNone/>
            </a:pPr>
            <a:r>
              <a:rPr lang="en-US" sz="1100" dirty="0">
                <a:solidFill>
                  <a:srgbClr val="888888"/>
                </a:solidFill>
                <a:latin typeface="Calibri" pitchFamily="34" charset="0"/>
                <a:ea typeface="Calibri" pitchFamily="34" charset="-122"/>
                <a:cs typeface="Calibri" pitchFamily="34" charset="-120"/>
              </a:rPr>
              <a:t>avec rotation automatique des clés</a:t>
            </a:r>
            <a:endParaRPr lang="en-US" sz="1100" dirty="0"/>
          </a:p>
          <a:p>
            <a:pPr marL="0" indent="0">
              <a:buNone/>
            </a:pPr>
            <a:r>
              <a:rPr lang="en-US" sz="1100" dirty="0">
                <a:solidFill>
                  <a:srgbClr val="888888"/>
                </a:solidFill>
                <a:latin typeface="Calibri" pitchFamily="34" charset="0"/>
                <a:ea typeface="Calibri" pitchFamily="34" charset="-122"/>
                <a:cs typeface="Calibri" pitchFamily="34" charset="-120"/>
              </a:rPr>
              <a:t>et audit trail des accès</a:t>
            </a:r>
            <a:endParaRPr lang="en-US" sz="1100" dirty="0"/>
          </a:p>
        </p:txBody>
      </p:sp>
      <p:sp>
        <p:nvSpPr>
          <p:cNvPr id="14" name="Shape 12"/>
          <p:cNvSpPr/>
          <p:nvPr/>
        </p:nvSpPr>
        <p:spPr>
          <a:xfrm>
            <a:off x="4297680" y="2743200"/>
            <a:ext cx="3657600" cy="3749040"/>
          </a:xfrm>
          <a:prstGeom prst="rect">
            <a:avLst/>
          </a:prstGeom>
          <a:solidFill>
            <a:srgbClr val="1A1A2E"/>
          </a:solidFill>
          <a:ln w="19050">
            <a:solidFill>
              <a:srgbClr val="C0392B"/>
            </a:solidFill>
            <a:prstDash val="solid"/>
          </a:ln>
        </p:spPr>
        <p:txBody>
          <a:bodyPr/>
          <a:lstStyle/>
          <a:p>
            <a:endParaRPr lang="fr-FR"/>
          </a:p>
        </p:txBody>
      </p:sp>
      <p:sp>
        <p:nvSpPr>
          <p:cNvPr id="15" name="Text 13"/>
          <p:cNvSpPr/>
          <p:nvPr/>
        </p:nvSpPr>
        <p:spPr>
          <a:xfrm>
            <a:off x="4480560" y="2834640"/>
            <a:ext cx="914400" cy="731520"/>
          </a:xfrm>
          <a:prstGeom prst="rect">
            <a:avLst/>
          </a:prstGeom>
          <a:noFill/>
          <a:ln/>
        </p:spPr>
        <p:txBody>
          <a:bodyPr wrap="square" rtlCol="0" anchor="ctr"/>
          <a:lstStyle/>
          <a:p>
            <a:pPr marL="0" indent="0">
              <a:buNone/>
            </a:pPr>
            <a:r>
              <a:rPr lang="en-US" sz="3600" b="1" dirty="0">
                <a:solidFill>
                  <a:srgbClr val="E74C3C"/>
                </a:solidFill>
                <a:latin typeface="Georgia" pitchFamily="34" charset="0"/>
                <a:ea typeface="Georgia" pitchFamily="34" charset="-122"/>
                <a:cs typeface="Georgia" pitchFamily="34" charset="-120"/>
              </a:rPr>
              <a:t>02</a:t>
            </a:r>
            <a:endParaRPr lang="en-US" sz="3600" dirty="0"/>
          </a:p>
        </p:txBody>
      </p:sp>
      <p:sp>
        <p:nvSpPr>
          <p:cNvPr id="16" name="Text 14"/>
          <p:cNvSpPr/>
          <p:nvPr/>
        </p:nvSpPr>
        <p:spPr>
          <a:xfrm>
            <a:off x="6858000" y="2834640"/>
            <a:ext cx="914400" cy="731520"/>
          </a:xfrm>
          <a:prstGeom prst="rect">
            <a:avLst/>
          </a:prstGeom>
          <a:noFill/>
          <a:ln/>
        </p:spPr>
        <p:txBody>
          <a:bodyPr wrap="square" rtlCol="0" anchor="ctr"/>
          <a:lstStyle/>
          <a:p>
            <a:pPr marL="0" indent="0" algn="r">
              <a:buNone/>
            </a:pPr>
            <a:r>
              <a:rPr lang="en-US" sz="2800" dirty="0">
                <a:solidFill>
                  <a:srgbClr val="000000"/>
                </a:solidFill>
              </a:rPr>
              <a:t>🕵️</a:t>
            </a:r>
            <a:endParaRPr lang="en-US" sz="2800" dirty="0"/>
          </a:p>
        </p:txBody>
      </p:sp>
      <p:sp>
        <p:nvSpPr>
          <p:cNvPr id="17" name="Shape 15"/>
          <p:cNvSpPr/>
          <p:nvPr/>
        </p:nvSpPr>
        <p:spPr>
          <a:xfrm>
            <a:off x="4572000" y="3566160"/>
            <a:ext cx="3108960" cy="45720"/>
          </a:xfrm>
          <a:prstGeom prst="rect">
            <a:avLst/>
          </a:prstGeom>
          <a:solidFill>
            <a:srgbClr val="C0392B"/>
          </a:solidFill>
          <a:ln/>
        </p:spPr>
        <p:txBody>
          <a:bodyPr/>
          <a:lstStyle/>
          <a:p>
            <a:endParaRPr lang="fr-FR"/>
          </a:p>
        </p:txBody>
      </p:sp>
      <p:sp>
        <p:nvSpPr>
          <p:cNvPr id="18" name="Text 16"/>
          <p:cNvSpPr/>
          <p:nvPr/>
        </p:nvSpPr>
        <p:spPr>
          <a:xfrm>
            <a:off x="4480560" y="3657600"/>
            <a:ext cx="3291840" cy="50292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DAST Pipeline</a:t>
            </a:r>
            <a:endParaRPr lang="en-US" sz="1400" dirty="0"/>
          </a:p>
        </p:txBody>
      </p:sp>
      <p:sp>
        <p:nvSpPr>
          <p:cNvPr id="19" name="Text 17"/>
          <p:cNvSpPr/>
          <p:nvPr/>
        </p:nvSpPr>
        <p:spPr>
          <a:xfrm>
            <a:off x="4480560" y="4206240"/>
            <a:ext cx="3291840" cy="1828800"/>
          </a:xfrm>
          <a:prstGeom prst="rect">
            <a:avLst/>
          </a:prstGeom>
          <a:noFill/>
          <a:ln/>
        </p:spPr>
        <p:txBody>
          <a:bodyPr wrap="square" rtlCol="0" anchor="ctr"/>
          <a:lstStyle/>
          <a:p>
            <a:pPr marL="0" indent="0">
              <a:buNone/>
            </a:pPr>
            <a:r>
              <a:rPr lang="en-US" sz="1100" dirty="0">
                <a:solidFill>
                  <a:srgbClr val="888888"/>
                </a:solidFill>
                <a:latin typeface="Calibri" pitchFamily="34" charset="0"/>
                <a:ea typeface="Calibri" pitchFamily="34" charset="-122"/>
                <a:cs typeface="Calibri" pitchFamily="34" charset="-120"/>
              </a:rPr>
              <a:t>OWASP ZAP intégré au job staging</a:t>
            </a:r>
            <a:endParaRPr lang="en-US" sz="1100" dirty="0"/>
          </a:p>
          <a:p>
            <a:pPr marL="0" indent="0">
              <a:buNone/>
            </a:pPr>
            <a:r>
              <a:rPr lang="en-US" sz="1100" dirty="0">
                <a:solidFill>
                  <a:srgbClr val="888888"/>
                </a:solidFill>
                <a:latin typeface="Calibri" pitchFamily="34" charset="0"/>
                <a:ea typeface="Calibri" pitchFamily="34" charset="-122"/>
                <a:cs typeface="Calibri" pitchFamily="34" charset="-120"/>
              </a:rPr>
              <a:t>Test dynamique automatisé</a:t>
            </a:r>
            <a:endParaRPr lang="en-US" sz="1100" dirty="0"/>
          </a:p>
          <a:p>
            <a:pPr marL="0" indent="0">
              <a:buNone/>
            </a:pPr>
            <a:r>
              <a:rPr lang="en-US" sz="1100" dirty="0">
                <a:solidFill>
                  <a:srgbClr val="888888"/>
                </a:solidFill>
                <a:latin typeface="Calibri" pitchFamily="34" charset="0"/>
                <a:ea typeface="Calibri" pitchFamily="34" charset="-122"/>
                <a:cs typeface="Calibri" pitchFamily="34" charset="-120"/>
              </a:rPr>
              <a:t>Rapport SARIF → GitHub Security</a:t>
            </a:r>
            <a:endParaRPr lang="en-US" sz="1100" dirty="0"/>
          </a:p>
        </p:txBody>
      </p:sp>
      <p:sp>
        <p:nvSpPr>
          <p:cNvPr id="20" name="Shape 18"/>
          <p:cNvSpPr/>
          <p:nvPr/>
        </p:nvSpPr>
        <p:spPr>
          <a:xfrm>
            <a:off x="8229600" y="2743200"/>
            <a:ext cx="3657600" cy="3749040"/>
          </a:xfrm>
          <a:prstGeom prst="rect">
            <a:avLst/>
          </a:prstGeom>
          <a:solidFill>
            <a:srgbClr val="1A2E1A"/>
          </a:solidFill>
          <a:ln w="19050">
            <a:solidFill>
              <a:srgbClr val="C0392B"/>
            </a:solidFill>
            <a:prstDash val="solid"/>
          </a:ln>
        </p:spPr>
        <p:txBody>
          <a:bodyPr/>
          <a:lstStyle/>
          <a:p>
            <a:endParaRPr lang="fr-FR"/>
          </a:p>
        </p:txBody>
      </p:sp>
      <p:sp>
        <p:nvSpPr>
          <p:cNvPr id="21" name="Text 19"/>
          <p:cNvSpPr/>
          <p:nvPr/>
        </p:nvSpPr>
        <p:spPr>
          <a:xfrm>
            <a:off x="8412480" y="2834640"/>
            <a:ext cx="914400" cy="731520"/>
          </a:xfrm>
          <a:prstGeom prst="rect">
            <a:avLst/>
          </a:prstGeom>
          <a:noFill/>
          <a:ln/>
        </p:spPr>
        <p:txBody>
          <a:bodyPr wrap="square" rtlCol="0" anchor="ctr"/>
          <a:lstStyle/>
          <a:p>
            <a:pPr marL="0" indent="0">
              <a:buNone/>
            </a:pPr>
            <a:r>
              <a:rPr lang="en-US" sz="3600" b="1" dirty="0">
                <a:solidFill>
                  <a:srgbClr val="E74C3C"/>
                </a:solidFill>
                <a:latin typeface="Georgia" pitchFamily="34" charset="0"/>
                <a:ea typeface="Georgia" pitchFamily="34" charset="-122"/>
                <a:cs typeface="Georgia" pitchFamily="34" charset="-120"/>
              </a:rPr>
              <a:t>03</a:t>
            </a:r>
            <a:endParaRPr lang="en-US" sz="3600" dirty="0"/>
          </a:p>
        </p:txBody>
      </p:sp>
      <p:sp>
        <p:nvSpPr>
          <p:cNvPr id="22" name="Text 20"/>
          <p:cNvSpPr/>
          <p:nvPr/>
        </p:nvSpPr>
        <p:spPr>
          <a:xfrm>
            <a:off x="10789920" y="2834640"/>
            <a:ext cx="914400" cy="731520"/>
          </a:xfrm>
          <a:prstGeom prst="rect">
            <a:avLst/>
          </a:prstGeom>
          <a:noFill/>
          <a:ln/>
        </p:spPr>
        <p:txBody>
          <a:bodyPr wrap="square" rtlCol="0" anchor="ctr"/>
          <a:lstStyle/>
          <a:p>
            <a:pPr marL="0" indent="0" algn="r">
              <a:buNone/>
            </a:pPr>
            <a:r>
              <a:rPr lang="en-US" sz="2800" dirty="0">
                <a:solidFill>
                  <a:srgbClr val="000000"/>
                </a:solidFill>
              </a:rPr>
              <a:t>📦</a:t>
            </a:r>
            <a:endParaRPr lang="en-US" sz="2800" dirty="0"/>
          </a:p>
        </p:txBody>
      </p:sp>
      <p:sp>
        <p:nvSpPr>
          <p:cNvPr id="23" name="Shape 21"/>
          <p:cNvSpPr/>
          <p:nvPr/>
        </p:nvSpPr>
        <p:spPr>
          <a:xfrm>
            <a:off x="8503920" y="3566160"/>
            <a:ext cx="3108960" cy="45720"/>
          </a:xfrm>
          <a:prstGeom prst="rect">
            <a:avLst/>
          </a:prstGeom>
          <a:solidFill>
            <a:srgbClr val="C0392B"/>
          </a:solidFill>
          <a:ln/>
        </p:spPr>
        <p:txBody>
          <a:bodyPr/>
          <a:lstStyle/>
          <a:p>
            <a:endParaRPr lang="fr-FR"/>
          </a:p>
        </p:txBody>
      </p:sp>
      <p:sp>
        <p:nvSpPr>
          <p:cNvPr id="24" name="Text 22"/>
          <p:cNvSpPr/>
          <p:nvPr/>
        </p:nvSpPr>
        <p:spPr>
          <a:xfrm>
            <a:off x="8412480" y="3657600"/>
            <a:ext cx="3291840" cy="502920"/>
          </a:xfrm>
          <a:prstGeom prst="rect">
            <a:avLst/>
          </a:prstGeom>
          <a:noFill/>
          <a:ln/>
        </p:spPr>
        <p:txBody>
          <a:bodyPr wrap="square" rtlCol="0" anchor="ctr"/>
          <a:lstStyle/>
          <a:p>
            <a:pPr marL="0" indent="0">
              <a:buNone/>
            </a:pPr>
            <a:r>
              <a:rPr lang="en-US" sz="1400" b="1" dirty="0">
                <a:solidFill>
                  <a:srgbClr val="F0F0F0"/>
                </a:solidFill>
                <a:latin typeface="Calibri" pitchFamily="34" charset="0"/>
                <a:ea typeface="Calibri" pitchFamily="34" charset="-122"/>
                <a:cs typeface="Calibri" pitchFamily="34" charset="-120"/>
              </a:rPr>
              <a:t>SCA — Dépendances</a:t>
            </a:r>
            <a:endParaRPr lang="en-US" sz="1400" dirty="0"/>
          </a:p>
        </p:txBody>
      </p:sp>
      <p:sp>
        <p:nvSpPr>
          <p:cNvPr id="25" name="Text 23"/>
          <p:cNvSpPr/>
          <p:nvPr/>
        </p:nvSpPr>
        <p:spPr>
          <a:xfrm>
            <a:off x="8412480" y="4206240"/>
            <a:ext cx="3291840" cy="1828800"/>
          </a:xfrm>
          <a:prstGeom prst="rect">
            <a:avLst/>
          </a:prstGeom>
          <a:noFill/>
          <a:ln/>
        </p:spPr>
        <p:txBody>
          <a:bodyPr wrap="square" rtlCol="0" anchor="ctr"/>
          <a:lstStyle/>
          <a:p>
            <a:pPr marL="0" indent="0">
              <a:buNone/>
            </a:pPr>
            <a:r>
              <a:rPr lang="en-US" sz="1100" dirty="0">
                <a:solidFill>
                  <a:srgbClr val="888888"/>
                </a:solidFill>
                <a:latin typeface="Calibri" pitchFamily="34" charset="0"/>
                <a:ea typeface="Calibri" pitchFamily="34" charset="-122"/>
                <a:cs typeface="Calibri" pitchFamily="34" charset="-120"/>
              </a:rPr>
              <a:t>Dependabot activé sur composer.json</a:t>
            </a:r>
            <a:endParaRPr lang="en-US" sz="1100" dirty="0"/>
          </a:p>
          <a:p>
            <a:pPr marL="0" indent="0">
              <a:buNone/>
            </a:pPr>
            <a:r>
              <a:rPr lang="en-US" sz="1100" dirty="0">
                <a:solidFill>
                  <a:srgbClr val="888888"/>
                </a:solidFill>
                <a:latin typeface="Calibri" pitchFamily="34" charset="0"/>
                <a:ea typeface="Calibri" pitchFamily="34" charset="-122"/>
                <a:cs typeface="Calibri" pitchFamily="34" charset="-120"/>
              </a:rPr>
              <a:t>Alertes CVE automatiques</a:t>
            </a:r>
            <a:endParaRPr lang="en-US" sz="1100" dirty="0"/>
          </a:p>
          <a:p>
            <a:pPr marL="0" indent="0">
              <a:buNone/>
            </a:pPr>
            <a:r>
              <a:rPr lang="en-US" sz="1100" dirty="0">
                <a:solidFill>
                  <a:srgbClr val="888888"/>
                </a:solidFill>
                <a:latin typeface="Calibri" pitchFamily="34" charset="0"/>
                <a:ea typeface="Calibri" pitchFamily="34" charset="-122"/>
                <a:cs typeface="Calibri" pitchFamily="34" charset="-120"/>
              </a:rPr>
              <a:t>Mise à jour PR automatique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12192000" cy="54864"/>
          </a:xfrm>
          <a:prstGeom prst="rect">
            <a:avLst/>
          </a:prstGeom>
          <a:solidFill>
            <a:srgbClr val="C0392B"/>
          </a:solidFill>
          <a:ln/>
        </p:spPr>
        <p:txBody>
          <a:bodyPr/>
          <a:lstStyle/>
          <a:p>
            <a:endParaRPr lang="fr-FR"/>
          </a:p>
        </p:txBody>
      </p:sp>
      <p:sp>
        <p:nvSpPr>
          <p:cNvPr id="3" name="Shape 1"/>
          <p:cNvSpPr/>
          <p:nvPr/>
        </p:nvSpPr>
        <p:spPr>
          <a:xfrm>
            <a:off x="0" y="6675120"/>
            <a:ext cx="12192000" cy="182880"/>
          </a:xfrm>
          <a:prstGeom prst="rect">
            <a:avLst/>
          </a:prstGeom>
          <a:solidFill>
            <a:srgbClr val="C0392B"/>
          </a:solidFill>
          <a:ln/>
        </p:spPr>
        <p:txBody>
          <a:bodyPr/>
          <a:lstStyle/>
          <a:p>
            <a:endParaRPr lang="fr-FR"/>
          </a:p>
        </p:txBody>
      </p:sp>
      <p:sp>
        <p:nvSpPr>
          <p:cNvPr id="4" name="Text 2"/>
          <p:cNvSpPr/>
          <p:nvPr/>
        </p:nvSpPr>
        <p:spPr>
          <a:xfrm>
            <a:off x="274320" y="6675120"/>
            <a:ext cx="10972800" cy="182880"/>
          </a:xfrm>
          <a:prstGeom prst="rect">
            <a:avLst/>
          </a:prstGeom>
          <a:noFill/>
          <a:ln/>
        </p:spPr>
        <p:txBody>
          <a:bodyPr wrap="square" rtlCol="0" anchor="ctr"/>
          <a:lstStyle/>
          <a:p>
            <a:pPr marL="0" indent="0">
              <a:buNone/>
            </a:pPr>
            <a:r>
              <a:rPr lang="en-US" sz="800" dirty="0">
                <a:solidFill>
                  <a:srgbClr val="888888"/>
                </a:solidFill>
                <a:latin typeface="Calibri" pitchFamily="34" charset="0"/>
                <a:ea typeface="Calibri" pitchFamily="34" charset="-122"/>
                <a:cs typeface="Calibri" pitchFamily="34" charset="-120"/>
              </a:rPr>
              <a:t>La Petite Maison de l'Épouvante — POC v1 · 2026</a:t>
            </a:r>
            <a:endParaRPr lang="en-US" sz="800" dirty="0"/>
          </a:p>
        </p:txBody>
      </p:sp>
      <p:sp>
        <p:nvSpPr>
          <p:cNvPr id="5" name="Shape 3"/>
          <p:cNvSpPr/>
          <p:nvPr/>
        </p:nvSpPr>
        <p:spPr>
          <a:xfrm>
            <a:off x="365760" y="1051560"/>
            <a:ext cx="2377440" cy="54864"/>
          </a:xfrm>
          <a:prstGeom prst="rect">
            <a:avLst/>
          </a:prstGeom>
          <a:solidFill>
            <a:srgbClr val="C0392B"/>
          </a:solidFill>
          <a:ln/>
        </p:spPr>
        <p:txBody>
          <a:bodyPr/>
          <a:lstStyle/>
          <a:p>
            <a:endParaRPr lang="fr-FR"/>
          </a:p>
        </p:txBody>
      </p:sp>
      <p:sp>
        <p:nvSpPr>
          <p:cNvPr id="6" name="Text 4"/>
          <p:cNvSpPr/>
          <p:nvPr/>
        </p:nvSpPr>
        <p:spPr>
          <a:xfrm>
            <a:off x="365760" y="640080"/>
            <a:ext cx="10972800" cy="548640"/>
          </a:xfrm>
          <a:prstGeom prst="rect">
            <a:avLst/>
          </a:prstGeom>
          <a:noFill/>
          <a:ln/>
        </p:spPr>
        <p:txBody>
          <a:bodyPr wrap="square" rtlCol="0" anchor="ctr"/>
          <a:lstStyle/>
          <a:p>
            <a:pPr marL="0" indent="0">
              <a:buNone/>
            </a:pPr>
            <a:r>
              <a:rPr lang="en-US" sz="1100" b="1" kern="0" spc="200" dirty="0">
                <a:solidFill>
                  <a:srgbClr val="E74C3C"/>
                </a:solidFill>
                <a:latin typeface="Calibri" pitchFamily="34" charset="0"/>
                <a:ea typeface="Calibri" pitchFamily="34" charset="-122"/>
                <a:cs typeface="Calibri" pitchFamily="34" charset="-120"/>
              </a:rPr>
              <a:t>BILAN DE LA MISSION</a:t>
            </a:r>
            <a:endParaRPr lang="en-US" sz="1100" dirty="0"/>
          </a:p>
        </p:txBody>
      </p:sp>
      <p:sp>
        <p:nvSpPr>
          <p:cNvPr id="7" name="Text 5"/>
          <p:cNvSpPr/>
          <p:nvPr/>
        </p:nvSpPr>
        <p:spPr>
          <a:xfrm>
            <a:off x="365760" y="1280160"/>
            <a:ext cx="11430000" cy="1280160"/>
          </a:xfrm>
          <a:prstGeom prst="rect">
            <a:avLst/>
          </a:prstGeom>
          <a:noFill/>
          <a:ln/>
        </p:spPr>
        <p:txBody>
          <a:bodyPr wrap="square" rtlCol="0" anchor="ctr"/>
          <a:lstStyle/>
          <a:p>
            <a:pPr marL="0" indent="0">
              <a:buNone/>
            </a:pPr>
            <a:r>
              <a:rPr lang="en-US" sz="3400" b="1" dirty="0">
                <a:solidFill>
                  <a:srgbClr val="F0F0F0"/>
                </a:solidFill>
                <a:latin typeface="Georgia" pitchFamily="34" charset="0"/>
                <a:ea typeface="Georgia" pitchFamily="34" charset="-122"/>
                <a:cs typeface="Georgia" pitchFamily="34" charset="-120"/>
              </a:rPr>
              <a:t>Livraison complète de la v1</a:t>
            </a:r>
            <a:endParaRPr lang="en-US" sz="3400" dirty="0"/>
          </a:p>
        </p:txBody>
      </p:sp>
      <p:sp>
        <p:nvSpPr>
          <p:cNvPr id="8" name="Shape 6"/>
          <p:cNvSpPr/>
          <p:nvPr/>
        </p:nvSpPr>
        <p:spPr>
          <a:xfrm>
            <a:off x="365760" y="2743200"/>
            <a:ext cx="3657600" cy="3749040"/>
          </a:xfrm>
          <a:prstGeom prst="rect">
            <a:avLst/>
          </a:prstGeom>
          <a:solidFill>
            <a:srgbClr val="1A2E1A"/>
          </a:solidFill>
          <a:ln w="19050">
            <a:solidFill>
              <a:srgbClr val="C0392B"/>
            </a:solidFill>
            <a:prstDash val="solid"/>
          </a:ln>
        </p:spPr>
        <p:txBody>
          <a:bodyPr/>
          <a:lstStyle/>
          <a:p>
            <a:endParaRPr lang="fr-FR"/>
          </a:p>
        </p:txBody>
      </p:sp>
      <p:sp>
        <p:nvSpPr>
          <p:cNvPr id="9" name="Text 7"/>
          <p:cNvSpPr/>
          <p:nvPr/>
        </p:nvSpPr>
        <p:spPr>
          <a:xfrm>
            <a:off x="502920" y="2834640"/>
            <a:ext cx="3383280" cy="502920"/>
          </a:xfrm>
          <a:prstGeom prst="rect">
            <a:avLst/>
          </a:prstGeom>
          <a:noFill/>
          <a:ln/>
        </p:spPr>
        <p:txBody>
          <a:bodyPr wrap="square" rtlCol="0" anchor="ctr"/>
          <a:lstStyle/>
          <a:p>
            <a:pPr marL="0" indent="0" algn="ctr">
              <a:buNone/>
            </a:pPr>
            <a:r>
              <a:rPr lang="en-US" sz="1400" b="1" dirty="0">
                <a:solidFill>
                  <a:srgbClr val="27AE60"/>
                </a:solidFill>
                <a:latin typeface="Calibri" pitchFamily="34" charset="0"/>
                <a:ea typeface="Calibri" pitchFamily="34" charset="-122"/>
                <a:cs typeface="Calibri" pitchFamily="34" charset="-120"/>
              </a:rPr>
              <a:t>✅ Livré</a:t>
            </a:r>
            <a:endParaRPr lang="en-US" sz="1400" dirty="0"/>
          </a:p>
        </p:txBody>
      </p:sp>
      <p:sp>
        <p:nvSpPr>
          <p:cNvPr id="10" name="Shape 8"/>
          <p:cNvSpPr/>
          <p:nvPr/>
        </p:nvSpPr>
        <p:spPr>
          <a:xfrm>
            <a:off x="822960" y="3383280"/>
            <a:ext cx="2743200" cy="45720"/>
          </a:xfrm>
          <a:prstGeom prst="rect">
            <a:avLst/>
          </a:prstGeom>
          <a:solidFill>
            <a:srgbClr val="C0392B"/>
          </a:solidFill>
          <a:ln/>
        </p:spPr>
        <p:txBody>
          <a:bodyPr/>
          <a:lstStyle/>
          <a:p>
            <a:endParaRPr lang="fr-FR"/>
          </a:p>
        </p:txBody>
      </p:sp>
      <p:sp>
        <p:nvSpPr>
          <p:cNvPr id="11" name="Text 9"/>
          <p:cNvSpPr/>
          <p:nvPr/>
        </p:nvSpPr>
        <p:spPr>
          <a:xfrm>
            <a:off x="548640" y="3520440"/>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Pipeline CI/CD 11 jobs</a:t>
            </a:r>
            <a:endParaRPr lang="en-US" sz="1100" dirty="0"/>
          </a:p>
        </p:txBody>
      </p:sp>
      <p:sp>
        <p:nvSpPr>
          <p:cNvPr id="12" name="Text 10"/>
          <p:cNvSpPr/>
          <p:nvPr/>
        </p:nvSpPr>
        <p:spPr>
          <a:xfrm>
            <a:off x="548640" y="4178808"/>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BFF + Keycloak + Messenger</a:t>
            </a:r>
            <a:endParaRPr lang="en-US" sz="1100" dirty="0"/>
          </a:p>
        </p:txBody>
      </p:sp>
      <p:sp>
        <p:nvSpPr>
          <p:cNvPr id="13" name="Text 11"/>
          <p:cNvSpPr/>
          <p:nvPr/>
        </p:nvSpPr>
        <p:spPr>
          <a:xfrm>
            <a:off x="548640" y="4837176"/>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Déploiement auto self-hosted</a:t>
            </a:r>
            <a:endParaRPr lang="en-US" sz="1100" dirty="0"/>
          </a:p>
        </p:txBody>
      </p:sp>
      <p:sp>
        <p:nvSpPr>
          <p:cNvPr id="14" name="Text 12"/>
          <p:cNvSpPr/>
          <p:nvPr/>
        </p:nvSpPr>
        <p:spPr>
          <a:xfrm>
            <a:off x="548640" y="5495544"/>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4 livrables documentaires</a:t>
            </a:r>
            <a:endParaRPr lang="en-US" sz="1100" dirty="0"/>
          </a:p>
        </p:txBody>
      </p:sp>
      <p:sp>
        <p:nvSpPr>
          <p:cNvPr id="15" name="Shape 13"/>
          <p:cNvSpPr/>
          <p:nvPr/>
        </p:nvSpPr>
        <p:spPr>
          <a:xfrm>
            <a:off x="4297680" y="2743200"/>
            <a:ext cx="3657600" cy="3749040"/>
          </a:xfrm>
          <a:prstGeom prst="rect">
            <a:avLst/>
          </a:prstGeom>
          <a:solidFill>
            <a:srgbClr val="1A1A2E"/>
          </a:solidFill>
          <a:ln w="19050">
            <a:solidFill>
              <a:srgbClr val="C0392B"/>
            </a:solidFill>
            <a:prstDash val="solid"/>
          </a:ln>
        </p:spPr>
        <p:txBody>
          <a:bodyPr/>
          <a:lstStyle/>
          <a:p>
            <a:endParaRPr lang="fr-FR"/>
          </a:p>
        </p:txBody>
      </p:sp>
      <p:sp>
        <p:nvSpPr>
          <p:cNvPr id="16" name="Text 14"/>
          <p:cNvSpPr/>
          <p:nvPr/>
        </p:nvSpPr>
        <p:spPr>
          <a:xfrm>
            <a:off x="4434840" y="2834640"/>
            <a:ext cx="3383280" cy="502920"/>
          </a:xfrm>
          <a:prstGeom prst="rect">
            <a:avLst/>
          </a:prstGeom>
          <a:noFill/>
          <a:ln/>
        </p:spPr>
        <p:txBody>
          <a:bodyPr wrap="square" rtlCol="0" anchor="ctr"/>
          <a:lstStyle/>
          <a:p>
            <a:pPr marL="0" indent="0" algn="ctr">
              <a:buNone/>
            </a:pPr>
            <a:r>
              <a:rPr lang="en-US" sz="1400" b="1" dirty="0">
                <a:solidFill>
                  <a:srgbClr val="F39C12"/>
                </a:solidFill>
                <a:latin typeface="Calibri" pitchFamily="34" charset="0"/>
                <a:ea typeface="Calibri" pitchFamily="34" charset="-122"/>
                <a:cs typeface="Calibri" pitchFamily="34" charset="-120"/>
              </a:rPr>
              <a:t>📊 Mesuré</a:t>
            </a:r>
            <a:endParaRPr lang="en-US" sz="1400" dirty="0"/>
          </a:p>
        </p:txBody>
      </p:sp>
      <p:sp>
        <p:nvSpPr>
          <p:cNvPr id="17" name="Shape 15"/>
          <p:cNvSpPr/>
          <p:nvPr/>
        </p:nvSpPr>
        <p:spPr>
          <a:xfrm>
            <a:off x="4754880" y="3383280"/>
            <a:ext cx="2743200" cy="45720"/>
          </a:xfrm>
          <a:prstGeom prst="rect">
            <a:avLst/>
          </a:prstGeom>
          <a:solidFill>
            <a:srgbClr val="C0392B"/>
          </a:solidFill>
          <a:ln/>
        </p:spPr>
        <p:txBody>
          <a:bodyPr/>
          <a:lstStyle/>
          <a:p>
            <a:endParaRPr lang="fr-FR"/>
          </a:p>
        </p:txBody>
      </p:sp>
      <p:sp>
        <p:nvSpPr>
          <p:cNvPr id="18" name="Text 16"/>
          <p:cNvSpPr/>
          <p:nvPr/>
        </p:nvSpPr>
        <p:spPr>
          <a:xfrm>
            <a:off x="4480560" y="3520440"/>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59 tests · 79% coverage</a:t>
            </a:r>
            <a:endParaRPr lang="en-US" sz="1100" dirty="0"/>
          </a:p>
        </p:txBody>
      </p:sp>
      <p:sp>
        <p:nvSpPr>
          <p:cNvPr id="19" name="Text 17"/>
          <p:cNvSpPr/>
          <p:nvPr/>
        </p:nvSpPr>
        <p:spPr>
          <a:xfrm>
            <a:off x="4480560" y="4178808"/>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k6 p95 &lt; 200ms · 0 erreur</a:t>
            </a:r>
            <a:endParaRPr lang="en-US" sz="1100" dirty="0"/>
          </a:p>
        </p:txBody>
      </p:sp>
      <p:sp>
        <p:nvSpPr>
          <p:cNvPr id="20" name="Text 18"/>
          <p:cNvSpPr/>
          <p:nvPr/>
        </p:nvSpPr>
        <p:spPr>
          <a:xfrm>
            <a:off x="4480560" y="4837176"/>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0 CVE Critical (Trivy)</a:t>
            </a:r>
            <a:endParaRPr lang="en-US" sz="1100" dirty="0"/>
          </a:p>
        </p:txBody>
      </p:sp>
      <p:sp>
        <p:nvSpPr>
          <p:cNvPr id="21" name="Text 19"/>
          <p:cNvSpPr/>
          <p:nvPr/>
        </p:nvSpPr>
        <p:spPr>
          <a:xfrm>
            <a:off x="4480560" y="5495544"/>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SonarCloud actif</a:t>
            </a:r>
            <a:endParaRPr lang="en-US" sz="1100" dirty="0"/>
          </a:p>
        </p:txBody>
      </p:sp>
      <p:sp>
        <p:nvSpPr>
          <p:cNvPr id="22" name="Shape 20"/>
          <p:cNvSpPr/>
          <p:nvPr/>
        </p:nvSpPr>
        <p:spPr>
          <a:xfrm>
            <a:off x="8229600" y="2743200"/>
            <a:ext cx="3657600" cy="3749040"/>
          </a:xfrm>
          <a:prstGeom prst="rect">
            <a:avLst/>
          </a:prstGeom>
          <a:solidFill>
            <a:srgbClr val="2E1A1A"/>
          </a:solidFill>
          <a:ln w="19050">
            <a:solidFill>
              <a:srgbClr val="C0392B"/>
            </a:solidFill>
            <a:prstDash val="solid"/>
          </a:ln>
        </p:spPr>
        <p:txBody>
          <a:bodyPr/>
          <a:lstStyle/>
          <a:p>
            <a:endParaRPr lang="fr-FR"/>
          </a:p>
        </p:txBody>
      </p:sp>
      <p:sp>
        <p:nvSpPr>
          <p:cNvPr id="23" name="Text 21"/>
          <p:cNvSpPr/>
          <p:nvPr/>
        </p:nvSpPr>
        <p:spPr>
          <a:xfrm>
            <a:off x="8366760" y="2834640"/>
            <a:ext cx="3383280" cy="502920"/>
          </a:xfrm>
          <a:prstGeom prst="rect">
            <a:avLst/>
          </a:prstGeom>
          <a:noFill/>
          <a:ln/>
        </p:spPr>
        <p:txBody>
          <a:bodyPr wrap="square" rtlCol="0" anchor="ctr"/>
          <a:lstStyle/>
          <a:p>
            <a:pPr marL="0" indent="0" algn="ctr">
              <a:buNone/>
            </a:pPr>
            <a:r>
              <a:rPr lang="en-US" sz="1400" b="1" dirty="0">
                <a:solidFill>
                  <a:srgbClr val="E74C3C"/>
                </a:solidFill>
                <a:latin typeface="Calibri" pitchFamily="34" charset="0"/>
                <a:ea typeface="Calibri" pitchFamily="34" charset="-122"/>
                <a:cs typeface="Calibri" pitchFamily="34" charset="-120"/>
              </a:rPr>
              <a:t>🚀 Perspective v2</a:t>
            </a:r>
            <a:endParaRPr lang="en-US" sz="1400" dirty="0"/>
          </a:p>
        </p:txBody>
      </p:sp>
      <p:sp>
        <p:nvSpPr>
          <p:cNvPr id="24" name="Shape 22"/>
          <p:cNvSpPr/>
          <p:nvPr/>
        </p:nvSpPr>
        <p:spPr>
          <a:xfrm>
            <a:off x="8686800" y="3383280"/>
            <a:ext cx="2743200" cy="45720"/>
          </a:xfrm>
          <a:prstGeom prst="rect">
            <a:avLst/>
          </a:prstGeom>
          <a:solidFill>
            <a:srgbClr val="C0392B"/>
          </a:solidFill>
          <a:ln/>
        </p:spPr>
        <p:txBody>
          <a:bodyPr/>
          <a:lstStyle/>
          <a:p>
            <a:endParaRPr lang="fr-FR"/>
          </a:p>
        </p:txBody>
      </p:sp>
      <p:sp>
        <p:nvSpPr>
          <p:cNvPr id="25" name="Text 23"/>
          <p:cNvSpPr/>
          <p:nvPr/>
        </p:nvSpPr>
        <p:spPr>
          <a:xfrm>
            <a:off x="8412480" y="3520440"/>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PostgreSQL + RabbitMQ</a:t>
            </a:r>
            <a:endParaRPr lang="en-US" sz="1100" dirty="0"/>
          </a:p>
        </p:txBody>
      </p:sp>
      <p:sp>
        <p:nvSpPr>
          <p:cNvPr id="26" name="Text 24"/>
          <p:cNvSpPr/>
          <p:nvPr/>
        </p:nvSpPr>
        <p:spPr>
          <a:xfrm>
            <a:off x="8412480" y="4178808"/>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WAF + DAST pipeline</a:t>
            </a:r>
            <a:endParaRPr lang="en-US" sz="1100" dirty="0"/>
          </a:p>
        </p:txBody>
      </p:sp>
      <p:sp>
        <p:nvSpPr>
          <p:cNvPr id="27" name="Text 25"/>
          <p:cNvSpPr/>
          <p:nvPr/>
        </p:nvSpPr>
        <p:spPr>
          <a:xfrm>
            <a:off x="8412480" y="4837176"/>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Kubernetes en production</a:t>
            </a:r>
            <a:endParaRPr lang="en-US" sz="1100" dirty="0"/>
          </a:p>
        </p:txBody>
      </p:sp>
      <p:sp>
        <p:nvSpPr>
          <p:cNvPr id="28" name="Text 26"/>
          <p:cNvSpPr/>
          <p:nvPr/>
        </p:nvSpPr>
        <p:spPr>
          <a:xfrm>
            <a:off x="8412480" y="5495544"/>
            <a:ext cx="3291840" cy="548640"/>
          </a:xfrm>
          <a:prstGeom prst="rect">
            <a:avLst/>
          </a:prstGeom>
          <a:noFill/>
          <a:ln/>
        </p:spPr>
        <p:txBody>
          <a:bodyPr wrap="square" rtlCol="0" anchor="ctr"/>
          <a:lstStyle/>
          <a:p>
            <a:pPr marL="0" indent="0">
              <a:buNone/>
            </a:pPr>
            <a:r>
              <a:rPr lang="en-US" sz="1100" dirty="0">
                <a:solidFill>
                  <a:srgbClr val="F0F0F0"/>
                </a:solidFill>
                <a:latin typeface="Calibri" pitchFamily="34" charset="0"/>
                <a:ea typeface="Calibri" pitchFamily="34" charset="-122"/>
                <a:cs typeface="Calibri" pitchFamily="34" charset="-120"/>
              </a:rPr>
              <a:t>▸  Espace communautaire</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0" y="0"/>
            <a:ext cx="457200" cy="6858000"/>
          </a:xfrm>
          <a:prstGeom prst="rect">
            <a:avLst/>
          </a:prstGeom>
          <a:solidFill>
            <a:srgbClr val="C0392B"/>
          </a:solidFill>
          <a:ln/>
        </p:spPr>
        <p:txBody>
          <a:bodyPr/>
          <a:lstStyle/>
          <a:p>
            <a:endParaRPr lang="fr-FR"/>
          </a:p>
        </p:txBody>
      </p:sp>
      <p:sp>
        <p:nvSpPr>
          <p:cNvPr id="3" name="Text 1"/>
          <p:cNvSpPr/>
          <p:nvPr/>
        </p:nvSpPr>
        <p:spPr>
          <a:xfrm>
            <a:off x="731520" y="1097280"/>
            <a:ext cx="10058400" cy="1828800"/>
          </a:xfrm>
          <a:prstGeom prst="rect">
            <a:avLst/>
          </a:prstGeom>
          <a:noFill/>
          <a:ln/>
        </p:spPr>
        <p:txBody>
          <a:bodyPr wrap="square" rtlCol="0" anchor="ctr"/>
          <a:lstStyle/>
          <a:p>
            <a:pPr marL="0" indent="0">
              <a:buNone/>
            </a:pPr>
            <a:r>
              <a:rPr lang="en-US" sz="7200" b="1" dirty="0">
                <a:solidFill>
                  <a:srgbClr val="F0F0F0"/>
                </a:solidFill>
                <a:latin typeface="Georgia" pitchFamily="34" charset="0"/>
                <a:ea typeface="Georgia" pitchFamily="34" charset="-122"/>
                <a:cs typeface="Georgia" pitchFamily="34" charset="-120"/>
              </a:rPr>
              <a:t>Merci</a:t>
            </a:r>
            <a:endParaRPr lang="en-US" sz="7200" dirty="0"/>
          </a:p>
        </p:txBody>
      </p:sp>
      <p:sp>
        <p:nvSpPr>
          <p:cNvPr id="4" name="Shape 2"/>
          <p:cNvSpPr/>
          <p:nvPr/>
        </p:nvSpPr>
        <p:spPr>
          <a:xfrm>
            <a:off x="731520" y="3108960"/>
            <a:ext cx="4572000" cy="54864"/>
          </a:xfrm>
          <a:prstGeom prst="rect">
            <a:avLst/>
          </a:prstGeom>
          <a:solidFill>
            <a:srgbClr val="C0392B"/>
          </a:solidFill>
          <a:ln/>
        </p:spPr>
        <p:txBody>
          <a:bodyPr/>
          <a:lstStyle/>
          <a:p>
            <a:endParaRPr lang="fr-FR"/>
          </a:p>
        </p:txBody>
      </p:sp>
      <p:sp>
        <p:nvSpPr>
          <p:cNvPr id="5" name="Text 3"/>
          <p:cNvSpPr/>
          <p:nvPr/>
        </p:nvSpPr>
        <p:spPr>
          <a:xfrm>
            <a:off x="731520" y="3291840"/>
            <a:ext cx="7315200" cy="822960"/>
          </a:xfrm>
          <a:prstGeom prst="rect">
            <a:avLst/>
          </a:prstGeom>
          <a:noFill/>
          <a:ln/>
        </p:spPr>
        <p:txBody>
          <a:bodyPr wrap="square" rtlCol="0" anchor="ctr"/>
          <a:lstStyle/>
          <a:p>
            <a:pPr marL="0" indent="0">
              <a:buNone/>
            </a:pPr>
            <a:r>
              <a:rPr lang="en-US" sz="3000" i="1" dirty="0">
                <a:solidFill>
                  <a:srgbClr val="888888"/>
                </a:solidFill>
                <a:latin typeface="Georgia" pitchFamily="34" charset="0"/>
                <a:ea typeface="Georgia" pitchFamily="34" charset="-122"/>
                <a:cs typeface="Georgia" pitchFamily="34" charset="-120"/>
              </a:rPr>
              <a:t>Questions ?</a:t>
            </a:r>
            <a:endParaRPr lang="en-US" sz="3000" dirty="0"/>
          </a:p>
        </p:txBody>
      </p:sp>
      <p:sp>
        <p:nvSpPr>
          <p:cNvPr id="6" name="Text 4"/>
          <p:cNvSpPr/>
          <p:nvPr/>
        </p:nvSpPr>
        <p:spPr>
          <a:xfrm>
            <a:off x="731520" y="4389120"/>
            <a:ext cx="9144000" cy="411480"/>
          </a:xfrm>
          <a:prstGeom prst="rect">
            <a:avLst/>
          </a:prstGeom>
          <a:noFill/>
          <a:ln/>
        </p:spPr>
        <p:txBody>
          <a:bodyPr wrap="square" rtlCol="0" anchor="ctr"/>
          <a:lstStyle/>
          <a:p>
            <a:pPr marL="0" indent="0">
              <a:buNone/>
            </a:pPr>
            <a:r>
              <a:rPr lang="en-US" sz="1300" dirty="0">
                <a:solidFill>
                  <a:srgbClr val="F39C12"/>
                </a:solidFill>
                <a:latin typeface="Calibri" pitchFamily="34" charset="0"/>
                <a:ea typeface="Calibri" pitchFamily="34" charset="-122"/>
                <a:cs typeface="Calibri" pitchFamily="34" charset="-120"/>
              </a:rPr>
              <a:t>🔗  github.com/Brok3nWings/lpmde</a:t>
            </a:r>
            <a:endParaRPr lang="en-US" sz="1300" dirty="0"/>
          </a:p>
        </p:txBody>
      </p:sp>
      <p:sp>
        <p:nvSpPr>
          <p:cNvPr id="7" name="Text 5"/>
          <p:cNvSpPr/>
          <p:nvPr/>
        </p:nvSpPr>
        <p:spPr>
          <a:xfrm>
            <a:off x="731520" y="4892040"/>
            <a:ext cx="9144000" cy="411480"/>
          </a:xfrm>
          <a:prstGeom prst="rect">
            <a:avLst/>
          </a:prstGeom>
          <a:noFill/>
          <a:ln/>
        </p:spPr>
        <p:txBody>
          <a:bodyPr wrap="square" rtlCol="0" anchor="ctr"/>
          <a:lstStyle/>
          <a:p>
            <a:pPr marL="0" indent="0">
              <a:buNone/>
            </a:pPr>
            <a:r>
              <a:rPr lang="en-US" sz="1300" dirty="0">
                <a:solidFill>
                  <a:srgbClr val="F39C12"/>
                </a:solidFill>
                <a:latin typeface="Calibri" pitchFamily="34" charset="0"/>
                <a:ea typeface="Calibri" pitchFamily="34" charset="-122"/>
                <a:cs typeface="Calibri" pitchFamily="34" charset="-120"/>
              </a:rPr>
              <a:t>🖥  Staging : http://localhost:8089</a:t>
            </a:r>
            <a:endParaRPr lang="en-US" sz="1300" dirty="0"/>
          </a:p>
        </p:txBody>
      </p:sp>
      <p:sp>
        <p:nvSpPr>
          <p:cNvPr id="8" name="Text 6"/>
          <p:cNvSpPr/>
          <p:nvPr/>
        </p:nvSpPr>
        <p:spPr>
          <a:xfrm>
            <a:off x="731520" y="5394960"/>
            <a:ext cx="9144000" cy="411480"/>
          </a:xfrm>
          <a:prstGeom prst="rect">
            <a:avLst/>
          </a:prstGeom>
          <a:noFill/>
          <a:ln/>
        </p:spPr>
        <p:txBody>
          <a:bodyPr wrap="square" rtlCol="0" anchor="ctr"/>
          <a:lstStyle/>
          <a:p>
            <a:pPr marL="0" indent="0">
              <a:buNone/>
            </a:pPr>
            <a:r>
              <a:rPr lang="en-US" sz="1300" dirty="0">
                <a:solidFill>
                  <a:srgbClr val="F39C12"/>
                </a:solidFill>
                <a:latin typeface="Calibri" pitchFamily="34" charset="0"/>
                <a:ea typeface="Calibri" pitchFamily="34" charset="-122"/>
                <a:cs typeface="Calibri" pitchFamily="34" charset="-120"/>
              </a:rPr>
              <a:t>🚀  Production : http://localhost:8088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1953</Words>
  <Application>Microsoft Office PowerPoint</Application>
  <PresentationFormat>Grand écran</PresentationFormat>
  <Paragraphs>368</Paragraphs>
  <Slides>19</Slides>
  <Notes>19</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19</vt:i4>
      </vt:variant>
    </vt:vector>
  </HeadingPairs>
  <TitlesOfParts>
    <vt:vector size="23" baseType="lpstr">
      <vt:lpstr>Arial</vt:lpstr>
      <vt:lpstr>Calibri</vt:lpstr>
      <vt:lpstr>Georgia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JOUBERT BRYAN</cp:lastModifiedBy>
  <cp:revision>3</cp:revision>
  <dcterms:created xsi:type="dcterms:W3CDTF">2026-03-12T13:17:53Z</dcterms:created>
  <dcterms:modified xsi:type="dcterms:W3CDTF">2026-03-12T15:14:20Z</dcterms:modified>
</cp:coreProperties>
</file>