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Je vais vous présenter le travail réalisé dans le cadre du module Superviser et assurer le développement logiciel. On va parcourir ensemble comment j'ai structuré ce projet de A à Z, du processus qualité jusqu'au déploiement automatique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se découpe en trois parties.
PARTIE 1 — Processus Qualité :
- 4 métriques ISO 25010 : les indicateurs choisis pour mesurer objectivement la qualité du code — couverture de tests, vulnérabilités, performance et maintenabilité.
- Politique de tests DevSecOps : comment la sécurité est intégrée à chaque étape du cycle de vie, du plan au déploiement.
- Pipeline CI/CD 11 jobs : le schéma complet de la chaîne d'intégration et de livraison continue mise en place sur GitHub Actions.
- Compétences &amp; formation : cartographie de l'équipe nécessaire et proposition de formation pour monter en compétences.
PARTIE 2 — Développement &amp; Déploiement :
- Backlog &amp; User Stories : les 4 fonctionnalités formalisées avant le développement — profil agrégé, authentification, catalogue produits, notifications.
- Architecture BFF / POC : le pattern Backend For Frontend retenu et validé en bac à sable avant intégration.
- Disponibilité &amp; montée en charge : les mécanismes garantissant que l'application reste disponible en production — health check, restart automatique, persistance des données.
- Résultats &amp; chiffres clés : les métriques concrètes issues des tests — 59 tests, 79% de couverture, p95 &lt; 200ms, 0 CVE critique.
PARTIE 3 — Sécurité &amp; Remédiation :
- Politique sécurité OWASP Top 10 : audit de la v1 selon le référentiel OWASP — 7 vulnérabilités identifiées dont 2 critiques.
- Plan de remédiation 3 sprints : traitement progressif des risques, du critique à la réduction de surface d'attaque.
- Mesures préventives v2 : les 3 dispositifs proactifs prévus pour la prochaine version — Vault, DAST, Dependabot.
- Bilan de la mission : récapitulatif de ce qui a été livré, mesuré, et les perspectives pour la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Petite Maison de l'Epouvante est une société spécialisée dans le genre horrifique avec 10 ans d'existence. Le problème : leur SI est fragmenté et ils n'ont pas de vente en ligne. Ma mission en tant que Lead Dev : poser les bases d'une vraie plateforme numérique moderne.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par le processus qualité. Comment garantit-on qu'on livre un produit fiable ? C'est la question centrale de cette première partie.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sélectionné 4 indicateurs directement issus de la norme ISO 25010. Ce ne sont pas des métriques arbitraires — chacune est mesurée automatiquement dans le pipeline CI/CD. Si la couverture passe sous le seuil, le build échoue directement.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principe DevSecOps, c'est intégrer la sécurité à chaque étape plutôt qu'à la fin. Plan, Code, Build, Test, Deploy — à chaque phase, des outils automatiques vérifient que rien ne dérape. On appelle ça le Shift Left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pipeline complet avec ses 11 jobs. Les blocs rouges sont les scans de sécurité, les verts les tests fonctionnels. Important à noter : les 3 jobs en bas — build, staging, production — tournent sur mon propre ordinateur grâce au self-hosted runner.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mener ce type de projet, il faut une équipe pluridisciplinaire couvrant 4 profils. La formation CKA pour le DevOps est particulièrement pertinente car Kubernetes est la prochaine étape d'infrastructure. C'est une certification reconnue, 100% en ligne, délivrée par la Linux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 partie réalisation. Comment a-t-on concrètement traduit les besoins métier en code fonctionnel déployé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d'écrire une seule ligne de code, on formalise les besoins sous forme de User Stories. Les 4 US couvrent les fonctionnalités clés : profil agrégé, authentification SSO, catalogue produits et notifications asynchrones. Toutes sont implémentées et couvertes par des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repose sur le pattern BFF, Backend For Frontend. Le client n'a qu'un seul point d'entrée qui agrège les réponses de plusieurs services. Le cache de 60 secondes évite de surcharger les services internes à chaque requête et améliore les performances.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technologie a été testée dans un bac à sable avant intégration. La difficulté principale : Apache mod_php ne transmet pas automatiquement les variables Docker à PHP. J'ai dû ajouter une directive SetEnv dans la configuration Apache pour contourner ce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chiffres valident la qualité de la réalisation. 59 tests, zéro échec, 186 assertions. La couverture de classes dépasse 78%. Les tests k6 confirment des temps de réponse inférieurs à 200ms au 95e percentile. Trivy ne remonte aucune CVE critique sur l'image Docker.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disponibilité est garantie par plusieurs mécanismes complémentaires : le restart automatique Docker en cas de crash, le health check automatisé avec 12 tentatives dans le pipeline, la persistance via volume nommé, et les tests k6 qui valident les performances sous charge. La prochaine étape vers la vraie montée en charge horizontale :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l'analyse de sécurité. Un bon logiciel c'est aussi un logiciel sécurisé. Dans cette v1, j'ai identifié plusieurs points d'amélioration et proposé un plan d'action concret.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audité la v1 selon le référentiel OWASP Top 10. Résultat : 7 vulnérabilités identifiées dont 2 critiques. Le contrôle d'accès ouvert en développement et l'APP_SECRET potentiellement exposé sont les risques les plus sérieux à traiter en priorité.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de remédiation est organisé en 3 sprints progressifs. En sprint 1, on traite l'essentiel : fermer le contrôle d'accès, sécuriser les secrets via GitHub Secrets, migrer vers PostgreSQL. Les sprints 2 et 3 adressent les vulnérabilités de niveau haute et basse.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v2, la sécurité devient proactive. HashiCorp Vault pour la gestion des secrets avec rotation automatique, OWASP ZAP intégré dans le pipeline pour les tests dynamiques, et Dependabot pour la surveillance continue des dépendances. On ne réagit plus, on anticipe.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on a livré une application fonctionnelle avec un pipeline de 11 jobs, une architecture BFF éprouvée, et une analyse de sécurité complète. Les métriques sont au vert et les perspectives v2 sont clairement définies. C'est une base solide pour la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Voilà, c'est la fin de cette présentation. Je suis disponible pour toutes vos questions. N'hésitez pas à demander une démonstration live — les environnements staging et production sont actifs sur ma machine en ce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457200" cy="6858000"/>
          </a:xfrm>
          <a:prstGeom prst="rect">
            <a:avLst/>
          </a:prstGeom>
          <a:solidFill>
            <a:srgbClr val="C0392B"/>
          </a:solidFill>
          <a:ln/>
        </p:spPr>
      </p:sp>
      <p:sp>
        <p:nvSpPr>
          <p:cNvPr id="3" name="Text 1"/>
          <p:cNvSpPr/>
          <p:nvPr/>
        </p:nvSpPr>
        <p:spPr>
          <a:xfrm>
            <a:off x="731520" y="548640"/>
            <a:ext cx="10058400" cy="2926080"/>
          </a:xfrm>
          <a:prstGeom prst="rect">
            <a:avLst/>
          </a:prstGeom>
          <a:noFill/>
          <a:ln/>
        </p:spPr>
        <p:txBody>
          <a:bodyPr wrap="square" rtlCol="0" anchor="ctr"/>
          <a:lstStyle/>
          <a:p>
            <a:pPr indent="0" marL="0">
              <a:buNone/>
            </a:pPr>
            <a:r>
              <a:rPr lang="en-US" sz="4800" b="1" dirty="0">
                <a:solidFill>
                  <a:srgbClr val="F0F0F0"/>
                </a:solidFill>
                <a:latin typeface="Georgia" pitchFamily="34" charset="0"/>
                <a:ea typeface="Georgia" pitchFamily="34" charset="-122"/>
                <a:cs typeface="Georgia" pitchFamily="34" charset="-120"/>
              </a:rPr>
              <a:t>La Petite Maison</a:t>
            </a:r>
            <a:endParaRPr lang="en-US" sz="4800" dirty="0"/>
          </a:p>
          <a:p>
            <a:pPr indent="0" marL="0">
              <a:buNone/>
            </a:pPr>
            <a:r>
              <a:rPr lang="en-US" sz="4800" b="1" dirty="0">
                <a:solidFill>
                  <a:srgbClr val="F0F0F0"/>
                </a:solidFill>
                <a:latin typeface="Georgia" pitchFamily="34" charset="0"/>
                <a:ea typeface="Georgia" pitchFamily="34" charset="-122"/>
                <a:cs typeface="Georgia" pitchFamily="34" charset="-120"/>
              </a:rPr>
              <a:t>de l'Épouvante</a:t>
            </a:r>
            <a:endParaRPr lang="en-US" sz="4800" dirty="0"/>
          </a:p>
        </p:txBody>
      </p:sp>
      <p:sp>
        <p:nvSpPr>
          <p:cNvPr id="4" name="Text 2"/>
          <p:cNvSpPr/>
          <p:nvPr/>
        </p:nvSpPr>
        <p:spPr>
          <a:xfrm>
            <a:off x="731520" y="3474720"/>
            <a:ext cx="9144000" cy="640080"/>
          </a:xfrm>
          <a:prstGeom prst="rect">
            <a:avLst/>
          </a:prstGeom>
          <a:noFill/>
          <a:ln/>
        </p:spPr>
        <p:txBody>
          <a:bodyPr wrap="square" rtlCol="0" anchor="ctr"/>
          <a:lstStyle/>
          <a:p>
            <a:pPr indent="0" marL="0">
              <a:buNone/>
            </a:pPr>
            <a:r>
              <a:rPr lang="en-US" sz="1700" i="1" dirty="0">
                <a:solidFill>
                  <a:srgbClr val="B2B2B2"/>
                </a:solidFill>
                <a:latin typeface="Calibri" pitchFamily="34" charset="0"/>
                <a:ea typeface="Calibri" pitchFamily="34" charset="-122"/>
                <a:cs typeface="Calibri" pitchFamily="34" charset="-120"/>
              </a:rPr>
              <a:t>Superviser et assurer le développement des applications logicielles</a:t>
            </a:r>
            <a:endParaRPr lang="en-US" sz="1700" dirty="0"/>
          </a:p>
        </p:txBody>
      </p:sp>
      <p:sp>
        <p:nvSpPr>
          <p:cNvPr id="5" name="Shape 3"/>
          <p:cNvSpPr/>
          <p:nvPr/>
        </p:nvSpPr>
        <p:spPr>
          <a:xfrm>
            <a:off x="731520" y="4297680"/>
            <a:ext cx="5486400" cy="45720"/>
          </a:xfrm>
          <a:prstGeom prst="rect">
            <a:avLst/>
          </a:prstGeom>
          <a:solidFill>
            <a:srgbClr val="C0392B"/>
          </a:solidFill>
          <a:ln/>
        </p:spPr>
      </p:sp>
      <p:sp>
        <p:nvSpPr>
          <p:cNvPr id="6" name="Text 4"/>
          <p:cNvSpPr/>
          <p:nvPr/>
        </p:nvSpPr>
        <p:spPr>
          <a:xfrm>
            <a:off x="731520" y="4434840"/>
            <a:ext cx="7315200" cy="365760"/>
          </a:xfrm>
          <a:prstGeom prst="rect">
            <a:avLst/>
          </a:prstGeom>
          <a:noFill/>
          <a:ln/>
        </p:spPr>
        <p:txBody>
          <a:bodyPr wrap="square" rtlCol="0" anchor="ctr"/>
          <a:lstStyle/>
          <a:p>
            <a:pPr indent="0" marL="0">
              <a:buNone/>
            </a:pPr>
            <a:r>
              <a:rPr lang="en-US" sz="1300" dirty="0">
                <a:solidFill>
                  <a:srgbClr val="F39C12"/>
                </a:solidFill>
                <a:latin typeface="Calibri" pitchFamily="34" charset="0"/>
                <a:ea typeface="Calibri" pitchFamily="34" charset="-122"/>
                <a:cs typeface="Calibri" pitchFamily="34" charset="-120"/>
              </a:rPr>
              <a:t>POC v1  ·  Lead Developer  ·  Mars 2026</a:t>
            </a:r>
            <a:endParaRPr lang="en-US" sz="1300" dirty="0"/>
          </a:p>
        </p:txBody>
      </p:sp>
      <p:sp>
        <p:nvSpPr>
          <p:cNvPr id="7" name="Text 5"/>
          <p:cNvSpPr/>
          <p:nvPr/>
        </p:nvSpPr>
        <p:spPr>
          <a:xfrm>
            <a:off x="731520" y="6126480"/>
            <a:ext cx="11247120" cy="411480"/>
          </a:xfrm>
          <a:prstGeom prst="rect">
            <a:avLst/>
          </a:prstGeom>
          <a:noFill/>
          <a:ln/>
        </p:spPr>
        <p:txBody>
          <a:bodyPr wrap="square" rtlCol="0" anchor="ctr"/>
          <a:lstStyle/>
          <a:p>
            <a:pPr algn="r" indent="0" marL="0">
              <a:buNone/>
            </a:pPr>
            <a:r>
              <a:rPr lang="en-US" sz="1400" b="1" dirty="0">
                <a:solidFill>
                  <a:srgbClr val="F0F0F0"/>
                </a:solidFill>
                <a:latin typeface="Calibri" pitchFamily="34" charset="0"/>
                <a:ea typeface="Calibri" pitchFamily="34" charset="-122"/>
                <a:cs typeface="Calibri" pitchFamily="34" charset="-120"/>
              </a:rPr>
              <a:t>Bryan JOUBERT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2</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PLAN DE LA PRÉSENTATION</a:t>
            </a:r>
            <a:endParaRPr lang="en-US" sz="1100" dirty="0"/>
          </a:p>
        </p:txBody>
      </p:sp>
      <p:sp>
        <p:nvSpPr>
          <p:cNvPr id="8" name="Text 6"/>
          <p:cNvSpPr/>
          <p:nvPr/>
        </p:nvSpPr>
        <p:spPr>
          <a:xfrm>
            <a:off x="365760" y="1280160"/>
            <a:ext cx="11430000" cy="8229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Sommaire</a:t>
            </a:r>
            <a:endParaRPr lang="en-US" sz="3400" dirty="0"/>
          </a:p>
        </p:txBody>
      </p:sp>
      <p:sp>
        <p:nvSpPr>
          <p:cNvPr id="9" name="Shape 7"/>
          <p:cNvSpPr/>
          <p:nvPr/>
        </p:nvSpPr>
        <p:spPr>
          <a:xfrm>
            <a:off x="365760" y="2743200"/>
            <a:ext cx="3657600" cy="3657600"/>
          </a:xfrm>
          <a:prstGeom prst="rect">
            <a:avLst>
              <a:gd name="adj" fmla="val 2000"/>
            </a:avLst>
          </a:prstGeom>
          <a:solidFill>
            <a:srgbClr val="2E1A1A"/>
          </a:solidFill>
          <a:ln w="19050">
            <a:solidFill>
              <a:srgbClr val="C0392B"/>
            </a:solidFill>
            <a:prstDash val="solid"/>
          </a:ln>
        </p:spPr>
      </p:sp>
      <p:sp>
        <p:nvSpPr>
          <p:cNvPr id="10" name="Text 8"/>
          <p:cNvSpPr/>
          <p:nvPr/>
        </p:nvSpPr>
        <p:spPr>
          <a:xfrm>
            <a:off x="502920" y="2834640"/>
            <a:ext cx="731520" cy="594360"/>
          </a:xfrm>
          <a:prstGeom prst="rect">
            <a:avLst/>
          </a:prstGeom>
          <a:noFill/>
          <a:ln/>
        </p:spPr>
        <p:txBody>
          <a:bodyPr wrap="square" rtlCol="0" anchor="ctr"/>
          <a:lstStyle/>
          <a:p>
            <a:pPr indent="0" marL="0">
              <a:buNone/>
            </a:pPr>
            <a:r>
              <a:rPr lang="en-US" sz="2800" b="1" dirty="0">
                <a:solidFill>
                  <a:srgbClr val="E74C3C"/>
                </a:solidFill>
                <a:latin typeface="Georgia" pitchFamily="34" charset="0"/>
                <a:ea typeface="Georgia" pitchFamily="34" charset="-122"/>
                <a:cs typeface="Georgia" pitchFamily="34" charset="-120"/>
              </a:rPr>
              <a:t>01</a:t>
            </a:r>
            <a:endParaRPr lang="en-US" sz="2800" dirty="0"/>
          </a:p>
        </p:txBody>
      </p:sp>
      <p:sp>
        <p:nvSpPr>
          <p:cNvPr id="11" name="Text 9"/>
          <p:cNvSpPr/>
          <p:nvPr/>
        </p:nvSpPr>
        <p:spPr>
          <a:xfrm>
            <a:off x="502920" y="3429000"/>
            <a:ext cx="3383280" cy="548640"/>
          </a:xfrm>
          <a:prstGeom prst="rect">
            <a:avLst/>
          </a:prstGeom>
          <a:noFill/>
          <a:ln/>
        </p:spPr>
        <p:txBody>
          <a:bodyPr wrap="square" rtlCol="0" anchor="ctr"/>
          <a:lstStyle/>
          <a:p>
            <a:pPr indent="0" marL="0">
              <a:buNone/>
            </a:pPr>
            <a:r>
              <a:rPr lang="en-US" sz="1300" b="1" dirty="0">
                <a:solidFill>
                  <a:srgbClr val="F0F0F0"/>
                </a:solidFill>
                <a:latin typeface="Calibri" pitchFamily="34" charset="0"/>
                <a:ea typeface="Calibri" pitchFamily="34" charset="-122"/>
                <a:cs typeface="Calibri" pitchFamily="34" charset="-120"/>
              </a:rPr>
              <a:t>Processus Qualité</a:t>
            </a:r>
            <a:endParaRPr lang="en-US" sz="1300" dirty="0"/>
          </a:p>
        </p:txBody>
      </p:sp>
      <p:sp>
        <p:nvSpPr>
          <p:cNvPr id="12" name="Shape 10"/>
          <p:cNvSpPr/>
          <p:nvPr/>
        </p:nvSpPr>
        <p:spPr>
          <a:xfrm>
            <a:off x="502920" y="4023360"/>
            <a:ext cx="3200400" cy="36576"/>
          </a:xfrm>
          <a:prstGeom prst="rect">
            <a:avLst/>
          </a:prstGeom>
          <a:solidFill>
            <a:srgbClr val="C0392B"/>
          </a:solidFill>
          <a:ln/>
        </p:spPr>
      </p:sp>
      <p:sp>
        <p:nvSpPr>
          <p:cNvPr id="13" name="Text 11"/>
          <p:cNvSpPr/>
          <p:nvPr/>
        </p:nvSpPr>
        <p:spPr>
          <a:xfrm>
            <a:off x="548640" y="4114800"/>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4 métriques ISO 25010</a:t>
            </a:r>
            <a:endParaRPr lang="en-US" sz="1200" dirty="0"/>
          </a:p>
        </p:txBody>
      </p:sp>
      <p:sp>
        <p:nvSpPr>
          <p:cNvPr id="14" name="Text 12"/>
          <p:cNvSpPr/>
          <p:nvPr/>
        </p:nvSpPr>
        <p:spPr>
          <a:xfrm>
            <a:off x="548640" y="4636008"/>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Politique de tests DevSecOps</a:t>
            </a:r>
            <a:endParaRPr lang="en-US" sz="1200" dirty="0"/>
          </a:p>
        </p:txBody>
      </p:sp>
      <p:sp>
        <p:nvSpPr>
          <p:cNvPr id="15" name="Text 13"/>
          <p:cNvSpPr/>
          <p:nvPr/>
        </p:nvSpPr>
        <p:spPr>
          <a:xfrm>
            <a:off x="548640" y="5157216"/>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Pipeline CI/CD 11 jobs</a:t>
            </a:r>
            <a:endParaRPr lang="en-US" sz="1200" dirty="0"/>
          </a:p>
        </p:txBody>
      </p:sp>
      <p:sp>
        <p:nvSpPr>
          <p:cNvPr id="16" name="Text 14"/>
          <p:cNvSpPr/>
          <p:nvPr/>
        </p:nvSpPr>
        <p:spPr>
          <a:xfrm>
            <a:off x="548640" y="5678424"/>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Compétences &amp; formation</a:t>
            </a:r>
            <a:endParaRPr lang="en-US" sz="1200" dirty="0"/>
          </a:p>
        </p:txBody>
      </p:sp>
      <p:sp>
        <p:nvSpPr>
          <p:cNvPr id="17" name="Shape 15"/>
          <p:cNvSpPr/>
          <p:nvPr/>
        </p:nvSpPr>
        <p:spPr>
          <a:xfrm>
            <a:off x="4297680" y="2743200"/>
            <a:ext cx="3657600" cy="3657600"/>
          </a:xfrm>
          <a:prstGeom prst="rect">
            <a:avLst>
              <a:gd name="adj" fmla="val 2000"/>
            </a:avLst>
          </a:prstGeom>
          <a:solidFill>
            <a:srgbClr val="1A1A2E"/>
          </a:solidFill>
          <a:ln w="19050">
            <a:solidFill>
              <a:srgbClr val="C0392B"/>
            </a:solidFill>
            <a:prstDash val="solid"/>
          </a:ln>
        </p:spPr>
      </p:sp>
      <p:sp>
        <p:nvSpPr>
          <p:cNvPr id="18" name="Text 16"/>
          <p:cNvSpPr/>
          <p:nvPr/>
        </p:nvSpPr>
        <p:spPr>
          <a:xfrm>
            <a:off x="4434840" y="2834640"/>
            <a:ext cx="731520" cy="594360"/>
          </a:xfrm>
          <a:prstGeom prst="rect">
            <a:avLst/>
          </a:prstGeom>
          <a:noFill/>
          <a:ln/>
        </p:spPr>
        <p:txBody>
          <a:bodyPr wrap="square" rtlCol="0" anchor="ctr"/>
          <a:lstStyle/>
          <a:p>
            <a:pPr indent="0" marL="0">
              <a:buNone/>
            </a:pPr>
            <a:r>
              <a:rPr lang="en-US" sz="2800" b="1" dirty="0">
                <a:solidFill>
                  <a:srgbClr val="E74C3C"/>
                </a:solidFill>
                <a:latin typeface="Georgia" pitchFamily="34" charset="0"/>
                <a:ea typeface="Georgia" pitchFamily="34" charset="-122"/>
                <a:cs typeface="Georgia" pitchFamily="34" charset="-120"/>
              </a:rPr>
              <a:t>02</a:t>
            </a:r>
            <a:endParaRPr lang="en-US" sz="2800" dirty="0"/>
          </a:p>
        </p:txBody>
      </p:sp>
      <p:sp>
        <p:nvSpPr>
          <p:cNvPr id="19" name="Text 17"/>
          <p:cNvSpPr/>
          <p:nvPr/>
        </p:nvSpPr>
        <p:spPr>
          <a:xfrm>
            <a:off x="4434840" y="3429000"/>
            <a:ext cx="3383280" cy="548640"/>
          </a:xfrm>
          <a:prstGeom prst="rect">
            <a:avLst/>
          </a:prstGeom>
          <a:noFill/>
          <a:ln/>
        </p:spPr>
        <p:txBody>
          <a:bodyPr wrap="square" rtlCol="0" anchor="ctr"/>
          <a:lstStyle/>
          <a:p>
            <a:pPr indent="0" marL="0">
              <a:buNone/>
            </a:pPr>
            <a:r>
              <a:rPr lang="en-US" sz="1300" b="1" dirty="0">
                <a:solidFill>
                  <a:srgbClr val="F0F0F0"/>
                </a:solidFill>
                <a:latin typeface="Calibri" pitchFamily="34" charset="0"/>
                <a:ea typeface="Calibri" pitchFamily="34" charset="-122"/>
                <a:cs typeface="Calibri" pitchFamily="34" charset="-120"/>
              </a:rPr>
              <a:t>Développement &amp; Déploiement</a:t>
            </a:r>
            <a:endParaRPr lang="en-US" sz="1300" dirty="0"/>
          </a:p>
        </p:txBody>
      </p:sp>
      <p:sp>
        <p:nvSpPr>
          <p:cNvPr id="20" name="Shape 18"/>
          <p:cNvSpPr/>
          <p:nvPr/>
        </p:nvSpPr>
        <p:spPr>
          <a:xfrm>
            <a:off x="4434840" y="4023360"/>
            <a:ext cx="3200400" cy="36576"/>
          </a:xfrm>
          <a:prstGeom prst="rect">
            <a:avLst/>
          </a:prstGeom>
          <a:solidFill>
            <a:srgbClr val="C0392B"/>
          </a:solidFill>
          <a:ln/>
        </p:spPr>
      </p:sp>
      <p:sp>
        <p:nvSpPr>
          <p:cNvPr id="21" name="Text 19"/>
          <p:cNvSpPr/>
          <p:nvPr/>
        </p:nvSpPr>
        <p:spPr>
          <a:xfrm>
            <a:off x="4480560" y="4114800"/>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Backlog &amp; User Stories</a:t>
            </a:r>
            <a:endParaRPr lang="en-US" sz="1200" dirty="0"/>
          </a:p>
        </p:txBody>
      </p:sp>
      <p:sp>
        <p:nvSpPr>
          <p:cNvPr id="22" name="Text 20"/>
          <p:cNvSpPr/>
          <p:nvPr/>
        </p:nvSpPr>
        <p:spPr>
          <a:xfrm>
            <a:off x="4480560" y="4636008"/>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Architecture BFF / POC</a:t>
            </a:r>
            <a:endParaRPr lang="en-US" sz="1200" dirty="0"/>
          </a:p>
        </p:txBody>
      </p:sp>
      <p:sp>
        <p:nvSpPr>
          <p:cNvPr id="23" name="Text 21"/>
          <p:cNvSpPr/>
          <p:nvPr/>
        </p:nvSpPr>
        <p:spPr>
          <a:xfrm>
            <a:off x="4480560" y="5157216"/>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Disponibilité &amp; montée en charge</a:t>
            </a:r>
            <a:endParaRPr lang="en-US" sz="1200" dirty="0"/>
          </a:p>
        </p:txBody>
      </p:sp>
      <p:sp>
        <p:nvSpPr>
          <p:cNvPr id="24" name="Text 22"/>
          <p:cNvSpPr/>
          <p:nvPr/>
        </p:nvSpPr>
        <p:spPr>
          <a:xfrm>
            <a:off x="4480560" y="5678424"/>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Résultats &amp; chiffres clés</a:t>
            </a:r>
            <a:endParaRPr lang="en-US" sz="1200" dirty="0"/>
          </a:p>
        </p:txBody>
      </p:sp>
      <p:sp>
        <p:nvSpPr>
          <p:cNvPr id="25" name="Shape 23"/>
          <p:cNvSpPr/>
          <p:nvPr/>
        </p:nvSpPr>
        <p:spPr>
          <a:xfrm>
            <a:off x="8229600" y="2743200"/>
            <a:ext cx="3657600" cy="3657600"/>
          </a:xfrm>
          <a:prstGeom prst="rect">
            <a:avLst>
              <a:gd name="adj" fmla="val 2000"/>
            </a:avLst>
          </a:prstGeom>
          <a:solidFill>
            <a:srgbClr val="1A2E1A"/>
          </a:solidFill>
          <a:ln w="19050">
            <a:solidFill>
              <a:srgbClr val="C0392B"/>
            </a:solidFill>
            <a:prstDash val="solid"/>
          </a:ln>
        </p:spPr>
      </p:sp>
      <p:sp>
        <p:nvSpPr>
          <p:cNvPr id="26" name="Text 24"/>
          <p:cNvSpPr/>
          <p:nvPr/>
        </p:nvSpPr>
        <p:spPr>
          <a:xfrm>
            <a:off x="8366760" y="2834640"/>
            <a:ext cx="731520" cy="594360"/>
          </a:xfrm>
          <a:prstGeom prst="rect">
            <a:avLst/>
          </a:prstGeom>
          <a:noFill/>
          <a:ln/>
        </p:spPr>
        <p:txBody>
          <a:bodyPr wrap="square" rtlCol="0" anchor="ctr"/>
          <a:lstStyle/>
          <a:p>
            <a:pPr indent="0" marL="0">
              <a:buNone/>
            </a:pPr>
            <a:r>
              <a:rPr lang="en-US" sz="2800" b="1" dirty="0">
                <a:solidFill>
                  <a:srgbClr val="E74C3C"/>
                </a:solidFill>
                <a:latin typeface="Georgia" pitchFamily="34" charset="0"/>
                <a:ea typeface="Georgia" pitchFamily="34" charset="-122"/>
                <a:cs typeface="Georgia" pitchFamily="34" charset="-120"/>
              </a:rPr>
              <a:t>03</a:t>
            </a:r>
            <a:endParaRPr lang="en-US" sz="2800" dirty="0"/>
          </a:p>
        </p:txBody>
      </p:sp>
      <p:sp>
        <p:nvSpPr>
          <p:cNvPr id="27" name="Text 25"/>
          <p:cNvSpPr/>
          <p:nvPr/>
        </p:nvSpPr>
        <p:spPr>
          <a:xfrm>
            <a:off x="8366760" y="3429000"/>
            <a:ext cx="3383280" cy="548640"/>
          </a:xfrm>
          <a:prstGeom prst="rect">
            <a:avLst/>
          </a:prstGeom>
          <a:noFill/>
          <a:ln/>
        </p:spPr>
        <p:txBody>
          <a:bodyPr wrap="square" rtlCol="0" anchor="ctr"/>
          <a:lstStyle/>
          <a:p>
            <a:pPr indent="0" marL="0">
              <a:buNone/>
            </a:pPr>
            <a:r>
              <a:rPr lang="en-US" sz="1300" b="1" dirty="0">
                <a:solidFill>
                  <a:srgbClr val="F0F0F0"/>
                </a:solidFill>
                <a:latin typeface="Calibri" pitchFamily="34" charset="0"/>
                <a:ea typeface="Calibri" pitchFamily="34" charset="-122"/>
                <a:cs typeface="Calibri" pitchFamily="34" charset="-120"/>
              </a:rPr>
              <a:t>Sécurité &amp; Remédiation</a:t>
            </a:r>
            <a:endParaRPr lang="en-US" sz="1300" dirty="0"/>
          </a:p>
        </p:txBody>
      </p:sp>
      <p:sp>
        <p:nvSpPr>
          <p:cNvPr id="28" name="Shape 26"/>
          <p:cNvSpPr/>
          <p:nvPr/>
        </p:nvSpPr>
        <p:spPr>
          <a:xfrm>
            <a:off x="8366760" y="4023360"/>
            <a:ext cx="3200400" cy="36576"/>
          </a:xfrm>
          <a:prstGeom prst="rect">
            <a:avLst/>
          </a:prstGeom>
          <a:solidFill>
            <a:srgbClr val="C0392B"/>
          </a:solidFill>
          <a:ln/>
        </p:spPr>
      </p:sp>
      <p:sp>
        <p:nvSpPr>
          <p:cNvPr id="29" name="Text 27"/>
          <p:cNvSpPr/>
          <p:nvPr/>
        </p:nvSpPr>
        <p:spPr>
          <a:xfrm>
            <a:off x="8412480" y="4114800"/>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Politique sécurité OWASP Top 10</a:t>
            </a:r>
            <a:endParaRPr lang="en-US" sz="1200" dirty="0"/>
          </a:p>
        </p:txBody>
      </p:sp>
      <p:sp>
        <p:nvSpPr>
          <p:cNvPr id="30" name="Text 28"/>
          <p:cNvSpPr/>
          <p:nvPr/>
        </p:nvSpPr>
        <p:spPr>
          <a:xfrm>
            <a:off x="8412480" y="4636008"/>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Plan de remédiation 3 sprints</a:t>
            </a:r>
            <a:endParaRPr lang="en-US" sz="1200" dirty="0"/>
          </a:p>
        </p:txBody>
      </p:sp>
      <p:sp>
        <p:nvSpPr>
          <p:cNvPr id="31" name="Text 29"/>
          <p:cNvSpPr/>
          <p:nvPr/>
        </p:nvSpPr>
        <p:spPr>
          <a:xfrm>
            <a:off x="8412480" y="5157216"/>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Mesures préventives v2</a:t>
            </a:r>
            <a:endParaRPr lang="en-US" sz="1200" dirty="0"/>
          </a:p>
        </p:txBody>
      </p:sp>
      <p:sp>
        <p:nvSpPr>
          <p:cNvPr id="32" name="Text 30"/>
          <p:cNvSpPr/>
          <p:nvPr/>
        </p:nvSpPr>
        <p:spPr>
          <a:xfrm>
            <a:off x="8412480" y="5678424"/>
            <a:ext cx="3291840" cy="4572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  Bilan de la mission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3</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CONTEXTE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La mission</a:t>
            </a:r>
            <a:endParaRPr lang="en-US" sz="3400" dirty="0"/>
          </a:p>
        </p:txBody>
      </p:sp>
      <p:sp>
        <p:nvSpPr>
          <p:cNvPr id="9" name="Shape 7"/>
          <p:cNvSpPr/>
          <p:nvPr/>
        </p:nvSpPr>
        <p:spPr>
          <a:xfrm>
            <a:off x="365760" y="3291840"/>
            <a:ext cx="11430000" cy="822960"/>
          </a:xfrm>
          <a:prstGeom prst="rect">
            <a:avLst>
              <a:gd name="adj" fmla="val 8889"/>
            </a:avLst>
          </a:prstGeom>
          <a:solidFill>
            <a:srgbClr val="1A1A2E"/>
          </a:solidFill>
          <a:ln w="19050">
            <a:solidFill>
              <a:srgbClr val="C0392B"/>
            </a:solidFill>
            <a:prstDash val="solid"/>
          </a:ln>
        </p:spPr>
      </p:sp>
      <p:sp>
        <p:nvSpPr>
          <p:cNvPr id="10" name="Text 8"/>
          <p:cNvSpPr/>
          <p:nvPr/>
        </p:nvSpPr>
        <p:spPr>
          <a:xfrm>
            <a:off x="640080" y="3383280"/>
            <a:ext cx="10789920" cy="640080"/>
          </a:xfrm>
          <a:prstGeom prst="rect">
            <a:avLst/>
          </a:prstGeom>
          <a:noFill/>
          <a:ln/>
        </p:spPr>
        <p:txBody>
          <a:bodyPr wrap="square" rtlCol="0" anchor="ctr"/>
          <a:lstStyle/>
          <a:p>
            <a:pPr indent="0" marL="0">
              <a:buNone/>
            </a:pPr>
            <a:r>
              <a:rPr lang="en-US" sz="1400" dirty="0">
                <a:solidFill>
                  <a:srgbClr val="F0F0F0"/>
                </a:solidFill>
                <a:latin typeface="Calibri" pitchFamily="34" charset="0"/>
                <a:ea typeface="Calibri" pitchFamily="34" charset="-122"/>
                <a:cs typeface="Calibri" pitchFamily="34" charset="-120"/>
              </a:rPr>
              <a:t>🏚  Entreprise de 10 ans — SI fragmenté, pas</a:t>
            </a:r>
            <a:endParaRPr lang="en-US" sz="1400" dirty="0"/>
          </a:p>
          <a:p>
            <a:pPr indent="0" marL="0">
              <a:buNone/>
            </a:pPr>
            <a:r>
              <a:rPr lang="en-US" sz="1400" dirty="0">
                <a:solidFill>
                  <a:srgbClr val="F0F0F0"/>
                </a:solidFill>
                <a:latin typeface="Calibri" pitchFamily="34" charset="0"/>
                <a:ea typeface="Calibri" pitchFamily="34" charset="-122"/>
                <a:cs typeface="Calibri" pitchFamily="34" charset="-120"/>
              </a:rPr>
              <a:t>de vente en ligne, CMS basique</a:t>
            </a:r>
            <a:endParaRPr lang="en-US" sz="1400" dirty="0"/>
          </a:p>
        </p:txBody>
      </p:sp>
      <p:sp>
        <p:nvSpPr>
          <p:cNvPr id="11" name="Shape 9"/>
          <p:cNvSpPr/>
          <p:nvPr/>
        </p:nvSpPr>
        <p:spPr>
          <a:xfrm>
            <a:off x="365760" y="4297680"/>
            <a:ext cx="11430000" cy="822960"/>
          </a:xfrm>
          <a:prstGeom prst="rect">
            <a:avLst>
              <a:gd name="adj" fmla="val 8889"/>
            </a:avLst>
          </a:prstGeom>
          <a:solidFill>
            <a:srgbClr val="1A1A2E"/>
          </a:solidFill>
          <a:ln w="19050">
            <a:solidFill>
              <a:srgbClr val="C0392B"/>
            </a:solidFill>
            <a:prstDash val="solid"/>
          </a:ln>
        </p:spPr>
      </p:sp>
      <p:sp>
        <p:nvSpPr>
          <p:cNvPr id="12" name="Text 10"/>
          <p:cNvSpPr/>
          <p:nvPr/>
        </p:nvSpPr>
        <p:spPr>
          <a:xfrm>
            <a:off x="640080" y="4389120"/>
            <a:ext cx="10789920" cy="640080"/>
          </a:xfrm>
          <a:prstGeom prst="rect">
            <a:avLst/>
          </a:prstGeom>
          <a:noFill/>
          <a:ln/>
        </p:spPr>
        <p:txBody>
          <a:bodyPr wrap="square" rtlCol="0" anchor="ctr"/>
          <a:lstStyle/>
          <a:p>
            <a:pPr indent="0" marL="0">
              <a:buNone/>
            </a:pPr>
            <a:r>
              <a:rPr lang="en-US" sz="1400" dirty="0">
                <a:solidFill>
                  <a:srgbClr val="F0F0F0"/>
                </a:solidFill>
                <a:latin typeface="Calibri" pitchFamily="34" charset="0"/>
                <a:ea typeface="Calibri" pitchFamily="34" charset="-122"/>
                <a:cs typeface="Calibri" pitchFamily="34" charset="-120"/>
              </a:rPr>
              <a:t>🎯  Mission : développer la v1 de la future</a:t>
            </a:r>
            <a:endParaRPr lang="en-US" sz="1400" dirty="0"/>
          </a:p>
          <a:p>
            <a:pPr indent="0" marL="0">
              <a:buNone/>
            </a:pPr>
            <a:r>
              <a:rPr lang="en-US" sz="1400" dirty="0">
                <a:solidFill>
                  <a:srgbClr val="F0F0F0"/>
                </a:solidFill>
                <a:latin typeface="Calibri" pitchFamily="34" charset="0"/>
                <a:ea typeface="Calibri" pitchFamily="34" charset="-122"/>
                <a:cs typeface="Calibri" pitchFamily="34" charset="-120"/>
              </a:rPr>
              <a:t>plateforme numérique</a:t>
            </a:r>
            <a:endParaRPr lang="en-US" sz="1400" dirty="0"/>
          </a:p>
        </p:txBody>
      </p:sp>
      <p:sp>
        <p:nvSpPr>
          <p:cNvPr id="13" name="Shape 11"/>
          <p:cNvSpPr/>
          <p:nvPr/>
        </p:nvSpPr>
        <p:spPr>
          <a:xfrm>
            <a:off x="365760" y="5303520"/>
            <a:ext cx="11430000" cy="822960"/>
          </a:xfrm>
          <a:prstGeom prst="rect">
            <a:avLst>
              <a:gd name="adj" fmla="val 8889"/>
            </a:avLst>
          </a:prstGeom>
          <a:solidFill>
            <a:srgbClr val="1A1A2E"/>
          </a:solidFill>
          <a:ln w="19050">
            <a:solidFill>
              <a:srgbClr val="C0392B"/>
            </a:solidFill>
            <a:prstDash val="solid"/>
          </a:ln>
        </p:spPr>
      </p:sp>
      <p:sp>
        <p:nvSpPr>
          <p:cNvPr id="14" name="Text 12"/>
          <p:cNvSpPr/>
          <p:nvPr/>
        </p:nvSpPr>
        <p:spPr>
          <a:xfrm>
            <a:off x="640080" y="5394960"/>
            <a:ext cx="10789920" cy="640080"/>
          </a:xfrm>
          <a:prstGeom prst="rect">
            <a:avLst/>
          </a:prstGeom>
          <a:noFill/>
          <a:ln/>
        </p:spPr>
        <p:txBody>
          <a:bodyPr wrap="square" rtlCol="0" anchor="ctr"/>
          <a:lstStyle/>
          <a:p>
            <a:pPr indent="0" marL="0">
              <a:buNone/>
            </a:pPr>
            <a:r>
              <a:rPr lang="en-US" sz="1400" dirty="0">
                <a:solidFill>
                  <a:srgbClr val="F0F0F0"/>
                </a:solidFill>
                <a:latin typeface="Calibri" pitchFamily="34" charset="0"/>
                <a:ea typeface="Calibri" pitchFamily="34" charset="-122"/>
                <a:cs typeface="Calibri" pitchFamily="34" charset="-120"/>
              </a:rPr>
              <a:t>👨‍💻  Rôle Lead Developer : processus qualité,</a:t>
            </a:r>
            <a:endParaRPr lang="en-US" sz="1400" dirty="0"/>
          </a:p>
          <a:p>
            <a:pPr indent="0" marL="0">
              <a:buNone/>
            </a:pPr>
            <a:r>
              <a:rPr lang="en-US" sz="1400" dirty="0">
                <a:solidFill>
                  <a:srgbClr val="F0F0F0"/>
                </a:solidFill>
                <a:latin typeface="Calibri" pitchFamily="34" charset="0"/>
                <a:ea typeface="Calibri" pitchFamily="34" charset="-122"/>
                <a:cs typeface="Calibri" pitchFamily="34" charset="-120"/>
              </a:rPr>
              <a:t>POC fonctionnel, analyse sécurité</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392B"/>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0000"/>
          </a:solidFill>
          <a:ln/>
        </p:spPr>
      </p:sp>
      <p:sp>
        <p:nvSpPr>
          <p:cNvPr id="3" name="Shape 1"/>
          <p:cNvSpPr/>
          <p:nvPr/>
        </p:nvSpPr>
        <p:spPr>
          <a:xfrm>
            <a:off x="0" y="3200400"/>
            <a:ext cx="12192000" cy="73152"/>
          </a:xfrm>
          <a:prstGeom prst="rect">
            <a:avLst/>
          </a:prstGeom>
          <a:solidFill>
            <a:srgbClr val="C0392B"/>
          </a:solidFill>
          <a:ln/>
        </p:spPr>
      </p:sp>
      <p:sp>
        <p:nvSpPr>
          <p:cNvPr id="4" name="Text 2"/>
          <p:cNvSpPr/>
          <p:nvPr/>
        </p:nvSpPr>
        <p:spPr>
          <a:xfrm>
            <a:off x="0" y="1828800"/>
            <a:ext cx="12192000" cy="640080"/>
          </a:xfrm>
          <a:prstGeom prst="rect">
            <a:avLst/>
          </a:prstGeom>
          <a:noFill/>
          <a:ln/>
        </p:spPr>
        <p:txBody>
          <a:bodyPr wrap="square" rtlCol="0" anchor="ctr"/>
          <a:lstStyle/>
          <a:p>
            <a:pPr algn="ctr" indent="0" marL="0">
              <a:buNone/>
            </a:pPr>
            <a:r>
              <a:rPr lang="en-US" sz="1400" b="1" spc="600" kern="0" dirty="0">
                <a:solidFill>
                  <a:srgbClr val="E74C3C"/>
                </a:solidFill>
                <a:latin typeface="Calibri" pitchFamily="34" charset="0"/>
                <a:ea typeface="Calibri" pitchFamily="34" charset="-122"/>
                <a:cs typeface="Calibri" pitchFamily="34" charset="-120"/>
              </a:rPr>
              <a:t>PARTIE 1</a:t>
            </a:r>
            <a:endParaRPr lang="en-US" sz="1400" dirty="0"/>
          </a:p>
        </p:txBody>
      </p:sp>
      <p:sp>
        <p:nvSpPr>
          <p:cNvPr id="5" name="Text 3"/>
          <p:cNvSpPr/>
          <p:nvPr/>
        </p:nvSpPr>
        <p:spPr>
          <a:xfrm>
            <a:off x="0" y="2560320"/>
            <a:ext cx="12192000" cy="1371600"/>
          </a:xfrm>
          <a:prstGeom prst="rect">
            <a:avLst/>
          </a:prstGeom>
          <a:noFill/>
          <a:ln/>
        </p:spPr>
        <p:txBody>
          <a:bodyPr wrap="square" rtlCol="0" anchor="ctr"/>
          <a:lstStyle/>
          <a:p>
            <a:pPr algn="ctr" indent="0" marL="0">
              <a:buNone/>
            </a:pPr>
            <a:r>
              <a:rPr lang="en-US" sz="5400" b="1" dirty="0">
                <a:solidFill>
                  <a:srgbClr val="F0F0F0"/>
                </a:solidFill>
                <a:latin typeface="Georgia" pitchFamily="34" charset="0"/>
                <a:ea typeface="Georgia" pitchFamily="34" charset="-122"/>
                <a:cs typeface="Georgia" pitchFamily="34" charset="-120"/>
              </a:rPr>
              <a:t>Processus Qualité</a:t>
            </a:r>
            <a:endParaRPr lang="en-US" sz="5400" dirty="0"/>
          </a:p>
        </p:txBody>
      </p:sp>
      <p:sp>
        <p:nvSpPr>
          <p:cNvPr id="6" name="Text 4"/>
          <p:cNvSpPr/>
          <p:nvPr/>
        </p:nvSpPr>
        <p:spPr>
          <a:xfrm>
            <a:off x="0" y="4023360"/>
            <a:ext cx="12192000" cy="457200"/>
          </a:xfrm>
          <a:prstGeom prst="rect">
            <a:avLst/>
          </a:prstGeom>
          <a:noFill/>
          <a:ln/>
        </p:spPr>
        <p:txBody>
          <a:bodyPr wrap="square" rtlCol="0" anchor="ctr"/>
          <a:lstStyle/>
          <a:p>
            <a:pPr algn="ctr" indent="0" marL="0">
              <a:buNone/>
            </a:pPr>
            <a:r>
              <a:rPr lang="en-US" sz="1400" i="1" dirty="0">
                <a:solidFill>
                  <a:srgbClr val="B2B2B2"/>
                </a:solidFill>
                <a:latin typeface="Calibri" pitchFamily="34" charset="0"/>
                <a:ea typeface="Calibri" pitchFamily="34" charset="-122"/>
                <a:cs typeface="Calibri" pitchFamily="34" charset="-120"/>
              </a:rPr>
              <a:t>ISO 25010 · DevSecOps · CI/CD · Compétences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5</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QUALITE LOGICIELLE — ISO 25010</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4 métriques pour éviter</a:t>
            </a:r>
            <a:endParaRPr lang="en-US" sz="3400" dirty="0"/>
          </a:p>
          <a:p>
            <a:pPr indent="0" marL="0">
              <a:buNone/>
            </a:pPr>
            <a:r>
              <a:rPr lang="en-US" sz="3400" b="1" dirty="0">
                <a:solidFill>
                  <a:srgbClr val="F0F0F0"/>
                </a:solidFill>
                <a:latin typeface="Georgia" pitchFamily="34" charset="0"/>
                <a:ea typeface="Georgia" pitchFamily="34" charset="-122"/>
                <a:cs typeface="Georgia" pitchFamily="34" charset="-120"/>
              </a:rPr>
              <a:t>la dette technique</a:t>
            </a:r>
            <a:endParaRPr lang="en-US" sz="3400" dirty="0"/>
          </a:p>
        </p:txBody>
      </p:sp>
      <p:sp>
        <p:nvSpPr>
          <p:cNvPr id="9" name="Shape 7"/>
          <p:cNvSpPr/>
          <p:nvPr/>
        </p:nvSpPr>
        <p:spPr>
          <a:xfrm>
            <a:off x="274320" y="2926080"/>
            <a:ext cx="2743200" cy="3291840"/>
          </a:xfrm>
          <a:prstGeom prst="rect">
            <a:avLst>
              <a:gd name="adj" fmla="val 2667"/>
            </a:avLst>
          </a:prstGeom>
          <a:solidFill>
            <a:srgbClr val="1A3A2E"/>
          </a:solidFill>
          <a:ln w="19050">
            <a:solidFill>
              <a:srgbClr val="C0392B"/>
            </a:solidFill>
            <a:prstDash val="solid"/>
          </a:ln>
        </p:spPr>
      </p:sp>
      <p:sp>
        <p:nvSpPr>
          <p:cNvPr id="10" name="Text 8"/>
          <p:cNvSpPr/>
          <p:nvPr/>
        </p:nvSpPr>
        <p:spPr>
          <a:xfrm>
            <a:off x="411480" y="3063240"/>
            <a:ext cx="2468880" cy="640080"/>
          </a:xfrm>
          <a:prstGeom prst="rect">
            <a:avLst/>
          </a:prstGeom>
          <a:noFill/>
          <a:ln/>
        </p:spPr>
        <p:txBody>
          <a:bodyPr wrap="square" rtlCol="0" anchor="ctr"/>
          <a:lstStyle/>
          <a:p>
            <a:pPr algn="ctr" indent="0" marL="0">
              <a:buNone/>
            </a:pPr>
            <a:r>
              <a:rPr lang="en-US" sz="1200" b="1" dirty="0">
                <a:solidFill>
                  <a:srgbClr val="B2B2B2"/>
                </a:solidFill>
                <a:latin typeface="Calibri" pitchFamily="34" charset="0"/>
                <a:ea typeface="Calibri" pitchFamily="34" charset="-122"/>
                <a:cs typeface="Calibri" pitchFamily="34" charset="-120"/>
              </a:rPr>
              <a:t>Couverture</a:t>
            </a:r>
            <a:endParaRPr lang="en-US" sz="1200" dirty="0"/>
          </a:p>
          <a:p>
            <a:pPr algn="ctr" indent="0" marL="0">
              <a:buNone/>
            </a:pPr>
            <a:r>
              <a:rPr lang="en-US" sz="1200" b="1" dirty="0">
                <a:solidFill>
                  <a:srgbClr val="B2B2B2"/>
                </a:solidFill>
                <a:latin typeface="Calibri" pitchFamily="34" charset="0"/>
                <a:ea typeface="Calibri" pitchFamily="34" charset="-122"/>
                <a:cs typeface="Calibri" pitchFamily="34" charset="-120"/>
              </a:rPr>
              <a:t>de tests</a:t>
            </a:r>
            <a:endParaRPr lang="en-US" sz="1200" dirty="0"/>
          </a:p>
        </p:txBody>
      </p:sp>
      <p:sp>
        <p:nvSpPr>
          <p:cNvPr id="11" name="Text 9"/>
          <p:cNvSpPr/>
          <p:nvPr/>
        </p:nvSpPr>
        <p:spPr>
          <a:xfrm>
            <a:off x="365760" y="3749040"/>
            <a:ext cx="2560320" cy="914400"/>
          </a:xfrm>
          <a:prstGeom prst="rect">
            <a:avLst/>
          </a:prstGeom>
          <a:noFill/>
          <a:ln/>
        </p:spPr>
        <p:txBody>
          <a:bodyPr wrap="square" rtlCol="0" anchor="ctr"/>
          <a:lstStyle/>
          <a:p>
            <a:pPr algn="ctr" indent="0" marL="0">
              <a:buNone/>
            </a:pPr>
            <a:r>
              <a:rPr lang="en-US" sz="2200" b="1" dirty="0">
                <a:solidFill>
                  <a:srgbClr val="E74C3C"/>
                </a:solidFill>
                <a:latin typeface="Georgia" pitchFamily="34" charset="0"/>
                <a:ea typeface="Georgia" pitchFamily="34" charset="-122"/>
                <a:cs typeface="Georgia" pitchFamily="34" charset="-120"/>
              </a:rPr>
              <a:t>59,11%</a:t>
            </a:r>
            <a:endParaRPr lang="en-US" sz="2200" dirty="0"/>
          </a:p>
          <a:p>
            <a:pPr algn="ctr" indent="0" marL="0">
              <a:buNone/>
            </a:pPr>
            <a:r>
              <a:rPr lang="en-US" sz="2200" b="1" dirty="0">
                <a:solidFill>
                  <a:srgbClr val="E74C3C"/>
                </a:solidFill>
                <a:latin typeface="Georgia" pitchFamily="34" charset="0"/>
                <a:ea typeface="Georgia" pitchFamily="34" charset="-122"/>
                <a:cs typeface="Georgia" pitchFamily="34" charset="-120"/>
              </a:rPr>
              <a:t>lignes</a:t>
            </a:r>
            <a:endParaRPr lang="en-US" sz="2200" dirty="0"/>
          </a:p>
        </p:txBody>
      </p:sp>
      <p:sp>
        <p:nvSpPr>
          <p:cNvPr id="12" name="Shape 10"/>
          <p:cNvSpPr/>
          <p:nvPr/>
        </p:nvSpPr>
        <p:spPr>
          <a:xfrm>
            <a:off x="731520" y="4709160"/>
            <a:ext cx="1828800" cy="36576"/>
          </a:xfrm>
          <a:prstGeom prst="rect">
            <a:avLst/>
          </a:prstGeom>
          <a:solidFill>
            <a:srgbClr val="C0392B"/>
          </a:solidFill>
          <a:ln/>
        </p:spPr>
      </p:sp>
      <p:sp>
        <p:nvSpPr>
          <p:cNvPr id="13" name="Text 11"/>
          <p:cNvSpPr/>
          <p:nvPr/>
        </p:nvSpPr>
        <p:spPr>
          <a:xfrm>
            <a:off x="365760" y="4800600"/>
            <a:ext cx="2560320" cy="365760"/>
          </a:xfrm>
          <a:prstGeom prst="rect">
            <a:avLst/>
          </a:prstGeom>
          <a:noFill/>
          <a:ln/>
        </p:spPr>
        <p:txBody>
          <a:bodyPr wrap="square" rtlCol="0" anchor="ctr"/>
          <a:lstStyle/>
          <a:p>
            <a:pPr algn="ctr" indent="0" marL="0">
              <a:buNone/>
            </a:pPr>
            <a:r>
              <a:rPr lang="en-US" sz="1000" dirty="0">
                <a:solidFill>
                  <a:srgbClr val="F39C12"/>
                </a:solidFill>
                <a:latin typeface="Calibri" pitchFamily="34" charset="0"/>
                <a:ea typeface="Calibri" pitchFamily="34" charset="-122"/>
                <a:cs typeface="Calibri" pitchFamily="34" charset="-120"/>
              </a:rPr>
              <a:t>Fiabilité</a:t>
            </a:r>
            <a:endParaRPr lang="en-US" sz="1000" dirty="0"/>
          </a:p>
        </p:txBody>
      </p:sp>
      <p:sp>
        <p:nvSpPr>
          <p:cNvPr id="14" name="Text 12"/>
          <p:cNvSpPr/>
          <p:nvPr/>
        </p:nvSpPr>
        <p:spPr>
          <a:xfrm>
            <a:off x="365760" y="5212080"/>
            <a:ext cx="2560320" cy="365760"/>
          </a:xfrm>
          <a:prstGeom prst="rect">
            <a:avLst/>
          </a:prstGeom>
          <a:noFill/>
          <a:ln/>
        </p:spPr>
        <p:txBody>
          <a:bodyPr wrap="square" rtlCol="0" anchor="ctr"/>
          <a:lstStyle/>
          <a:p>
            <a:pPr algn="ctr" indent="0" marL="0">
              <a:buNone/>
            </a:pPr>
            <a:r>
              <a:rPr lang="en-US" sz="1100" i="1" dirty="0">
                <a:solidFill>
                  <a:srgbClr val="B2B2B2"/>
                </a:solidFill>
                <a:latin typeface="Calibri" pitchFamily="34" charset="0"/>
                <a:ea typeface="Calibri" pitchFamily="34" charset="-122"/>
                <a:cs typeface="Calibri" pitchFamily="34" charset="-120"/>
              </a:rPr>
              <a:t>PHPUnit + PCOV</a:t>
            </a:r>
            <a:endParaRPr lang="en-US" sz="1100" dirty="0"/>
          </a:p>
        </p:txBody>
      </p:sp>
      <p:sp>
        <p:nvSpPr>
          <p:cNvPr id="15" name="Shape 13"/>
          <p:cNvSpPr/>
          <p:nvPr/>
        </p:nvSpPr>
        <p:spPr>
          <a:xfrm>
            <a:off x="3200400" y="2926080"/>
            <a:ext cx="2743200" cy="3291840"/>
          </a:xfrm>
          <a:prstGeom prst="rect">
            <a:avLst>
              <a:gd name="adj" fmla="val 2667"/>
            </a:avLst>
          </a:prstGeom>
          <a:solidFill>
            <a:srgbClr val="3A1A1A"/>
          </a:solidFill>
          <a:ln w="19050">
            <a:solidFill>
              <a:srgbClr val="C0392B"/>
            </a:solidFill>
            <a:prstDash val="solid"/>
          </a:ln>
        </p:spPr>
      </p:sp>
      <p:sp>
        <p:nvSpPr>
          <p:cNvPr id="16" name="Text 14"/>
          <p:cNvSpPr/>
          <p:nvPr/>
        </p:nvSpPr>
        <p:spPr>
          <a:xfrm>
            <a:off x="3337560" y="3063240"/>
            <a:ext cx="2468880" cy="640080"/>
          </a:xfrm>
          <a:prstGeom prst="rect">
            <a:avLst/>
          </a:prstGeom>
          <a:noFill/>
          <a:ln/>
        </p:spPr>
        <p:txBody>
          <a:bodyPr wrap="square" rtlCol="0" anchor="ctr"/>
          <a:lstStyle/>
          <a:p>
            <a:pPr algn="ctr" indent="0" marL="0">
              <a:buNone/>
            </a:pPr>
            <a:r>
              <a:rPr lang="en-US" sz="1200" b="1" dirty="0">
                <a:solidFill>
                  <a:srgbClr val="B2B2B2"/>
                </a:solidFill>
                <a:latin typeface="Calibri" pitchFamily="34" charset="0"/>
                <a:ea typeface="Calibri" pitchFamily="34" charset="-122"/>
                <a:cs typeface="Calibri" pitchFamily="34" charset="-120"/>
              </a:rPr>
              <a:t>Vulnérabilités</a:t>
            </a:r>
            <a:endParaRPr lang="en-US" sz="1200" dirty="0"/>
          </a:p>
          <a:p>
            <a:pPr algn="ctr" indent="0" marL="0">
              <a:buNone/>
            </a:pPr>
            <a:r>
              <a:rPr lang="en-US" sz="1200" b="1" dirty="0">
                <a:solidFill>
                  <a:srgbClr val="B2B2B2"/>
                </a:solidFill>
                <a:latin typeface="Calibri" pitchFamily="34" charset="0"/>
                <a:ea typeface="Calibri" pitchFamily="34" charset="-122"/>
                <a:cs typeface="Calibri" pitchFamily="34" charset="-120"/>
              </a:rPr>
              <a:t>0-day</a:t>
            </a:r>
            <a:endParaRPr lang="en-US" sz="1200" dirty="0"/>
          </a:p>
        </p:txBody>
      </p:sp>
      <p:sp>
        <p:nvSpPr>
          <p:cNvPr id="17" name="Text 15"/>
          <p:cNvSpPr/>
          <p:nvPr/>
        </p:nvSpPr>
        <p:spPr>
          <a:xfrm>
            <a:off x="3291840" y="3749040"/>
            <a:ext cx="2560320" cy="914400"/>
          </a:xfrm>
          <a:prstGeom prst="rect">
            <a:avLst/>
          </a:prstGeom>
          <a:noFill/>
          <a:ln/>
        </p:spPr>
        <p:txBody>
          <a:bodyPr wrap="square" rtlCol="0" anchor="ctr"/>
          <a:lstStyle/>
          <a:p>
            <a:pPr algn="ctr" indent="0" marL="0">
              <a:buNone/>
            </a:pPr>
            <a:r>
              <a:rPr lang="en-US" sz="2200" b="1" dirty="0">
                <a:solidFill>
                  <a:srgbClr val="E74C3C"/>
                </a:solidFill>
                <a:latin typeface="Georgia" pitchFamily="34" charset="0"/>
                <a:ea typeface="Georgia" pitchFamily="34" charset="-122"/>
                <a:cs typeface="Georgia" pitchFamily="34" charset="-120"/>
              </a:rPr>
              <a:t>0</a:t>
            </a:r>
            <a:endParaRPr lang="en-US" sz="2200" dirty="0"/>
          </a:p>
          <a:p>
            <a:pPr algn="ctr" indent="0" marL="0">
              <a:buNone/>
            </a:pPr>
            <a:r>
              <a:rPr lang="en-US" sz="2200" b="1" dirty="0">
                <a:solidFill>
                  <a:srgbClr val="E74C3C"/>
                </a:solidFill>
                <a:latin typeface="Georgia" pitchFamily="34" charset="0"/>
                <a:ea typeface="Georgia" pitchFamily="34" charset="-122"/>
                <a:cs typeface="Georgia" pitchFamily="34" charset="-120"/>
              </a:rPr>
              <a:t>CRITICAL</a:t>
            </a:r>
            <a:endParaRPr lang="en-US" sz="2200" dirty="0"/>
          </a:p>
        </p:txBody>
      </p:sp>
      <p:sp>
        <p:nvSpPr>
          <p:cNvPr id="18" name="Shape 16"/>
          <p:cNvSpPr/>
          <p:nvPr/>
        </p:nvSpPr>
        <p:spPr>
          <a:xfrm>
            <a:off x="3657600" y="4709160"/>
            <a:ext cx="1828800" cy="36576"/>
          </a:xfrm>
          <a:prstGeom prst="rect">
            <a:avLst/>
          </a:prstGeom>
          <a:solidFill>
            <a:srgbClr val="C0392B"/>
          </a:solidFill>
          <a:ln/>
        </p:spPr>
      </p:sp>
      <p:sp>
        <p:nvSpPr>
          <p:cNvPr id="19" name="Text 17"/>
          <p:cNvSpPr/>
          <p:nvPr/>
        </p:nvSpPr>
        <p:spPr>
          <a:xfrm>
            <a:off x="3291840" y="4800600"/>
            <a:ext cx="2560320" cy="365760"/>
          </a:xfrm>
          <a:prstGeom prst="rect">
            <a:avLst/>
          </a:prstGeom>
          <a:noFill/>
          <a:ln/>
        </p:spPr>
        <p:txBody>
          <a:bodyPr wrap="square" rtlCol="0" anchor="ctr"/>
          <a:lstStyle/>
          <a:p>
            <a:pPr algn="ctr" indent="0" marL="0">
              <a:buNone/>
            </a:pPr>
            <a:r>
              <a:rPr lang="en-US" sz="1000" dirty="0">
                <a:solidFill>
                  <a:srgbClr val="F39C12"/>
                </a:solidFill>
                <a:latin typeface="Calibri" pitchFamily="34" charset="0"/>
                <a:ea typeface="Calibri" pitchFamily="34" charset="-122"/>
                <a:cs typeface="Calibri" pitchFamily="34" charset="-120"/>
              </a:rPr>
              <a:t>Sécurité</a:t>
            </a:r>
            <a:endParaRPr lang="en-US" sz="1000" dirty="0"/>
          </a:p>
        </p:txBody>
      </p:sp>
      <p:sp>
        <p:nvSpPr>
          <p:cNvPr id="20" name="Text 18"/>
          <p:cNvSpPr/>
          <p:nvPr/>
        </p:nvSpPr>
        <p:spPr>
          <a:xfrm>
            <a:off x="3291840" y="5212080"/>
            <a:ext cx="2560320" cy="365760"/>
          </a:xfrm>
          <a:prstGeom prst="rect">
            <a:avLst/>
          </a:prstGeom>
          <a:noFill/>
          <a:ln/>
        </p:spPr>
        <p:txBody>
          <a:bodyPr wrap="square" rtlCol="0" anchor="ctr"/>
          <a:lstStyle/>
          <a:p>
            <a:pPr algn="ctr" indent="0" marL="0">
              <a:buNone/>
            </a:pPr>
            <a:r>
              <a:rPr lang="en-US" sz="1100" i="1" dirty="0">
                <a:solidFill>
                  <a:srgbClr val="B2B2B2"/>
                </a:solidFill>
                <a:latin typeface="Calibri" pitchFamily="34" charset="0"/>
                <a:ea typeface="Calibri" pitchFamily="34" charset="-122"/>
                <a:cs typeface="Calibri" pitchFamily="34" charset="-120"/>
              </a:rPr>
              <a:t>Trivy</a:t>
            </a:r>
            <a:endParaRPr lang="en-US" sz="1100" dirty="0"/>
          </a:p>
        </p:txBody>
      </p:sp>
      <p:sp>
        <p:nvSpPr>
          <p:cNvPr id="21" name="Shape 19"/>
          <p:cNvSpPr/>
          <p:nvPr/>
        </p:nvSpPr>
        <p:spPr>
          <a:xfrm>
            <a:off x="6126480" y="2926080"/>
            <a:ext cx="2743200" cy="3291840"/>
          </a:xfrm>
          <a:prstGeom prst="rect">
            <a:avLst>
              <a:gd name="adj" fmla="val 2667"/>
            </a:avLst>
          </a:prstGeom>
          <a:solidFill>
            <a:srgbClr val="1A2A3A"/>
          </a:solidFill>
          <a:ln w="19050">
            <a:solidFill>
              <a:srgbClr val="C0392B"/>
            </a:solidFill>
            <a:prstDash val="solid"/>
          </a:ln>
        </p:spPr>
      </p:sp>
      <p:sp>
        <p:nvSpPr>
          <p:cNvPr id="22" name="Text 20"/>
          <p:cNvSpPr/>
          <p:nvPr/>
        </p:nvSpPr>
        <p:spPr>
          <a:xfrm>
            <a:off x="6263640" y="3063240"/>
            <a:ext cx="2468880" cy="640080"/>
          </a:xfrm>
          <a:prstGeom prst="rect">
            <a:avLst/>
          </a:prstGeom>
          <a:noFill/>
          <a:ln/>
        </p:spPr>
        <p:txBody>
          <a:bodyPr wrap="square" rtlCol="0" anchor="ctr"/>
          <a:lstStyle/>
          <a:p>
            <a:pPr algn="ctr" indent="0" marL="0">
              <a:buNone/>
            </a:pPr>
            <a:r>
              <a:rPr lang="en-US" sz="1200" b="1" dirty="0">
                <a:solidFill>
                  <a:srgbClr val="B2B2B2"/>
                </a:solidFill>
                <a:latin typeface="Calibri" pitchFamily="34" charset="0"/>
                <a:ea typeface="Calibri" pitchFamily="34" charset="-122"/>
                <a:cs typeface="Calibri" pitchFamily="34" charset="-120"/>
              </a:rPr>
              <a:t>Temps de</a:t>
            </a:r>
            <a:endParaRPr lang="en-US" sz="1200" dirty="0"/>
          </a:p>
          <a:p>
            <a:pPr algn="ctr" indent="0" marL="0">
              <a:buNone/>
            </a:pPr>
            <a:r>
              <a:rPr lang="en-US" sz="1200" b="1" dirty="0">
                <a:solidFill>
                  <a:srgbClr val="B2B2B2"/>
                </a:solidFill>
                <a:latin typeface="Calibri" pitchFamily="34" charset="0"/>
                <a:ea typeface="Calibri" pitchFamily="34" charset="-122"/>
                <a:cs typeface="Calibri" pitchFamily="34" charset="-120"/>
              </a:rPr>
              <a:t>réponse p95</a:t>
            </a:r>
            <a:endParaRPr lang="en-US" sz="1200" dirty="0"/>
          </a:p>
        </p:txBody>
      </p:sp>
      <p:sp>
        <p:nvSpPr>
          <p:cNvPr id="23" name="Text 21"/>
          <p:cNvSpPr/>
          <p:nvPr/>
        </p:nvSpPr>
        <p:spPr>
          <a:xfrm>
            <a:off x="6217920" y="3749040"/>
            <a:ext cx="2560320" cy="914400"/>
          </a:xfrm>
          <a:prstGeom prst="rect">
            <a:avLst/>
          </a:prstGeom>
          <a:noFill/>
          <a:ln/>
        </p:spPr>
        <p:txBody>
          <a:bodyPr wrap="square" rtlCol="0" anchor="ctr"/>
          <a:lstStyle/>
          <a:p>
            <a:pPr algn="ctr" indent="0" marL="0">
              <a:buNone/>
            </a:pPr>
            <a:r>
              <a:rPr lang="en-US" sz="2200" b="1" dirty="0">
                <a:solidFill>
                  <a:srgbClr val="E74C3C"/>
                </a:solidFill>
                <a:latin typeface="Georgia" pitchFamily="34" charset="0"/>
                <a:ea typeface="Georgia" pitchFamily="34" charset="-122"/>
                <a:cs typeface="Georgia" pitchFamily="34" charset="-120"/>
              </a:rPr>
              <a:t>&lt; 200ms</a:t>
            </a:r>
            <a:endParaRPr lang="en-US" sz="2200" dirty="0"/>
          </a:p>
        </p:txBody>
      </p:sp>
      <p:sp>
        <p:nvSpPr>
          <p:cNvPr id="24" name="Shape 22"/>
          <p:cNvSpPr/>
          <p:nvPr/>
        </p:nvSpPr>
        <p:spPr>
          <a:xfrm>
            <a:off x="6583680" y="4709160"/>
            <a:ext cx="1828800" cy="36576"/>
          </a:xfrm>
          <a:prstGeom prst="rect">
            <a:avLst/>
          </a:prstGeom>
          <a:solidFill>
            <a:srgbClr val="C0392B"/>
          </a:solidFill>
          <a:ln/>
        </p:spPr>
      </p:sp>
      <p:sp>
        <p:nvSpPr>
          <p:cNvPr id="25" name="Text 23"/>
          <p:cNvSpPr/>
          <p:nvPr/>
        </p:nvSpPr>
        <p:spPr>
          <a:xfrm>
            <a:off x="6217920" y="4800600"/>
            <a:ext cx="2560320" cy="365760"/>
          </a:xfrm>
          <a:prstGeom prst="rect">
            <a:avLst/>
          </a:prstGeom>
          <a:noFill/>
          <a:ln/>
        </p:spPr>
        <p:txBody>
          <a:bodyPr wrap="square" rtlCol="0" anchor="ctr"/>
          <a:lstStyle/>
          <a:p>
            <a:pPr algn="ctr" indent="0" marL="0">
              <a:buNone/>
            </a:pPr>
            <a:r>
              <a:rPr lang="en-US" sz="1000" dirty="0">
                <a:solidFill>
                  <a:srgbClr val="F39C12"/>
                </a:solidFill>
                <a:latin typeface="Calibri" pitchFamily="34" charset="0"/>
                <a:ea typeface="Calibri" pitchFamily="34" charset="-122"/>
                <a:cs typeface="Calibri" pitchFamily="34" charset="-120"/>
              </a:rPr>
              <a:t>Performance</a:t>
            </a:r>
            <a:endParaRPr lang="en-US" sz="1000" dirty="0"/>
          </a:p>
        </p:txBody>
      </p:sp>
      <p:sp>
        <p:nvSpPr>
          <p:cNvPr id="26" name="Text 24"/>
          <p:cNvSpPr/>
          <p:nvPr/>
        </p:nvSpPr>
        <p:spPr>
          <a:xfrm>
            <a:off x="6217920" y="5212080"/>
            <a:ext cx="2560320" cy="365760"/>
          </a:xfrm>
          <a:prstGeom prst="rect">
            <a:avLst/>
          </a:prstGeom>
          <a:noFill/>
          <a:ln/>
        </p:spPr>
        <p:txBody>
          <a:bodyPr wrap="square" rtlCol="0" anchor="ctr"/>
          <a:lstStyle/>
          <a:p>
            <a:pPr algn="ctr" indent="0" marL="0">
              <a:buNone/>
            </a:pPr>
            <a:r>
              <a:rPr lang="en-US" sz="1100" i="1" dirty="0">
                <a:solidFill>
                  <a:srgbClr val="B2B2B2"/>
                </a:solidFill>
                <a:latin typeface="Calibri" pitchFamily="34" charset="0"/>
                <a:ea typeface="Calibri" pitchFamily="34" charset="-122"/>
                <a:cs typeface="Calibri" pitchFamily="34" charset="-120"/>
              </a:rPr>
              <a:t>k6</a:t>
            </a:r>
            <a:endParaRPr lang="en-US" sz="1100" dirty="0"/>
          </a:p>
        </p:txBody>
      </p:sp>
      <p:sp>
        <p:nvSpPr>
          <p:cNvPr id="27" name="Shape 25"/>
          <p:cNvSpPr/>
          <p:nvPr/>
        </p:nvSpPr>
        <p:spPr>
          <a:xfrm>
            <a:off x="9052560" y="2926080"/>
            <a:ext cx="2743200" cy="3291840"/>
          </a:xfrm>
          <a:prstGeom prst="rect">
            <a:avLst>
              <a:gd name="adj" fmla="val 2667"/>
            </a:avLst>
          </a:prstGeom>
          <a:solidFill>
            <a:srgbClr val="2A1A3A"/>
          </a:solidFill>
          <a:ln w="19050">
            <a:solidFill>
              <a:srgbClr val="C0392B"/>
            </a:solidFill>
            <a:prstDash val="solid"/>
          </a:ln>
        </p:spPr>
      </p:sp>
      <p:sp>
        <p:nvSpPr>
          <p:cNvPr id="28" name="Text 26"/>
          <p:cNvSpPr/>
          <p:nvPr/>
        </p:nvSpPr>
        <p:spPr>
          <a:xfrm>
            <a:off x="9189720" y="3063240"/>
            <a:ext cx="2468880" cy="640080"/>
          </a:xfrm>
          <a:prstGeom prst="rect">
            <a:avLst/>
          </a:prstGeom>
          <a:noFill/>
          <a:ln/>
        </p:spPr>
        <p:txBody>
          <a:bodyPr wrap="square" rtlCol="0" anchor="ctr"/>
          <a:lstStyle/>
          <a:p>
            <a:pPr algn="ctr" indent="0" marL="0">
              <a:buNone/>
            </a:pPr>
            <a:r>
              <a:rPr lang="en-US" sz="1200" b="1" dirty="0">
                <a:solidFill>
                  <a:srgbClr val="B2B2B2"/>
                </a:solidFill>
                <a:latin typeface="Calibri" pitchFamily="34" charset="0"/>
                <a:ea typeface="Calibri" pitchFamily="34" charset="-122"/>
                <a:cs typeface="Calibri" pitchFamily="34" charset="-120"/>
              </a:rPr>
              <a:t>Code smells</a:t>
            </a:r>
            <a:endParaRPr lang="en-US" sz="1200" dirty="0"/>
          </a:p>
          <a:p>
            <a:pPr algn="ctr" indent="0" marL="0">
              <a:buNone/>
            </a:pPr>
            <a:r>
              <a:rPr lang="en-US" sz="1200" b="1" dirty="0">
                <a:solidFill>
                  <a:srgbClr val="B2B2B2"/>
                </a:solidFill>
                <a:latin typeface="Calibri" pitchFamily="34" charset="0"/>
                <a:ea typeface="Calibri" pitchFamily="34" charset="-122"/>
                <a:cs typeface="Calibri" pitchFamily="34" charset="-120"/>
              </a:rPr>
              <a:t>/ duplications</a:t>
            </a:r>
            <a:endParaRPr lang="en-US" sz="1200" dirty="0"/>
          </a:p>
        </p:txBody>
      </p:sp>
      <p:sp>
        <p:nvSpPr>
          <p:cNvPr id="29" name="Text 27"/>
          <p:cNvSpPr/>
          <p:nvPr/>
        </p:nvSpPr>
        <p:spPr>
          <a:xfrm>
            <a:off x="9144000" y="3749040"/>
            <a:ext cx="2560320" cy="914400"/>
          </a:xfrm>
          <a:prstGeom prst="rect">
            <a:avLst/>
          </a:prstGeom>
          <a:noFill/>
          <a:ln/>
        </p:spPr>
        <p:txBody>
          <a:bodyPr wrap="square" rtlCol="0" anchor="ctr"/>
          <a:lstStyle/>
          <a:p>
            <a:pPr algn="ctr" indent="0" marL="0">
              <a:buNone/>
            </a:pPr>
            <a:r>
              <a:rPr lang="en-US" sz="2200" b="1" dirty="0">
                <a:solidFill>
                  <a:srgbClr val="E74C3C"/>
                </a:solidFill>
                <a:latin typeface="Georgia" pitchFamily="34" charset="0"/>
                <a:ea typeface="Georgia" pitchFamily="34" charset="-122"/>
                <a:cs typeface="Georgia" pitchFamily="34" charset="-120"/>
              </a:rPr>
              <a:t>SonarCloud</a:t>
            </a:r>
            <a:endParaRPr lang="en-US" sz="2200" dirty="0"/>
          </a:p>
          <a:p>
            <a:pPr algn="ctr" indent="0" marL="0">
              <a:buNone/>
            </a:pPr>
            <a:r>
              <a:rPr lang="en-US" sz="2200" b="1" dirty="0">
                <a:solidFill>
                  <a:srgbClr val="E74C3C"/>
                </a:solidFill>
                <a:latin typeface="Georgia" pitchFamily="34" charset="0"/>
                <a:ea typeface="Georgia" pitchFamily="34" charset="-122"/>
                <a:cs typeface="Georgia" pitchFamily="34" charset="-120"/>
              </a:rPr>
              <a:t>actif</a:t>
            </a:r>
            <a:endParaRPr lang="en-US" sz="2200" dirty="0"/>
          </a:p>
        </p:txBody>
      </p:sp>
      <p:sp>
        <p:nvSpPr>
          <p:cNvPr id="30" name="Shape 28"/>
          <p:cNvSpPr/>
          <p:nvPr/>
        </p:nvSpPr>
        <p:spPr>
          <a:xfrm>
            <a:off x="9509760" y="4709160"/>
            <a:ext cx="1828800" cy="36576"/>
          </a:xfrm>
          <a:prstGeom prst="rect">
            <a:avLst/>
          </a:prstGeom>
          <a:solidFill>
            <a:srgbClr val="C0392B"/>
          </a:solidFill>
          <a:ln/>
        </p:spPr>
      </p:sp>
      <p:sp>
        <p:nvSpPr>
          <p:cNvPr id="31" name="Text 29"/>
          <p:cNvSpPr/>
          <p:nvPr/>
        </p:nvSpPr>
        <p:spPr>
          <a:xfrm>
            <a:off x="9144000" y="4800600"/>
            <a:ext cx="2560320" cy="365760"/>
          </a:xfrm>
          <a:prstGeom prst="rect">
            <a:avLst/>
          </a:prstGeom>
          <a:noFill/>
          <a:ln/>
        </p:spPr>
        <p:txBody>
          <a:bodyPr wrap="square" rtlCol="0" anchor="ctr"/>
          <a:lstStyle/>
          <a:p>
            <a:pPr algn="ctr" indent="0" marL="0">
              <a:buNone/>
            </a:pPr>
            <a:r>
              <a:rPr lang="en-US" sz="1000" dirty="0">
                <a:solidFill>
                  <a:srgbClr val="F39C12"/>
                </a:solidFill>
                <a:latin typeface="Calibri" pitchFamily="34" charset="0"/>
                <a:ea typeface="Calibri" pitchFamily="34" charset="-122"/>
                <a:cs typeface="Calibri" pitchFamily="34" charset="-120"/>
              </a:rPr>
              <a:t>Maintenabilité</a:t>
            </a:r>
            <a:endParaRPr lang="en-US" sz="1000" dirty="0"/>
          </a:p>
        </p:txBody>
      </p:sp>
      <p:sp>
        <p:nvSpPr>
          <p:cNvPr id="32" name="Text 30"/>
          <p:cNvSpPr/>
          <p:nvPr/>
        </p:nvSpPr>
        <p:spPr>
          <a:xfrm>
            <a:off x="9144000" y="5212080"/>
            <a:ext cx="2560320" cy="365760"/>
          </a:xfrm>
          <a:prstGeom prst="rect">
            <a:avLst/>
          </a:prstGeom>
          <a:noFill/>
          <a:ln/>
        </p:spPr>
        <p:txBody>
          <a:bodyPr wrap="square" rtlCol="0" anchor="ctr"/>
          <a:lstStyle/>
          <a:p>
            <a:pPr algn="ctr" indent="0" marL="0">
              <a:buNone/>
            </a:pPr>
            <a:r>
              <a:rPr lang="en-US" sz="1100" i="1" dirty="0">
                <a:solidFill>
                  <a:srgbClr val="B2B2B2"/>
                </a:solidFill>
                <a:latin typeface="Calibri" pitchFamily="34" charset="0"/>
                <a:ea typeface="Calibri" pitchFamily="34" charset="-122"/>
                <a:cs typeface="Calibri" pitchFamily="34" charset="-120"/>
              </a:rPr>
              <a:t>SonarCloud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6</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DEVSECOPS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Shift Left Security</a:t>
            </a:r>
            <a:endParaRPr lang="en-US" sz="3400" dirty="0"/>
          </a:p>
          <a:p>
            <a:pPr indent="0" marL="0">
              <a:buNone/>
            </a:pPr>
            <a:r>
              <a:rPr lang="en-US" sz="3400" b="1" dirty="0">
                <a:solidFill>
                  <a:srgbClr val="F0F0F0"/>
                </a:solidFill>
                <a:latin typeface="Georgia" pitchFamily="34" charset="0"/>
                <a:ea typeface="Georgia" pitchFamily="34" charset="-122"/>
                <a:cs typeface="Georgia" pitchFamily="34" charset="-120"/>
              </a:rPr>
              <a:t>— la sécurité à chaque étape</a:t>
            </a:r>
            <a:endParaRPr lang="en-US" sz="3400" dirty="0"/>
          </a:p>
        </p:txBody>
      </p:sp>
      <p:sp>
        <p:nvSpPr>
          <p:cNvPr id="9" name="Shape 7"/>
          <p:cNvSpPr/>
          <p:nvPr/>
        </p:nvSpPr>
        <p:spPr>
          <a:xfrm>
            <a:off x="274320" y="2743200"/>
            <a:ext cx="2103120" cy="2560320"/>
          </a:xfrm>
          <a:prstGeom prst="rect">
            <a:avLst>
              <a:gd name="adj" fmla="val 3478"/>
            </a:avLst>
          </a:prstGeom>
          <a:solidFill>
            <a:srgbClr val="1A1A2E"/>
          </a:solidFill>
          <a:ln w="19050">
            <a:solidFill>
              <a:srgbClr val="C0392B"/>
            </a:solidFill>
            <a:prstDash val="solid"/>
          </a:ln>
        </p:spPr>
      </p:sp>
      <p:sp>
        <p:nvSpPr>
          <p:cNvPr id="10" name="Text 8"/>
          <p:cNvSpPr/>
          <p:nvPr/>
        </p:nvSpPr>
        <p:spPr>
          <a:xfrm>
            <a:off x="365760" y="2880360"/>
            <a:ext cx="1920240" cy="502920"/>
          </a:xfrm>
          <a:prstGeom prst="rect">
            <a:avLst/>
          </a:prstGeom>
          <a:noFill/>
          <a:ln/>
        </p:spPr>
        <p:txBody>
          <a:bodyPr wrap="square" rtlCol="0" anchor="ctr"/>
          <a:lstStyle/>
          <a:p>
            <a:pPr algn="ctr" indent="0" marL="0">
              <a:buNone/>
            </a:pPr>
            <a:r>
              <a:rPr lang="en-US" sz="1600" b="1" dirty="0">
                <a:solidFill>
                  <a:srgbClr val="F0F0F0"/>
                </a:solidFill>
                <a:latin typeface="Georgia" pitchFamily="34" charset="0"/>
                <a:ea typeface="Georgia" pitchFamily="34" charset="-122"/>
                <a:cs typeface="Georgia" pitchFamily="34" charset="-120"/>
              </a:rPr>
              <a:t>Plan</a:t>
            </a:r>
            <a:endParaRPr lang="en-US" sz="1600" dirty="0"/>
          </a:p>
        </p:txBody>
      </p:sp>
      <p:sp>
        <p:nvSpPr>
          <p:cNvPr id="11" name="Shape 9"/>
          <p:cNvSpPr/>
          <p:nvPr/>
        </p:nvSpPr>
        <p:spPr>
          <a:xfrm>
            <a:off x="640080" y="3429000"/>
            <a:ext cx="1371600" cy="36576"/>
          </a:xfrm>
          <a:prstGeom prst="rect">
            <a:avLst/>
          </a:prstGeom>
          <a:solidFill>
            <a:srgbClr val="C0392B"/>
          </a:solidFill>
          <a:ln/>
        </p:spPr>
      </p:sp>
      <p:sp>
        <p:nvSpPr>
          <p:cNvPr id="12" name="Text 10"/>
          <p:cNvSpPr/>
          <p:nvPr/>
        </p:nvSpPr>
        <p:spPr>
          <a:xfrm>
            <a:off x="365760" y="3520440"/>
            <a:ext cx="1920240" cy="137160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Backlog</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User Stories</a:t>
            </a:r>
            <a:endParaRPr lang="en-US" sz="1200" dirty="0"/>
          </a:p>
        </p:txBody>
      </p:sp>
      <p:sp>
        <p:nvSpPr>
          <p:cNvPr id="13" name="Text 11"/>
          <p:cNvSpPr/>
          <p:nvPr/>
        </p:nvSpPr>
        <p:spPr>
          <a:xfrm>
            <a:off x="1051560" y="4983480"/>
            <a:ext cx="548640" cy="365760"/>
          </a:xfrm>
          <a:prstGeom prst="rect">
            <a:avLst/>
          </a:prstGeom>
          <a:noFill/>
          <a:ln/>
        </p:spPr>
        <p:txBody>
          <a:bodyPr wrap="square" rtlCol="0" anchor="ctr"/>
          <a:lstStyle/>
          <a:p>
            <a:pPr algn="ctr" indent="0" marL="0">
              <a:buNone/>
            </a:pPr>
            <a:r>
              <a:rPr lang="en-US" sz="1400" dirty="0">
                <a:solidFill>
                  <a:srgbClr val="000000"/>
                </a:solidFill>
              </a:rPr>
              <a:t>🔒</a:t>
            </a:r>
            <a:endParaRPr lang="en-US" sz="1400" dirty="0"/>
          </a:p>
        </p:txBody>
      </p:sp>
      <p:sp>
        <p:nvSpPr>
          <p:cNvPr id="14" name="Text 12"/>
          <p:cNvSpPr/>
          <p:nvPr/>
        </p:nvSpPr>
        <p:spPr>
          <a:xfrm>
            <a:off x="2377440" y="3657600"/>
            <a:ext cx="365760" cy="548640"/>
          </a:xfrm>
          <a:prstGeom prst="rect">
            <a:avLst/>
          </a:prstGeom>
          <a:noFill/>
          <a:ln/>
        </p:spPr>
        <p:txBody>
          <a:bodyPr wrap="square" rtlCol="0" anchor="ctr"/>
          <a:lstStyle/>
          <a:p>
            <a:pPr algn="ctr" indent="0" marL="0">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2651760" y="2743200"/>
            <a:ext cx="2103120" cy="2560320"/>
          </a:xfrm>
          <a:prstGeom prst="rect">
            <a:avLst>
              <a:gd name="adj" fmla="val 3478"/>
            </a:avLst>
          </a:prstGeom>
          <a:solidFill>
            <a:srgbClr val="2E1A1A"/>
          </a:solidFill>
          <a:ln w="19050">
            <a:solidFill>
              <a:srgbClr val="C0392B"/>
            </a:solidFill>
            <a:prstDash val="solid"/>
          </a:ln>
        </p:spPr>
      </p:sp>
      <p:sp>
        <p:nvSpPr>
          <p:cNvPr id="16" name="Text 14"/>
          <p:cNvSpPr/>
          <p:nvPr/>
        </p:nvSpPr>
        <p:spPr>
          <a:xfrm>
            <a:off x="2743200" y="2880360"/>
            <a:ext cx="1920240" cy="502920"/>
          </a:xfrm>
          <a:prstGeom prst="rect">
            <a:avLst/>
          </a:prstGeom>
          <a:noFill/>
          <a:ln/>
        </p:spPr>
        <p:txBody>
          <a:bodyPr wrap="square" rtlCol="0" anchor="ctr"/>
          <a:lstStyle/>
          <a:p>
            <a:pPr algn="ctr" indent="0" marL="0">
              <a:buNone/>
            </a:pPr>
            <a:r>
              <a:rPr lang="en-US" sz="1600" b="1" dirty="0">
                <a:solidFill>
                  <a:srgbClr val="F0F0F0"/>
                </a:solidFill>
                <a:latin typeface="Georgia" pitchFamily="34" charset="0"/>
                <a:ea typeface="Georgia" pitchFamily="34" charset="-122"/>
                <a:cs typeface="Georgia" pitchFamily="34" charset="-120"/>
              </a:rPr>
              <a:t>Code</a:t>
            </a:r>
            <a:endParaRPr lang="en-US" sz="1600" dirty="0"/>
          </a:p>
        </p:txBody>
      </p:sp>
      <p:sp>
        <p:nvSpPr>
          <p:cNvPr id="17" name="Shape 15"/>
          <p:cNvSpPr/>
          <p:nvPr/>
        </p:nvSpPr>
        <p:spPr>
          <a:xfrm>
            <a:off x="3017520" y="3429000"/>
            <a:ext cx="1371600" cy="36576"/>
          </a:xfrm>
          <a:prstGeom prst="rect">
            <a:avLst/>
          </a:prstGeom>
          <a:solidFill>
            <a:srgbClr val="C0392B"/>
          </a:solidFill>
          <a:ln/>
        </p:spPr>
      </p:sp>
      <p:sp>
        <p:nvSpPr>
          <p:cNvPr id="18" name="Text 16"/>
          <p:cNvSpPr/>
          <p:nvPr/>
        </p:nvSpPr>
        <p:spPr>
          <a:xfrm>
            <a:off x="2743200" y="3520440"/>
            <a:ext cx="1920240" cy="137160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SAST</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npm audit</a:t>
            </a:r>
            <a:endParaRPr lang="en-US" sz="1200" dirty="0"/>
          </a:p>
        </p:txBody>
      </p:sp>
      <p:sp>
        <p:nvSpPr>
          <p:cNvPr id="19" name="Text 17"/>
          <p:cNvSpPr/>
          <p:nvPr/>
        </p:nvSpPr>
        <p:spPr>
          <a:xfrm>
            <a:off x="3429000" y="4983480"/>
            <a:ext cx="548640" cy="365760"/>
          </a:xfrm>
          <a:prstGeom prst="rect">
            <a:avLst/>
          </a:prstGeom>
          <a:noFill/>
          <a:ln/>
        </p:spPr>
        <p:txBody>
          <a:bodyPr wrap="square" rtlCol="0" anchor="ctr"/>
          <a:lstStyle/>
          <a:p>
            <a:pPr algn="ctr" indent="0" marL="0">
              <a:buNone/>
            </a:pPr>
            <a:r>
              <a:rPr lang="en-US" sz="1400" dirty="0">
                <a:solidFill>
                  <a:srgbClr val="000000"/>
                </a:solidFill>
              </a:rPr>
              <a:t>🔒</a:t>
            </a:r>
            <a:endParaRPr lang="en-US" sz="1400" dirty="0"/>
          </a:p>
        </p:txBody>
      </p:sp>
      <p:sp>
        <p:nvSpPr>
          <p:cNvPr id="20" name="Text 18"/>
          <p:cNvSpPr/>
          <p:nvPr/>
        </p:nvSpPr>
        <p:spPr>
          <a:xfrm>
            <a:off x="4754880" y="3657600"/>
            <a:ext cx="365760" cy="548640"/>
          </a:xfrm>
          <a:prstGeom prst="rect">
            <a:avLst/>
          </a:prstGeom>
          <a:noFill/>
          <a:ln/>
        </p:spPr>
        <p:txBody>
          <a:bodyPr wrap="square" rtlCol="0" anchor="ctr"/>
          <a:lstStyle/>
          <a:p>
            <a:pPr algn="ctr" indent="0" marL="0">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1" name="Shape 19"/>
          <p:cNvSpPr/>
          <p:nvPr/>
        </p:nvSpPr>
        <p:spPr>
          <a:xfrm>
            <a:off x="5029200" y="2743200"/>
            <a:ext cx="2103120" cy="2560320"/>
          </a:xfrm>
          <a:prstGeom prst="rect">
            <a:avLst>
              <a:gd name="adj" fmla="val 3478"/>
            </a:avLst>
          </a:prstGeom>
          <a:solidFill>
            <a:srgbClr val="1A2E1A"/>
          </a:solidFill>
          <a:ln w="19050">
            <a:solidFill>
              <a:srgbClr val="C0392B"/>
            </a:solidFill>
            <a:prstDash val="solid"/>
          </a:ln>
        </p:spPr>
      </p:sp>
      <p:sp>
        <p:nvSpPr>
          <p:cNvPr id="22" name="Text 20"/>
          <p:cNvSpPr/>
          <p:nvPr/>
        </p:nvSpPr>
        <p:spPr>
          <a:xfrm>
            <a:off x="5120640" y="2880360"/>
            <a:ext cx="1920240" cy="502920"/>
          </a:xfrm>
          <a:prstGeom prst="rect">
            <a:avLst/>
          </a:prstGeom>
          <a:noFill/>
          <a:ln/>
        </p:spPr>
        <p:txBody>
          <a:bodyPr wrap="square" rtlCol="0" anchor="ctr"/>
          <a:lstStyle/>
          <a:p>
            <a:pPr algn="ctr" indent="0" marL="0">
              <a:buNone/>
            </a:pPr>
            <a:r>
              <a:rPr lang="en-US" sz="1600" b="1" dirty="0">
                <a:solidFill>
                  <a:srgbClr val="F0F0F0"/>
                </a:solidFill>
                <a:latin typeface="Georgia" pitchFamily="34" charset="0"/>
                <a:ea typeface="Georgia" pitchFamily="34" charset="-122"/>
                <a:cs typeface="Georgia" pitchFamily="34" charset="-120"/>
              </a:rPr>
              <a:t>Build</a:t>
            </a:r>
            <a:endParaRPr lang="en-US" sz="1600" dirty="0"/>
          </a:p>
        </p:txBody>
      </p:sp>
      <p:sp>
        <p:nvSpPr>
          <p:cNvPr id="23" name="Shape 21"/>
          <p:cNvSpPr/>
          <p:nvPr/>
        </p:nvSpPr>
        <p:spPr>
          <a:xfrm>
            <a:off x="5394960" y="3429000"/>
            <a:ext cx="1371600" cy="36576"/>
          </a:xfrm>
          <a:prstGeom prst="rect">
            <a:avLst/>
          </a:prstGeom>
          <a:solidFill>
            <a:srgbClr val="C0392B"/>
          </a:solidFill>
          <a:ln/>
        </p:spPr>
      </p:sp>
      <p:sp>
        <p:nvSpPr>
          <p:cNvPr id="24" name="Text 22"/>
          <p:cNvSpPr/>
          <p:nvPr/>
        </p:nvSpPr>
        <p:spPr>
          <a:xfrm>
            <a:off x="5120640" y="3520440"/>
            <a:ext cx="1920240" cy="137160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Docker</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Trivy FS</a:t>
            </a:r>
            <a:endParaRPr lang="en-US" sz="1200" dirty="0"/>
          </a:p>
        </p:txBody>
      </p:sp>
      <p:sp>
        <p:nvSpPr>
          <p:cNvPr id="25" name="Text 23"/>
          <p:cNvSpPr/>
          <p:nvPr/>
        </p:nvSpPr>
        <p:spPr>
          <a:xfrm>
            <a:off x="5806440" y="4983480"/>
            <a:ext cx="548640" cy="365760"/>
          </a:xfrm>
          <a:prstGeom prst="rect">
            <a:avLst/>
          </a:prstGeom>
          <a:noFill/>
          <a:ln/>
        </p:spPr>
        <p:txBody>
          <a:bodyPr wrap="square" rtlCol="0" anchor="ctr"/>
          <a:lstStyle/>
          <a:p>
            <a:pPr algn="ctr" indent="0" marL="0">
              <a:buNone/>
            </a:pPr>
            <a:r>
              <a:rPr lang="en-US" sz="1400" dirty="0">
                <a:solidFill>
                  <a:srgbClr val="000000"/>
                </a:solidFill>
              </a:rPr>
              <a:t>🔒</a:t>
            </a:r>
            <a:endParaRPr lang="en-US" sz="1400" dirty="0"/>
          </a:p>
        </p:txBody>
      </p:sp>
      <p:sp>
        <p:nvSpPr>
          <p:cNvPr id="26" name="Text 24"/>
          <p:cNvSpPr/>
          <p:nvPr/>
        </p:nvSpPr>
        <p:spPr>
          <a:xfrm>
            <a:off x="7132320" y="3657600"/>
            <a:ext cx="365760" cy="548640"/>
          </a:xfrm>
          <a:prstGeom prst="rect">
            <a:avLst/>
          </a:prstGeom>
          <a:noFill/>
          <a:ln/>
        </p:spPr>
        <p:txBody>
          <a:bodyPr wrap="square" rtlCol="0" anchor="ctr"/>
          <a:lstStyle/>
          <a:p>
            <a:pPr algn="ctr" indent="0" marL="0">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7" name="Shape 25"/>
          <p:cNvSpPr/>
          <p:nvPr/>
        </p:nvSpPr>
        <p:spPr>
          <a:xfrm>
            <a:off x="7406640" y="2743200"/>
            <a:ext cx="2103120" cy="2560320"/>
          </a:xfrm>
          <a:prstGeom prst="rect">
            <a:avLst>
              <a:gd name="adj" fmla="val 3478"/>
            </a:avLst>
          </a:prstGeom>
          <a:solidFill>
            <a:srgbClr val="2E2A1A"/>
          </a:solidFill>
          <a:ln w="19050">
            <a:solidFill>
              <a:srgbClr val="C0392B"/>
            </a:solidFill>
            <a:prstDash val="solid"/>
          </a:ln>
        </p:spPr>
      </p:sp>
      <p:sp>
        <p:nvSpPr>
          <p:cNvPr id="28" name="Text 26"/>
          <p:cNvSpPr/>
          <p:nvPr/>
        </p:nvSpPr>
        <p:spPr>
          <a:xfrm>
            <a:off x="7498080" y="2880360"/>
            <a:ext cx="1920240" cy="502920"/>
          </a:xfrm>
          <a:prstGeom prst="rect">
            <a:avLst/>
          </a:prstGeom>
          <a:noFill/>
          <a:ln/>
        </p:spPr>
        <p:txBody>
          <a:bodyPr wrap="square" rtlCol="0" anchor="ctr"/>
          <a:lstStyle/>
          <a:p>
            <a:pPr algn="ctr" indent="0" marL="0">
              <a:buNone/>
            </a:pPr>
            <a:r>
              <a:rPr lang="en-US" sz="1600" b="1" dirty="0">
                <a:solidFill>
                  <a:srgbClr val="F0F0F0"/>
                </a:solidFill>
                <a:latin typeface="Georgia" pitchFamily="34" charset="0"/>
                <a:ea typeface="Georgia" pitchFamily="34" charset="-122"/>
                <a:cs typeface="Georgia" pitchFamily="34" charset="-120"/>
              </a:rPr>
              <a:t>Test</a:t>
            </a:r>
            <a:endParaRPr lang="en-US" sz="1600" dirty="0"/>
          </a:p>
        </p:txBody>
      </p:sp>
      <p:sp>
        <p:nvSpPr>
          <p:cNvPr id="29" name="Shape 27"/>
          <p:cNvSpPr/>
          <p:nvPr/>
        </p:nvSpPr>
        <p:spPr>
          <a:xfrm>
            <a:off x="7772400" y="3429000"/>
            <a:ext cx="1371600" cy="36576"/>
          </a:xfrm>
          <a:prstGeom prst="rect">
            <a:avLst/>
          </a:prstGeom>
          <a:solidFill>
            <a:srgbClr val="C0392B"/>
          </a:solidFill>
          <a:ln/>
        </p:spPr>
      </p:sp>
      <p:sp>
        <p:nvSpPr>
          <p:cNvPr id="30" name="Text 28"/>
          <p:cNvSpPr/>
          <p:nvPr/>
        </p:nvSpPr>
        <p:spPr>
          <a:xfrm>
            <a:off x="7498080" y="3520440"/>
            <a:ext cx="1920240" cy="137160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PHPUnit</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k6 E2E</a:t>
            </a:r>
            <a:endParaRPr lang="en-US" sz="1200" dirty="0"/>
          </a:p>
        </p:txBody>
      </p:sp>
      <p:sp>
        <p:nvSpPr>
          <p:cNvPr id="31" name="Text 29"/>
          <p:cNvSpPr/>
          <p:nvPr/>
        </p:nvSpPr>
        <p:spPr>
          <a:xfrm>
            <a:off x="8183880" y="4983480"/>
            <a:ext cx="548640" cy="365760"/>
          </a:xfrm>
          <a:prstGeom prst="rect">
            <a:avLst/>
          </a:prstGeom>
          <a:noFill/>
          <a:ln/>
        </p:spPr>
        <p:txBody>
          <a:bodyPr wrap="square" rtlCol="0" anchor="ctr"/>
          <a:lstStyle/>
          <a:p>
            <a:pPr algn="ctr" indent="0" marL="0">
              <a:buNone/>
            </a:pPr>
            <a:r>
              <a:rPr lang="en-US" sz="1400" dirty="0">
                <a:solidFill>
                  <a:srgbClr val="000000"/>
                </a:solidFill>
              </a:rPr>
              <a:t>🔒</a:t>
            </a:r>
            <a:endParaRPr lang="en-US" sz="1400" dirty="0"/>
          </a:p>
        </p:txBody>
      </p:sp>
      <p:sp>
        <p:nvSpPr>
          <p:cNvPr id="32" name="Text 30"/>
          <p:cNvSpPr/>
          <p:nvPr/>
        </p:nvSpPr>
        <p:spPr>
          <a:xfrm>
            <a:off x="9509760" y="3657600"/>
            <a:ext cx="365760" cy="548640"/>
          </a:xfrm>
          <a:prstGeom prst="rect">
            <a:avLst/>
          </a:prstGeom>
          <a:noFill/>
          <a:ln/>
        </p:spPr>
        <p:txBody>
          <a:bodyPr wrap="square" rtlCol="0" anchor="ctr"/>
          <a:lstStyle/>
          <a:p>
            <a:pPr algn="ctr" indent="0" marL="0">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9784080" y="2743200"/>
            <a:ext cx="2103120" cy="2560320"/>
          </a:xfrm>
          <a:prstGeom prst="rect">
            <a:avLst>
              <a:gd name="adj" fmla="val 3478"/>
            </a:avLst>
          </a:prstGeom>
          <a:solidFill>
            <a:srgbClr val="1A1A2E"/>
          </a:solidFill>
          <a:ln w="19050">
            <a:solidFill>
              <a:srgbClr val="C0392B"/>
            </a:solidFill>
            <a:prstDash val="solid"/>
          </a:ln>
        </p:spPr>
      </p:sp>
      <p:sp>
        <p:nvSpPr>
          <p:cNvPr id="34" name="Text 32"/>
          <p:cNvSpPr/>
          <p:nvPr/>
        </p:nvSpPr>
        <p:spPr>
          <a:xfrm>
            <a:off x="9875520" y="2880360"/>
            <a:ext cx="1920240" cy="502920"/>
          </a:xfrm>
          <a:prstGeom prst="rect">
            <a:avLst/>
          </a:prstGeom>
          <a:noFill/>
          <a:ln/>
        </p:spPr>
        <p:txBody>
          <a:bodyPr wrap="square" rtlCol="0" anchor="ctr"/>
          <a:lstStyle/>
          <a:p>
            <a:pPr algn="ctr" indent="0" marL="0">
              <a:buNone/>
            </a:pPr>
            <a:r>
              <a:rPr lang="en-US" sz="1600" b="1" dirty="0">
                <a:solidFill>
                  <a:srgbClr val="F0F0F0"/>
                </a:solidFill>
                <a:latin typeface="Georgia" pitchFamily="34" charset="0"/>
                <a:ea typeface="Georgia" pitchFamily="34" charset="-122"/>
                <a:cs typeface="Georgia" pitchFamily="34" charset="-120"/>
              </a:rPr>
              <a:t>Deploy</a:t>
            </a:r>
            <a:endParaRPr lang="en-US" sz="1600" dirty="0"/>
          </a:p>
        </p:txBody>
      </p:sp>
      <p:sp>
        <p:nvSpPr>
          <p:cNvPr id="35" name="Shape 33"/>
          <p:cNvSpPr/>
          <p:nvPr/>
        </p:nvSpPr>
        <p:spPr>
          <a:xfrm>
            <a:off x="10149840" y="3429000"/>
            <a:ext cx="1371600" cy="36576"/>
          </a:xfrm>
          <a:prstGeom prst="rect">
            <a:avLst/>
          </a:prstGeom>
          <a:solidFill>
            <a:srgbClr val="C0392B"/>
          </a:solidFill>
          <a:ln/>
        </p:spPr>
      </p:sp>
      <p:sp>
        <p:nvSpPr>
          <p:cNvPr id="36" name="Text 34"/>
          <p:cNvSpPr/>
          <p:nvPr/>
        </p:nvSpPr>
        <p:spPr>
          <a:xfrm>
            <a:off x="9875520" y="3520440"/>
            <a:ext cx="1920240" cy="137160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Self-hosted</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Runner</a:t>
            </a:r>
            <a:endParaRPr lang="en-US" sz="1200" dirty="0"/>
          </a:p>
        </p:txBody>
      </p:sp>
      <p:sp>
        <p:nvSpPr>
          <p:cNvPr id="37" name="Text 35"/>
          <p:cNvSpPr/>
          <p:nvPr/>
        </p:nvSpPr>
        <p:spPr>
          <a:xfrm>
            <a:off x="10561320" y="4983480"/>
            <a:ext cx="548640" cy="365760"/>
          </a:xfrm>
          <a:prstGeom prst="rect">
            <a:avLst/>
          </a:prstGeom>
          <a:noFill/>
          <a:ln/>
        </p:spPr>
        <p:txBody>
          <a:bodyPr wrap="square" rtlCol="0" anchor="ctr"/>
          <a:lstStyle/>
          <a:p>
            <a:pPr algn="ctr" indent="0" marL="0">
              <a:buNone/>
            </a:pPr>
            <a:r>
              <a:rPr lang="en-US" sz="1400" dirty="0">
                <a:solidFill>
                  <a:srgbClr val="000000"/>
                </a:solidFill>
              </a:rPr>
              <a: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7</a:t>
            </a:r>
            <a:endParaRPr lang="en-US" sz="1800" dirty="0"/>
          </a:p>
        </p:txBody>
      </p:sp>
      <p:sp>
        <p:nvSpPr>
          <p:cNvPr id="6" name="Text 4"/>
          <p:cNvSpPr/>
          <p:nvPr/>
        </p:nvSpPr>
        <p:spPr>
          <a:xfrm>
            <a:off x="365760" y="91440"/>
            <a:ext cx="10972800" cy="292608"/>
          </a:xfrm>
          <a:prstGeom prst="rect">
            <a:avLst/>
          </a:prstGeom>
          <a:noFill/>
          <a:ln/>
        </p:spPr>
        <p:txBody>
          <a:bodyPr wrap="square" rtlCol="0" anchor="ctr"/>
          <a:lstStyle/>
          <a:p>
            <a:pPr indent="0" marL="0">
              <a:buNone/>
            </a:pPr>
            <a:r>
              <a:rPr lang="en-US" sz="900" b="1" spc="200" kern="0" dirty="0">
                <a:solidFill>
                  <a:srgbClr val="E74C3C"/>
                </a:solidFill>
                <a:latin typeface="Calibri" pitchFamily="34" charset="0"/>
                <a:ea typeface="Calibri" pitchFamily="34" charset="-122"/>
                <a:cs typeface="Calibri" pitchFamily="34" charset="-120"/>
              </a:rPr>
              <a:t>CI/CD — GITHUB ACTIONS</a:t>
            </a:r>
            <a:endParaRPr lang="en-US" sz="900" dirty="0"/>
          </a:p>
        </p:txBody>
      </p:sp>
      <p:sp>
        <p:nvSpPr>
          <p:cNvPr id="7" name="Shape 5"/>
          <p:cNvSpPr/>
          <p:nvPr/>
        </p:nvSpPr>
        <p:spPr>
          <a:xfrm>
            <a:off x="365760" y="402336"/>
            <a:ext cx="2377440" cy="45720"/>
          </a:xfrm>
          <a:prstGeom prst="rect">
            <a:avLst/>
          </a:prstGeom>
          <a:solidFill>
            <a:srgbClr val="C0392B"/>
          </a:solidFill>
          <a:ln/>
        </p:spPr>
      </p:sp>
      <p:sp>
        <p:nvSpPr>
          <p:cNvPr id="8" name="Text 6"/>
          <p:cNvSpPr/>
          <p:nvPr/>
        </p:nvSpPr>
        <p:spPr>
          <a:xfrm>
            <a:off x="365760" y="475488"/>
            <a:ext cx="11430000" cy="594360"/>
          </a:xfrm>
          <a:prstGeom prst="rect">
            <a:avLst/>
          </a:prstGeom>
          <a:noFill/>
          <a:ln/>
        </p:spPr>
        <p:txBody>
          <a:bodyPr wrap="square" rtlCol="0" anchor="ctr"/>
          <a:lstStyle/>
          <a:p>
            <a:pPr indent="0" marL="0">
              <a:buNone/>
            </a:pPr>
            <a:r>
              <a:rPr lang="en-US" sz="2200" b="1" dirty="0">
                <a:solidFill>
                  <a:srgbClr val="F0F0F0"/>
                </a:solidFill>
                <a:latin typeface="Georgia" pitchFamily="34" charset="0"/>
                <a:ea typeface="Georgia" pitchFamily="34" charset="-122"/>
                <a:cs typeface="Georgia" pitchFamily="34" charset="-120"/>
              </a:rPr>
              <a:t>Pipeline 11 jobs</a:t>
            </a:r>
            <a:endParaRPr lang="en-US" sz="2200" dirty="0"/>
          </a:p>
        </p:txBody>
      </p:sp>
      <p:sp>
        <p:nvSpPr>
          <p:cNvPr id="9" name="Shape 7"/>
          <p:cNvSpPr/>
          <p:nvPr/>
        </p:nvSpPr>
        <p:spPr>
          <a:xfrm>
            <a:off x="5394960" y="1188720"/>
            <a:ext cx="1463040" cy="502920"/>
          </a:xfrm>
          <a:prstGeom prst="rect">
            <a:avLst>
              <a:gd name="adj" fmla="val 14545"/>
            </a:avLst>
          </a:prstGeom>
          <a:solidFill>
            <a:srgbClr val="1A2E1A"/>
          </a:solidFill>
          <a:ln w="19050">
            <a:solidFill>
              <a:srgbClr val="C0392B"/>
            </a:solidFill>
            <a:prstDash val="solid"/>
          </a:ln>
        </p:spPr>
      </p:sp>
      <p:sp>
        <p:nvSpPr>
          <p:cNvPr id="10" name="Text 8"/>
          <p:cNvSpPr/>
          <p:nvPr/>
        </p:nvSpPr>
        <p:spPr>
          <a:xfrm>
            <a:off x="5394960" y="1234440"/>
            <a:ext cx="1463040" cy="411480"/>
          </a:xfrm>
          <a:prstGeom prst="rect">
            <a:avLst/>
          </a:prstGeom>
          <a:noFill/>
          <a:ln/>
        </p:spPr>
        <p:txBody>
          <a:bodyPr wrap="square" rtlCol="0" anchor="ctr"/>
          <a:lstStyle/>
          <a:p>
            <a:pPr algn="ctr" indent="0" marL="0">
              <a:buNone/>
            </a:pPr>
            <a:r>
              <a:rPr lang="en-US" sz="1000" b="1" dirty="0">
                <a:solidFill>
                  <a:srgbClr val="27AE60"/>
                </a:solidFill>
                <a:latin typeface="Calibri" pitchFamily="34" charset="0"/>
                <a:ea typeface="Calibri" pitchFamily="34" charset="-122"/>
                <a:cs typeface="Calibri" pitchFamily="34" charset="-120"/>
              </a:rPr>
              <a:t>install</a:t>
            </a:r>
            <a:endParaRPr lang="en-US" sz="1000" dirty="0"/>
          </a:p>
        </p:txBody>
      </p:sp>
      <p:sp>
        <p:nvSpPr>
          <p:cNvPr id="11" name="Shape 9"/>
          <p:cNvSpPr/>
          <p:nvPr/>
        </p:nvSpPr>
        <p:spPr>
          <a:xfrm>
            <a:off x="914400" y="2011680"/>
            <a:ext cx="2286000" cy="594360"/>
          </a:xfrm>
          <a:prstGeom prst="rect">
            <a:avLst>
              <a:gd name="adj" fmla="val 12308"/>
            </a:avLst>
          </a:prstGeom>
          <a:solidFill>
            <a:srgbClr val="2E1A1A"/>
          </a:solidFill>
          <a:ln w="19050">
            <a:solidFill>
              <a:srgbClr val="C0392B"/>
            </a:solidFill>
            <a:prstDash val="solid"/>
          </a:ln>
        </p:spPr>
      </p:sp>
      <p:sp>
        <p:nvSpPr>
          <p:cNvPr id="12" name="Text 10"/>
          <p:cNvSpPr/>
          <p:nvPr/>
        </p:nvSpPr>
        <p:spPr>
          <a:xfrm>
            <a:off x="914400" y="2057400"/>
            <a:ext cx="2286000" cy="502920"/>
          </a:xfrm>
          <a:prstGeom prst="rect">
            <a:avLst/>
          </a:prstGeom>
          <a:noFill/>
          <a:ln/>
        </p:spPr>
        <p:txBody>
          <a:bodyPr wrap="square" rtlCol="0" anchor="ctr"/>
          <a:lstStyle/>
          <a:p>
            <a:pPr algn="ctr" indent="0" marL="0">
              <a:buNone/>
            </a:pPr>
            <a:r>
              <a:rPr lang="en-US" sz="900" dirty="0">
                <a:solidFill>
                  <a:srgbClr val="E74C3C"/>
                </a:solidFill>
                <a:latin typeface="Calibri" pitchFamily="34" charset="0"/>
                <a:ea typeface="Calibri" pitchFamily="34" charset="-122"/>
                <a:cs typeface="Calibri" pitchFamily="34" charset="-120"/>
              </a:rPr>
              <a:t>sast</a:t>
            </a:r>
            <a:endParaRPr lang="en-US" sz="900" dirty="0"/>
          </a:p>
          <a:p>
            <a:pPr algn="ctr" indent="0" marL="0">
              <a:buNone/>
            </a:pPr>
            <a:r>
              <a:rPr lang="en-US" sz="900" dirty="0">
                <a:solidFill>
                  <a:srgbClr val="E74C3C"/>
                </a:solidFill>
                <a:latin typeface="Calibri" pitchFamily="34" charset="0"/>
                <a:ea typeface="Calibri" pitchFamily="34" charset="-122"/>
                <a:cs typeface="Calibri" pitchFamily="34" charset="-120"/>
              </a:rPr>
              <a:t>npm-audit</a:t>
            </a:r>
            <a:endParaRPr lang="en-US" sz="900" dirty="0"/>
          </a:p>
        </p:txBody>
      </p:sp>
      <p:sp>
        <p:nvSpPr>
          <p:cNvPr id="13" name="Shape 11"/>
          <p:cNvSpPr/>
          <p:nvPr/>
        </p:nvSpPr>
        <p:spPr>
          <a:xfrm>
            <a:off x="3657600" y="2011680"/>
            <a:ext cx="2286000" cy="594360"/>
          </a:xfrm>
          <a:prstGeom prst="rect">
            <a:avLst>
              <a:gd name="adj" fmla="val 12308"/>
            </a:avLst>
          </a:prstGeom>
          <a:solidFill>
            <a:srgbClr val="2E1A1A"/>
          </a:solidFill>
          <a:ln w="19050">
            <a:solidFill>
              <a:srgbClr val="C0392B"/>
            </a:solidFill>
            <a:prstDash val="solid"/>
          </a:ln>
        </p:spPr>
      </p:sp>
      <p:sp>
        <p:nvSpPr>
          <p:cNvPr id="14" name="Text 12"/>
          <p:cNvSpPr/>
          <p:nvPr/>
        </p:nvSpPr>
        <p:spPr>
          <a:xfrm>
            <a:off x="3657600" y="2057400"/>
            <a:ext cx="2286000" cy="502920"/>
          </a:xfrm>
          <a:prstGeom prst="rect">
            <a:avLst/>
          </a:prstGeom>
          <a:noFill/>
          <a:ln/>
        </p:spPr>
        <p:txBody>
          <a:bodyPr wrap="square" rtlCol="0" anchor="ctr"/>
          <a:lstStyle/>
          <a:p>
            <a:pPr algn="ctr" indent="0" marL="0">
              <a:buNone/>
            </a:pPr>
            <a:r>
              <a:rPr lang="en-US" sz="900" dirty="0">
                <a:solidFill>
                  <a:srgbClr val="E74C3C"/>
                </a:solidFill>
                <a:latin typeface="Calibri" pitchFamily="34" charset="0"/>
                <a:ea typeface="Calibri" pitchFamily="34" charset="-122"/>
                <a:cs typeface="Calibri" pitchFamily="34" charset="-120"/>
              </a:rPr>
              <a:t>trivy</a:t>
            </a:r>
            <a:endParaRPr lang="en-US" sz="900" dirty="0"/>
          </a:p>
          <a:p>
            <a:pPr algn="ctr" indent="0" marL="0">
              <a:buNone/>
            </a:pPr>
            <a:r>
              <a:rPr lang="en-US" sz="900" dirty="0">
                <a:solidFill>
                  <a:srgbClr val="E74C3C"/>
                </a:solidFill>
                <a:latin typeface="Calibri" pitchFamily="34" charset="0"/>
                <a:ea typeface="Calibri" pitchFamily="34" charset="-122"/>
                <a:cs typeface="Calibri" pitchFamily="34" charset="-120"/>
              </a:rPr>
              <a:t>fs-audit</a:t>
            </a:r>
            <a:endParaRPr lang="en-US" sz="900" dirty="0"/>
          </a:p>
        </p:txBody>
      </p:sp>
      <p:sp>
        <p:nvSpPr>
          <p:cNvPr id="15" name="Shape 13"/>
          <p:cNvSpPr/>
          <p:nvPr/>
        </p:nvSpPr>
        <p:spPr>
          <a:xfrm>
            <a:off x="6400800" y="2011680"/>
            <a:ext cx="2286000" cy="594360"/>
          </a:xfrm>
          <a:prstGeom prst="rect">
            <a:avLst>
              <a:gd name="adj" fmla="val 12308"/>
            </a:avLst>
          </a:prstGeom>
          <a:solidFill>
            <a:srgbClr val="1A2E1A"/>
          </a:solidFill>
          <a:ln w="19050">
            <a:solidFill>
              <a:srgbClr val="C0392B"/>
            </a:solidFill>
            <a:prstDash val="solid"/>
          </a:ln>
        </p:spPr>
      </p:sp>
      <p:sp>
        <p:nvSpPr>
          <p:cNvPr id="16" name="Text 14"/>
          <p:cNvSpPr/>
          <p:nvPr/>
        </p:nvSpPr>
        <p:spPr>
          <a:xfrm>
            <a:off x="6400800" y="2057400"/>
            <a:ext cx="2286000" cy="502920"/>
          </a:xfrm>
          <a:prstGeom prst="rect">
            <a:avLst/>
          </a:prstGeom>
          <a:noFill/>
          <a:ln/>
        </p:spPr>
        <p:txBody>
          <a:bodyPr wrap="square" rtlCol="0" anchor="ctr"/>
          <a:lstStyle/>
          <a:p>
            <a:pPr algn="ctr" indent="0" marL="0">
              <a:buNone/>
            </a:pPr>
            <a:r>
              <a:rPr lang="en-US" sz="900" dirty="0">
                <a:solidFill>
                  <a:srgbClr val="27AE60"/>
                </a:solidFill>
                <a:latin typeface="Calibri" pitchFamily="34" charset="0"/>
                <a:ea typeface="Calibri" pitchFamily="34" charset="-122"/>
                <a:cs typeface="Calibri" pitchFamily="34" charset="-120"/>
              </a:rPr>
              <a:t>unit</a:t>
            </a:r>
            <a:endParaRPr lang="en-US" sz="900" dirty="0"/>
          </a:p>
          <a:p>
            <a:pPr algn="ctr" indent="0" marL="0">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17" name="Shape 15"/>
          <p:cNvSpPr/>
          <p:nvPr/>
        </p:nvSpPr>
        <p:spPr>
          <a:xfrm>
            <a:off x="9144000" y="2011680"/>
            <a:ext cx="2286000" cy="594360"/>
          </a:xfrm>
          <a:prstGeom prst="rect">
            <a:avLst>
              <a:gd name="adj" fmla="val 12308"/>
            </a:avLst>
          </a:prstGeom>
          <a:solidFill>
            <a:srgbClr val="1A2E1A"/>
          </a:solidFill>
          <a:ln w="19050">
            <a:solidFill>
              <a:srgbClr val="C0392B"/>
            </a:solidFill>
            <a:prstDash val="solid"/>
          </a:ln>
        </p:spPr>
      </p:sp>
      <p:sp>
        <p:nvSpPr>
          <p:cNvPr id="18" name="Text 16"/>
          <p:cNvSpPr/>
          <p:nvPr/>
        </p:nvSpPr>
        <p:spPr>
          <a:xfrm>
            <a:off x="9144000" y="2057400"/>
            <a:ext cx="2286000" cy="502920"/>
          </a:xfrm>
          <a:prstGeom prst="rect">
            <a:avLst/>
          </a:prstGeom>
          <a:noFill/>
          <a:ln/>
        </p:spPr>
        <p:txBody>
          <a:bodyPr wrap="square" rtlCol="0" anchor="ctr"/>
          <a:lstStyle/>
          <a:p>
            <a:pPr algn="ctr" indent="0" marL="0">
              <a:buNone/>
            </a:pPr>
            <a:r>
              <a:rPr lang="en-US" sz="900" dirty="0">
                <a:solidFill>
                  <a:srgbClr val="27AE60"/>
                </a:solidFill>
                <a:latin typeface="Calibri" pitchFamily="34" charset="0"/>
                <a:ea typeface="Calibri" pitchFamily="34" charset="-122"/>
                <a:cs typeface="Calibri" pitchFamily="34" charset="-120"/>
              </a:rPr>
              <a:t>e2e</a:t>
            </a:r>
            <a:endParaRPr lang="en-US" sz="900" dirty="0"/>
          </a:p>
          <a:p>
            <a:pPr algn="ctr" indent="0" marL="0">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19" name="Text 17"/>
          <p:cNvSpPr/>
          <p:nvPr/>
        </p:nvSpPr>
        <p:spPr>
          <a:xfrm>
            <a:off x="5943600" y="1691640"/>
            <a:ext cx="457200" cy="365760"/>
          </a:xfrm>
          <a:prstGeom prst="rect">
            <a:avLst/>
          </a:prstGeom>
          <a:noFill/>
          <a:ln/>
        </p:spPr>
        <p:txBody>
          <a:bodyPr wrap="square" rtlCol="0" anchor="ctr"/>
          <a:lstStyle/>
          <a:p>
            <a:pPr algn="ctr" indent="0" marL="0">
              <a:buNone/>
            </a:pPr>
            <a:r>
              <a:rPr lang="en-US" sz="1400" dirty="0">
                <a:solidFill>
                  <a:srgbClr val="B2B2B2"/>
                </a:solidFill>
              </a:rPr>
              <a:t>↓</a:t>
            </a:r>
            <a:endParaRPr lang="en-US" sz="1400" dirty="0"/>
          </a:p>
        </p:txBody>
      </p:sp>
      <p:sp>
        <p:nvSpPr>
          <p:cNvPr id="20" name="Shape 18"/>
          <p:cNvSpPr/>
          <p:nvPr/>
        </p:nvSpPr>
        <p:spPr>
          <a:xfrm>
            <a:off x="2286000" y="2880360"/>
            <a:ext cx="2286000" cy="594360"/>
          </a:xfrm>
          <a:prstGeom prst="rect">
            <a:avLst>
              <a:gd name="adj" fmla="val 12308"/>
            </a:avLst>
          </a:prstGeom>
          <a:solidFill>
            <a:srgbClr val="2E1A2E"/>
          </a:solidFill>
          <a:ln w="19050">
            <a:solidFill>
              <a:srgbClr val="C0392B"/>
            </a:solidFill>
            <a:prstDash val="solid"/>
          </a:ln>
        </p:spPr>
      </p:sp>
      <p:sp>
        <p:nvSpPr>
          <p:cNvPr id="21" name="Text 19"/>
          <p:cNvSpPr/>
          <p:nvPr/>
        </p:nvSpPr>
        <p:spPr>
          <a:xfrm>
            <a:off x="2286000" y="2926080"/>
            <a:ext cx="2286000" cy="502920"/>
          </a:xfrm>
          <a:prstGeom prst="rect">
            <a:avLst/>
          </a:prstGeom>
          <a:noFill/>
          <a:ln/>
        </p:spPr>
        <p:txBody>
          <a:bodyPr wrap="square" rtlCol="0" anchor="ctr"/>
          <a:lstStyle/>
          <a:p>
            <a:pPr algn="ctr" indent="0" marL="0">
              <a:buNone/>
            </a:pPr>
            <a:r>
              <a:rPr lang="en-US" sz="900" dirty="0">
                <a:solidFill>
                  <a:srgbClr val="F39C12"/>
                </a:solidFill>
                <a:latin typeface="Calibri" pitchFamily="34" charset="0"/>
                <a:ea typeface="Calibri" pitchFamily="34" charset="-122"/>
                <a:cs typeface="Calibri" pitchFamily="34" charset="-120"/>
              </a:rPr>
              <a:t>sonar</a:t>
            </a:r>
            <a:endParaRPr lang="en-US" sz="900" dirty="0"/>
          </a:p>
          <a:p>
            <a:pPr algn="ctr" indent="0" marL="0">
              <a:buNone/>
            </a:pPr>
            <a:r>
              <a:rPr lang="en-US" sz="900" dirty="0">
                <a:solidFill>
                  <a:srgbClr val="F39C12"/>
                </a:solidFill>
                <a:latin typeface="Calibri" pitchFamily="34" charset="0"/>
                <a:ea typeface="Calibri" pitchFamily="34" charset="-122"/>
                <a:cs typeface="Calibri" pitchFamily="34" charset="-120"/>
              </a:rPr>
              <a:t>audit</a:t>
            </a:r>
            <a:endParaRPr lang="en-US" sz="900" dirty="0"/>
          </a:p>
        </p:txBody>
      </p:sp>
      <p:sp>
        <p:nvSpPr>
          <p:cNvPr id="22" name="Shape 20"/>
          <p:cNvSpPr/>
          <p:nvPr/>
        </p:nvSpPr>
        <p:spPr>
          <a:xfrm>
            <a:off x="6583680" y="2880360"/>
            <a:ext cx="2286000" cy="594360"/>
          </a:xfrm>
          <a:prstGeom prst="rect">
            <a:avLst>
              <a:gd name="adj" fmla="val 12308"/>
            </a:avLst>
          </a:prstGeom>
          <a:solidFill>
            <a:srgbClr val="1A2E2E"/>
          </a:solidFill>
          <a:ln w="19050">
            <a:solidFill>
              <a:srgbClr val="C0392B"/>
            </a:solidFill>
            <a:prstDash val="solid"/>
          </a:ln>
        </p:spPr>
      </p:sp>
      <p:sp>
        <p:nvSpPr>
          <p:cNvPr id="23" name="Text 21"/>
          <p:cNvSpPr/>
          <p:nvPr/>
        </p:nvSpPr>
        <p:spPr>
          <a:xfrm>
            <a:off x="6583680" y="2926080"/>
            <a:ext cx="2286000" cy="502920"/>
          </a:xfrm>
          <a:prstGeom prst="rect">
            <a:avLst/>
          </a:prstGeom>
          <a:noFill/>
          <a:ln/>
        </p:spPr>
        <p:txBody>
          <a:bodyPr wrap="square" rtlCol="0" anchor="ctr"/>
          <a:lstStyle/>
          <a:p>
            <a:pPr algn="ctr" indent="0" marL="0">
              <a:buNone/>
            </a:pPr>
            <a:r>
              <a:rPr lang="en-US" sz="900" dirty="0">
                <a:solidFill>
                  <a:srgbClr val="3498DB"/>
                </a:solidFill>
                <a:latin typeface="Calibri" pitchFamily="34" charset="0"/>
                <a:ea typeface="Calibri" pitchFamily="34" charset="-122"/>
                <a:cs typeface="Calibri" pitchFamily="34" charset="-120"/>
              </a:rPr>
              <a:t>k6</a:t>
            </a:r>
            <a:endParaRPr lang="en-US" sz="900" dirty="0"/>
          </a:p>
          <a:p>
            <a:pPr algn="ctr" indent="0" marL="0">
              <a:buNone/>
            </a:pPr>
            <a:r>
              <a:rPr lang="en-US" sz="900" dirty="0">
                <a:solidFill>
                  <a:srgbClr val="3498DB"/>
                </a:solidFill>
                <a:latin typeface="Calibri" pitchFamily="34" charset="0"/>
                <a:ea typeface="Calibri" pitchFamily="34" charset="-122"/>
                <a:cs typeface="Calibri" pitchFamily="34" charset="-120"/>
              </a:rPr>
              <a:t>smoke-test</a:t>
            </a:r>
            <a:endParaRPr lang="en-US" sz="900" dirty="0"/>
          </a:p>
        </p:txBody>
      </p:sp>
      <p:sp>
        <p:nvSpPr>
          <p:cNvPr id="24" name="Shape 22"/>
          <p:cNvSpPr/>
          <p:nvPr/>
        </p:nvSpPr>
        <p:spPr>
          <a:xfrm>
            <a:off x="5394960" y="3749040"/>
            <a:ext cx="1463040" cy="548640"/>
          </a:xfrm>
          <a:prstGeom prst="rect">
            <a:avLst>
              <a:gd name="adj" fmla="val 13333"/>
            </a:avLst>
          </a:prstGeom>
          <a:solidFill>
            <a:srgbClr val="2E2A1A"/>
          </a:solidFill>
          <a:ln w="19050">
            <a:solidFill>
              <a:srgbClr val="C0392B"/>
            </a:solidFill>
            <a:prstDash val="solid"/>
          </a:ln>
        </p:spPr>
      </p:sp>
      <p:sp>
        <p:nvSpPr>
          <p:cNvPr id="25" name="Text 23"/>
          <p:cNvSpPr/>
          <p:nvPr/>
        </p:nvSpPr>
        <p:spPr>
          <a:xfrm>
            <a:off x="5394960" y="3767328"/>
            <a:ext cx="1463040" cy="502920"/>
          </a:xfrm>
          <a:prstGeom prst="rect">
            <a:avLst/>
          </a:prstGeom>
          <a:noFill/>
          <a:ln/>
        </p:spPr>
        <p:txBody>
          <a:bodyPr wrap="square" rtlCol="0" anchor="ctr"/>
          <a:lstStyle/>
          <a:p>
            <a:pPr algn="ctr" indent="0" marL="0">
              <a:buNone/>
            </a:pPr>
            <a:r>
              <a:rPr lang="en-US" sz="800" dirty="0">
                <a:solidFill>
                  <a:srgbClr val="F39C12"/>
                </a:solidFill>
                <a:latin typeface="Calibri" pitchFamily="34" charset="0"/>
                <a:ea typeface="Calibri" pitchFamily="34" charset="-122"/>
                <a:cs typeface="Calibri" pitchFamily="34" charset="-120"/>
              </a:rPr>
              <a:t>build-image</a:t>
            </a:r>
            <a:endParaRPr lang="en-US" sz="800" dirty="0"/>
          </a:p>
          <a:p>
            <a:pPr algn="ctr" indent="0" marL="0">
              <a:buNone/>
            </a:pPr>
            <a:r>
              <a:rPr lang="en-US" sz="800" dirty="0">
                <a:solidFill>
                  <a:srgbClr val="F39C12"/>
                </a:solidFill>
                <a:latin typeface="Calibri" pitchFamily="34" charset="0"/>
                <a:ea typeface="Calibri" pitchFamily="34" charset="-122"/>
                <a:cs typeface="Calibri" pitchFamily="34" charset="-120"/>
              </a:rPr>
              <a:t>🖥 self-hosted</a:t>
            </a:r>
            <a:endParaRPr lang="en-US" sz="800" dirty="0"/>
          </a:p>
        </p:txBody>
      </p:sp>
      <p:sp>
        <p:nvSpPr>
          <p:cNvPr id="26" name="Shape 24"/>
          <p:cNvSpPr/>
          <p:nvPr/>
        </p:nvSpPr>
        <p:spPr>
          <a:xfrm>
            <a:off x="5394960" y="4572000"/>
            <a:ext cx="1463040" cy="548640"/>
          </a:xfrm>
          <a:prstGeom prst="rect">
            <a:avLst>
              <a:gd name="adj" fmla="val 13333"/>
            </a:avLst>
          </a:prstGeom>
          <a:solidFill>
            <a:srgbClr val="2E1A1A"/>
          </a:solidFill>
          <a:ln w="19050">
            <a:solidFill>
              <a:srgbClr val="C0392B"/>
            </a:solidFill>
            <a:prstDash val="solid"/>
          </a:ln>
        </p:spPr>
      </p:sp>
      <p:sp>
        <p:nvSpPr>
          <p:cNvPr id="27" name="Text 25"/>
          <p:cNvSpPr/>
          <p:nvPr/>
        </p:nvSpPr>
        <p:spPr>
          <a:xfrm>
            <a:off x="5394960" y="4590288"/>
            <a:ext cx="1463040" cy="502920"/>
          </a:xfrm>
          <a:prstGeom prst="rect">
            <a:avLst/>
          </a:prstGeom>
          <a:noFill/>
          <a:ln/>
        </p:spPr>
        <p:txBody>
          <a:bodyPr wrap="square" rtlCol="0" anchor="ctr"/>
          <a:lstStyle/>
          <a:p>
            <a:pPr algn="ctr" indent="0" marL="0">
              <a:buNone/>
            </a:pPr>
            <a:r>
              <a:rPr lang="en-US" sz="800" dirty="0">
                <a:solidFill>
                  <a:srgbClr val="E74C3C"/>
                </a:solidFill>
                <a:latin typeface="Calibri" pitchFamily="34" charset="0"/>
                <a:ea typeface="Calibri" pitchFamily="34" charset="-122"/>
                <a:cs typeface="Calibri" pitchFamily="34" charset="-120"/>
              </a:rPr>
              <a:t>trivy</a:t>
            </a:r>
            <a:endParaRPr lang="en-US" sz="800" dirty="0"/>
          </a:p>
          <a:p>
            <a:pPr algn="ctr" indent="0" marL="0">
              <a:buNone/>
            </a:pPr>
            <a:r>
              <a:rPr lang="en-US" sz="800" dirty="0">
                <a:solidFill>
                  <a:srgbClr val="E74C3C"/>
                </a:solidFill>
                <a:latin typeface="Calibri" pitchFamily="34" charset="0"/>
                <a:ea typeface="Calibri" pitchFamily="34" charset="-122"/>
                <a:cs typeface="Calibri" pitchFamily="34" charset="-120"/>
              </a:rPr>
              <a:t>image-scan</a:t>
            </a:r>
            <a:endParaRPr lang="en-US" sz="800" dirty="0"/>
          </a:p>
        </p:txBody>
      </p:sp>
      <p:sp>
        <p:nvSpPr>
          <p:cNvPr id="28" name="Shape 26"/>
          <p:cNvSpPr/>
          <p:nvPr/>
        </p:nvSpPr>
        <p:spPr>
          <a:xfrm>
            <a:off x="3200400" y="5440680"/>
            <a:ext cx="2286000" cy="685800"/>
          </a:xfrm>
          <a:prstGeom prst="rect">
            <a:avLst>
              <a:gd name="adj" fmla="val 10667"/>
            </a:avLst>
          </a:prstGeom>
          <a:solidFill>
            <a:srgbClr val="1A2A1A"/>
          </a:solidFill>
          <a:ln w="19050">
            <a:solidFill>
              <a:srgbClr val="C0392B"/>
            </a:solidFill>
            <a:prstDash val="solid"/>
          </a:ln>
        </p:spPr>
      </p:sp>
      <p:sp>
        <p:nvSpPr>
          <p:cNvPr id="29" name="Text 27"/>
          <p:cNvSpPr/>
          <p:nvPr/>
        </p:nvSpPr>
        <p:spPr>
          <a:xfrm>
            <a:off x="3200400" y="5458968"/>
            <a:ext cx="2286000" cy="658368"/>
          </a:xfrm>
          <a:prstGeom prst="rect">
            <a:avLst/>
          </a:prstGeom>
          <a:noFill/>
          <a:ln/>
        </p:spPr>
        <p:txBody>
          <a:bodyPr wrap="square" rtlCol="0" anchor="ctr"/>
          <a:lstStyle/>
          <a:p>
            <a:pPr algn="ctr" indent="0" marL="0">
              <a:buNone/>
            </a:pPr>
            <a:r>
              <a:rPr lang="en-US" sz="800" dirty="0">
                <a:solidFill>
                  <a:srgbClr val="27AE60"/>
                </a:solidFill>
                <a:latin typeface="Calibri" pitchFamily="34" charset="0"/>
                <a:ea typeface="Calibri" pitchFamily="34" charset="-122"/>
                <a:cs typeface="Calibri" pitchFamily="34" charset="-120"/>
              </a:rPr>
              <a:t>deploy</a:t>
            </a:r>
            <a:endParaRPr lang="en-US" sz="800" dirty="0"/>
          </a:p>
          <a:p>
            <a:pPr algn="ctr" indent="0" marL="0">
              <a:buNone/>
            </a:pPr>
            <a:r>
              <a:rPr lang="en-US" sz="800" dirty="0">
                <a:solidFill>
                  <a:srgbClr val="27AE60"/>
                </a:solidFill>
                <a:latin typeface="Calibri" pitchFamily="34" charset="0"/>
                <a:ea typeface="Calibri" pitchFamily="34" charset="-122"/>
                <a:cs typeface="Calibri" pitchFamily="34" charset="-120"/>
              </a:rPr>
              <a:t>staging</a:t>
            </a:r>
            <a:endParaRPr lang="en-US" sz="800" dirty="0"/>
          </a:p>
          <a:p>
            <a:pPr algn="ctr" indent="0" marL="0">
              <a:buNone/>
            </a:pPr>
            <a:r>
              <a:rPr lang="en-US" sz="800" dirty="0">
                <a:solidFill>
                  <a:srgbClr val="27AE60"/>
                </a:solidFill>
                <a:latin typeface="Calibri" pitchFamily="34" charset="0"/>
                <a:ea typeface="Calibri" pitchFamily="34" charset="-122"/>
                <a:cs typeface="Calibri" pitchFamily="34" charset="-120"/>
              </a:rPr>
              <a:t>:8089</a:t>
            </a:r>
            <a:endParaRPr lang="en-US" sz="800" dirty="0"/>
          </a:p>
        </p:txBody>
      </p:sp>
      <p:sp>
        <p:nvSpPr>
          <p:cNvPr id="30" name="Shape 28"/>
          <p:cNvSpPr/>
          <p:nvPr/>
        </p:nvSpPr>
        <p:spPr>
          <a:xfrm>
            <a:off x="7680960" y="5440680"/>
            <a:ext cx="2286000" cy="685800"/>
          </a:xfrm>
          <a:prstGeom prst="rect">
            <a:avLst>
              <a:gd name="adj" fmla="val 10667"/>
            </a:avLst>
          </a:prstGeom>
          <a:solidFill>
            <a:srgbClr val="1A2A1A"/>
          </a:solidFill>
          <a:ln w="19050">
            <a:solidFill>
              <a:srgbClr val="C0392B"/>
            </a:solidFill>
            <a:prstDash val="solid"/>
          </a:ln>
        </p:spPr>
      </p:sp>
      <p:sp>
        <p:nvSpPr>
          <p:cNvPr id="31" name="Text 29"/>
          <p:cNvSpPr/>
          <p:nvPr/>
        </p:nvSpPr>
        <p:spPr>
          <a:xfrm>
            <a:off x="7680960" y="5458968"/>
            <a:ext cx="2286000" cy="658368"/>
          </a:xfrm>
          <a:prstGeom prst="rect">
            <a:avLst/>
          </a:prstGeom>
          <a:noFill/>
          <a:ln/>
        </p:spPr>
        <p:txBody>
          <a:bodyPr wrap="square" rtlCol="0" anchor="ctr"/>
          <a:lstStyle/>
          <a:p>
            <a:pPr algn="ctr" indent="0" marL="0">
              <a:buNone/>
            </a:pPr>
            <a:r>
              <a:rPr lang="en-US" sz="800" dirty="0">
                <a:solidFill>
                  <a:srgbClr val="27AE60"/>
                </a:solidFill>
                <a:latin typeface="Calibri" pitchFamily="34" charset="0"/>
                <a:ea typeface="Calibri" pitchFamily="34" charset="-122"/>
                <a:cs typeface="Calibri" pitchFamily="34" charset="-120"/>
              </a:rPr>
              <a:t>deploy</a:t>
            </a:r>
            <a:endParaRPr lang="en-US" sz="800" dirty="0"/>
          </a:p>
          <a:p>
            <a:pPr algn="ctr" indent="0" marL="0">
              <a:buNone/>
            </a:pPr>
            <a:r>
              <a:rPr lang="en-US" sz="800" dirty="0">
                <a:solidFill>
                  <a:srgbClr val="27AE60"/>
                </a:solidFill>
                <a:latin typeface="Calibri" pitchFamily="34" charset="0"/>
                <a:ea typeface="Calibri" pitchFamily="34" charset="-122"/>
                <a:cs typeface="Calibri" pitchFamily="34" charset="-120"/>
              </a:rPr>
              <a:t>production</a:t>
            </a:r>
            <a:endParaRPr lang="en-US" sz="800" dirty="0"/>
          </a:p>
          <a:p>
            <a:pPr algn="ctr" indent="0" marL="0">
              <a:buNone/>
            </a:pPr>
            <a:r>
              <a:rPr lang="en-US" sz="800" dirty="0">
                <a:solidFill>
                  <a:srgbClr val="27AE60"/>
                </a:solidFill>
                <a:latin typeface="Calibri" pitchFamily="34" charset="0"/>
                <a:ea typeface="Calibri" pitchFamily="34" charset="-122"/>
                <a:cs typeface="Calibri" pitchFamily="34" charset="-120"/>
              </a:rPr>
              <a:t>:8088</a:t>
            </a:r>
            <a:endParaRPr lang="en-US" sz="800" dirty="0"/>
          </a:p>
        </p:txBody>
      </p:sp>
      <p:sp>
        <p:nvSpPr>
          <p:cNvPr id="32" name="Text 30"/>
          <p:cNvSpPr/>
          <p:nvPr/>
        </p:nvSpPr>
        <p:spPr>
          <a:xfrm>
            <a:off x="5989320" y="3429000"/>
            <a:ext cx="365760" cy="32004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
        <p:nvSpPr>
          <p:cNvPr id="33" name="Text 31"/>
          <p:cNvSpPr/>
          <p:nvPr/>
        </p:nvSpPr>
        <p:spPr>
          <a:xfrm>
            <a:off x="5989320" y="4251960"/>
            <a:ext cx="365760" cy="32004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
        <p:nvSpPr>
          <p:cNvPr id="34" name="Text 32"/>
          <p:cNvSpPr/>
          <p:nvPr/>
        </p:nvSpPr>
        <p:spPr>
          <a:xfrm>
            <a:off x="5989320" y="5074920"/>
            <a:ext cx="365760" cy="32004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
        <p:nvSpPr>
          <p:cNvPr id="35" name="Text 33"/>
          <p:cNvSpPr/>
          <p:nvPr/>
        </p:nvSpPr>
        <p:spPr>
          <a:xfrm>
            <a:off x="5989320" y="5897880"/>
            <a:ext cx="365760" cy="32004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
        <p:nvSpPr>
          <p:cNvPr id="36" name="Shape 34"/>
          <p:cNvSpPr/>
          <p:nvPr/>
        </p:nvSpPr>
        <p:spPr>
          <a:xfrm>
            <a:off x="274320" y="6263640"/>
            <a:ext cx="228600" cy="164592"/>
          </a:xfrm>
          <a:prstGeom prst="rect">
            <a:avLst/>
          </a:prstGeom>
          <a:solidFill>
            <a:srgbClr val="1A2E1A"/>
          </a:solidFill>
          <a:ln/>
        </p:spPr>
      </p:sp>
      <p:sp>
        <p:nvSpPr>
          <p:cNvPr id="37" name="Text 35"/>
          <p:cNvSpPr/>
          <p:nvPr/>
        </p:nvSpPr>
        <p:spPr>
          <a:xfrm>
            <a:off x="548640" y="6245352"/>
            <a:ext cx="1828800" cy="201168"/>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Tests / Build</a:t>
            </a:r>
            <a:endParaRPr lang="en-US" sz="800" dirty="0"/>
          </a:p>
        </p:txBody>
      </p:sp>
      <p:sp>
        <p:nvSpPr>
          <p:cNvPr id="38" name="Shape 36"/>
          <p:cNvSpPr/>
          <p:nvPr/>
        </p:nvSpPr>
        <p:spPr>
          <a:xfrm>
            <a:off x="2743200" y="6263640"/>
            <a:ext cx="228600" cy="164592"/>
          </a:xfrm>
          <a:prstGeom prst="rect">
            <a:avLst/>
          </a:prstGeom>
          <a:solidFill>
            <a:srgbClr val="2E1A1A"/>
          </a:solidFill>
          <a:ln/>
        </p:spPr>
      </p:sp>
      <p:sp>
        <p:nvSpPr>
          <p:cNvPr id="39" name="Text 37"/>
          <p:cNvSpPr/>
          <p:nvPr/>
        </p:nvSpPr>
        <p:spPr>
          <a:xfrm>
            <a:off x="3017520" y="6245352"/>
            <a:ext cx="1828800" cy="201168"/>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Sécurité / Scan</a:t>
            </a:r>
            <a:endParaRPr lang="en-US" sz="800" dirty="0"/>
          </a:p>
        </p:txBody>
      </p:sp>
      <p:sp>
        <p:nvSpPr>
          <p:cNvPr id="40" name="Shape 38"/>
          <p:cNvSpPr/>
          <p:nvPr/>
        </p:nvSpPr>
        <p:spPr>
          <a:xfrm>
            <a:off x="5303520" y="6263640"/>
            <a:ext cx="228600" cy="164592"/>
          </a:xfrm>
          <a:prstGeom prst="rect">
            <a:avLst/>
          </a:prstGeom>
          <a:solidFill>
            <a:srgbClr val="2E2A1A"/>
          </a:solidFill>
          <a:ln/>
        </p:spPr>
      </p:sp>
      <p:sp>
        <p:nvSpPr>
          <p:cNvPr id="41" name="Text 39"/>
          <p:cNvSpPr/>
          <p:nvPr/>
        </p:nvSpPr>
        <p:spPr>
          <a:xfrm>
            <a:off x="5577840" y="6245352"/>
            <a:ext cx="2286000" cy="201168"/>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Self-hosted runner</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8</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EQUIPE &amp; MONTEE EN COMPETENCES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Cartographie des compétences</a:t>
            </a:r>
            <a:endParaRPr lang="en-US" sz="3400" dirty="0"/>
          </a:p>
        </p:txBody>
      </p:sp>
      <p:sp>
        <p:nvSpPr>
          <p:cNvPr id="9" name="Shape 7"/>
          <p:cNvSpPr/>
          <p:nvPr/>
        </p:nvSpPr>
        <p:spPr>
          <a:xfrm>
            <a:off x="274320" y="2743200"/>
            <a:ext cx="2743200" cy="2560320"/>
          </a:xfrm>
          <a:prstGeom prst="rect">
            <a:avLst>
              <a:gd name="adj" fmla="val 2857"/>
            </a:avLst>
          </a:prstGeom>
          <a:solidFill>
            <a:srgbClr val="2E1A1A"/>
          </a:solidFill>
          <a:ln w="19050">
            <a:solidFill>
              <a:srgbClr val="C0392B"/>
            </a:solidFill>
            <a:prstDash val="solid"/>
          </a:ln>
        </p:spPr>
      </p:sp>
      <p:sp>
        <p:nvSpPr>
          <p:cNvPr id="10" name="Text 8"/>
          <p:cNvSpPr/>
          <p:nvPr/>
        </p:nvSpPr>
        <p:spPr>
          <a:xfrm>
            <a:off x="411480" y="2834640"/>
            <a:ext cx="2468880" cy="457200"/>
          </a:xfrm>
          <a:prstGeom prst="rect">
            <a:avLst/>
          </a:prstGeom>
          <a:noFill/>
          <a:ln/>
        </p:spPr>
        <p:txBody>
          <a:bodyPr wrap="square" rtlCol="0" anchor="ctr"/>
          <a:lstStyle/>
          <a:p>
            <a:pPr algn="r" indent="0" marL="0">
              <a:buNone/>
            </a:pPr>
            <a:r>
              <a:rPr lang="en-US" sz="2200" b="1" dirty="0">
                <a:solidFill>
                  <a:srgbClr val="E74C3C"/>
                </a:solidFill>
                <a:latin typeface="Georgia" pitchFamily="34" charset="0"/>
                <a:ea typeface="Georgia" pitchFamily="34" charset="-122"/>
                <a:cs typeface="Georgia" pitchFamily="34" charset="-120"/>
              </a:rPr>
              <a:t>×1</a:t>
            </a:r>
            <a:endParaRPr lang="en-US" sz="2200" dirty="0"/>
          </a:p>
        </p:txBody>
      </p:sp>
      <p:sp>
        <p:nvSpPr>
          <p:cNvPr id="11" name="Text 9"/>
          <p:cNvSpPr/>
          <p:nvPr/>
        </p:nvSpPr>
        <p:spPr>
          <a:xfrm>
            <a:off x="411480" y="3291840"/>
            <a:ext cx="2468880" cy="457200"/>
          </a:xfrm>
          <a:prstGeom prst="rect">
            <a:avLst/>
          </a:prstGeom>
          <a:noFill/>
          <a:ln/>
        </p:spPr>
        <p:txBody>
          <a:bodyPr wrap="square" rtlCol="0" anchor="ctr"/>
          <a:lstStyle/>
          <a:p>
            <a:pPr algn="ctr" indent="0" marL="0">
              <a:buNone/>
            </a:pPr>
            <a:r>
              <a:rPr lang="en-US" sz="1300" b="1" dirty="0">
                <a:solidFill>
                  <a:srgbClr val="F0F0F0"/>
                </a:solidFill>
                <a:latin typeface="Calibri" pitchFamily="34" charset="0"/>
                <a:ea typeface="Calibri" pitchFamily="34" charset="-122"/>
                <a:cs typeface="Calibri" pitchFamily="34" charset="-120"/>
              </a:rPr>
              <a:t>Lead Developer</a:t>
            </a:r>
            <a:endParaRPr lang="en-US" sz="1300" dirty="0"/>
          </a:p>
        </p:txBody>
      </p:sp>
      <p:sp>
        <p:nvSpPr>
          <p:cNvPr id="12" name="Shape 10"/>
          <p:cNvSpPr/>
          <p:nvPr/>
        </p:nvSpPr>
        <p:spPr>
          <a:xfrm>
            <a:off x="731520" y="3794760"/>
            <a:ext cx="1828800" cy="36576"/>
          </a:xfrm>
          <a:prstGeom prst="rect">
            <a:avLst/>
          </a:prstGeom>
          <a:solidFill>
            <a:srgbClr val="C0392B"/>
          </a:solidFill>
          <a:ln/>
        </p:spPr>
      </p:sp>
      <p:sp>
        <p:nvSpPr>
          <p:cNvPr id="13" name="Text 11"/>
          <p:cNvSpPr/>
          <p:nvPr/>
        </p:nvSpPr>
        <p:spPr>
          <a:xfrm>
            <a:off x="365760" y="3886200"/>
            <a:ext cx="2560320" cy="109728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Architecture · CI/CD</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Sécurité · DevSecOps</a:t>
            </a:r>
            <a:endParaRPr lang="en-US" sz="1200" dirty="0"/>
          </a:p>
        </p:txBody>
      </p:sp>
      <p:sp>
        <p:nvSpPr>
          <p:cNvPr id="14" name="Shape 12"/>
          <p:cNvSpPr/>
          <p:nvPr/>
        </p:nvSpPr>
        <p:spPr>
          <a:xfrm>
            <a:off x="3291840" y="2743200"/>
            <a:ext cx="2743200" cy="2560320"/>
          </a:xfrm>
          <a:prstGeom prst="rect">
            <a:avLst>
              <a:gd name="adj" fmla="val 2857"/>
            </a:avLst>
          </a:prstGeom>
          <a:solidFill>
            <a:srgbClr val="1A1A2E"/>
          </a:solidFill>
          <a:ln w="19050">
            <a:solidFill>
              <a:srgbClr val="C0392B"/>
            </a:solidFill>
            <a:prstDash val="solid"/>
          </a:ln>
        </p:spPr>
      </p:sp>
      <p:sp>
        <p:nvSpPr>
          <p:cNvPr id="15" name="Text 13"/>
          <p:cNvSpPr/>
          <p:nvPr/>
        </p:nvSpPr>
        <p:spPr>
          <a:xfrm>
            <a:off x="3429000" y="2834640"/>
            <a:ext cx="2468880" cy="457200"/>
          </a:xfrm>
          <a:prstGeom prst="rect">
            <a:avLst/>
          </a:prstGeom>
          <a:noFill/>
          <a:ln/>
        </p:spPr>
        <p:txBody>
          <a:bodyPr wrap="square" rtlCol="0" anchor="ctr"/>
          <a:lstStyle/>
          <a:p>
            <a:pPr algn="r" indent="0" marL="0">
              <a:buNone/>
            </a:pPr>
            <a:r>
              <a:rPr lang="en-US" sz="2200" b="1" dirty="0">
                <a:solidFill>
                  <a:srgbClr val="E74C3C"/>
                </a:solidFill>
                <a:latin typeface="Georgia" pitchFamily="34" charset="0"/>
                <a:ea typeface="Georgia" pitchFamily="34" charset="-122"/>
                <a:cs typeface="Georgia" pitchFamily="34" charset="-120"/>
              </a:rPr>
              <a:t>×2</a:t>
            </a:r>
            <a:endParaRPr lang="en-US" sz="2200" dirty="0"/>
          </a:p>
        </p:txBody>
      </p:sp>
      <p:sp>
        <p:nvSpPr>
          <p:cNvPr id="16" name="Text 14"/>
          <p:cNvSpPr/>
          <p:nvPr/>
        </p:nvSpPr>
        <p:spPr>
          <a:xfrm>
            <a:off x="3429000" y="3291840"/>
            <a:ext cx="2468880" cy="457200"/>
          </a:xfrm>
          <a:prstGeom prst="rect">
            <a:avLst/>
          </a:prstGeom>
          <a:noFill/>
          <a:ln/>
        </p:spPr>
        <p:txBody>
          <a:bodyPr wrap="square" rtlCol="0" anchor="ctr"/>
          <a:lstStyle/>
          <a:p>
            <a:pPr algn="ctr" indent="0" marL="0">
              <a:buNone/>
            </a:pPr>
            <a:r>
              <a:rPr lang="en-US" sz="1300" b="1" dirty="0">
                <a:solidFill>
                  <a:srgbClr val="F0F0F0"/>
                </a:solidFill>
                <a:latin typeface="Calibri" pitchFamily="34" charset="0"/>
                <a:ea typeface="Calibri" pitchFamily="34" charset="-122"/>
                <a:cs typeface="Calibri" pitchFamily="34" charset="-120"/>
              </a:rPr>
              <a:t>Dev Backend</a:t>
            </a:r>
            <a:endParaRPr lang="en-US" sz="1300" dirty="0"/>
          </a:p>
        </p:txBody>
      </p:sp>
      <p:sp>
        <p:nvSpPr>
          <p:cNvPr id="17" name="Shape 15"/>
          <p:cNvSpPr/>
          <p:nvPr/>
        </p:nvSpPr>
        <p:spPr>
          <a:xfrm>
            <a:off x="3749040" y="3794760"/>
            <a:ext cx="1828800" cy="36576"/>
          </a:xfrm>
          <a:prstGeom prst="rect">
            <a:avLst/>
          </a:prstGeom>
          <a:solidFill>
            <a:srgbClr val="C0392B"/>
          </a:solidFill>
          <a:ln/>
        </p:spPr>
      </p:sp>
      <p:sp>
        <p:nvSpPr>
          <p:cNvPr id="18" name="Text 16"/>
          <p:cNvSpPr/>
          <p:nvPr/>
        </p:nvSpPr>
        <p:spPr>
          <a:xfrm>
            <a:off x="3383280" y="3886200"/>
            <a:ext cx="2560320" cy="109728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PHP/Symfony · API</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Tests unitaires</a:t>
            </a:r>
            <a:endParaRPr lang="en-US" sz="1200" dirty="0"/>
          </a:p>
        </p:txBody>
      </p:sp>
      <p:sp>
        <p:nvSpPr>
          <p:cNvPr id="19" name="Shape 17"/>
          <p:cNvSpPr/>
          <p:nvPr/>
        </p:nvSpPr>
        <p:spPr>
          <a:xfrm>
            <a:off x="6309360" y="2743200"/>
            <a:ext cx="2743200" cy="2560320"/>
          </a:xfrm>
          <a:prstGeom prst="rect">
            <a:avLst>
              <a:gd name="adj" fmla="val 2857"/>
            </a:avLst>
          </a:prstGeom>
          <a:solidFill>
            <a:srgbClr val="1A2E2E"/>
          </a:solidFill>
          <a:ln w="19050">
            <a:solidFill>
              <a:srgbClr val="C0392B"/>
            </a:solidFill>
            <a:prstDash val="solid"/>
          </a:ln>
        </p:spPr>
      </p:sp>
      <p:sp>
        <p:nvSpPr>
          <p:cNvPr id="20" name="Text 18"/>
          <p:cNvSpPr/>
          <p:nvPr/>
        </p:nvSpPr>
        <p:spPr>
          <a:xfrm>
            <a:off x="6446520" y="2834640"/>
            <a:ext cx="2468880" cy="457200"/>
          </a:xfrm>
          <a:prstGeom prst="rect">
            <a:avLst/>
          </a:prstGeom>
          <a:noFill/>
          <a:ln/>
        </p:spPr>
        <p:txBody>
          <a:bodyPr wrap="square" rtlCol="0" anchor="ctr"/>
          <a:lstStyle/>
          <a:p>
            <a:pPr algn="r" indent="0" marL="0">
              <a:buNone/>
            </a:pPr>
            <a:r>
              <a:rPr lang="en-US" sz="2200" b="1" dirty="0">
                <a:solidFill>
                  <a:srgbClr val="E74C3C"/>
                </a:solidFill>
                <a:latin typeface="Georgia" pitchFamily="34" charset="0"/>
                <a:ea typeface="Georgia" pitchFamily="34" charset="-122"/>
                <a:cs typeface="Georgia" pitchFamily="34" charset="-120"/>
              </a:rPr>
              <a:t>×1</a:t>
            </a:r>
            <a:endParaRPr lang="en-US" sz="2200" dirty="0"/>
          </a:p>
        </p:txBody>
      </p:sp>
      <p:sp>
        <p:nvSpPr>
          <p:cNvPr id="21" name="Text 19"/>
          <p:cNvSpPr/>
          <p:nvPr/>
        </p:nvSpPr>
        <p:spPr>
          <a:xfrm>
            <a:off x="6446520" y="3291840"/>
            <a:ext cx="2468880" cy="457200"/>
          </a:xfrm>
          <a:prstGeom prst="rect">
            <a:avLst/>
          </a:prstGeom>
          <a:noFill/>
          <a:ln/>
        </p:spPr>
        <p:txBody>
          <a:bodyPr wrap="square" rtlCol="0" anchor="ctr"/>
          <a:lstStyle/>
          <a:p>
            <a:pPr algn="ctr" indent="0" marL="0">
              <a:buNone/>
            </a:pPr>
            <a:r>
              <a:rPr lang="en-US" sz="1300" b="1" dirty="0">
                <a:solidFill>
                  <a:srgbClr val="F0F0F0"/>
                </a:solidFill>
                <a:latin typeface="Calibri" pitchFamily="34" charset="0"/>
                <a:ea typeface="Calibri" pitchFamily="34" charset="-122"/>
                <a:cs typeface="Calibri" pitchFamily="34" charset="-120"/>
              </a:rPr>
              <a:t>Dev Frontend</a:t>
            </a:r>
            <a:endParaRPr lang="en-US" sz="1300" dirty="0"/>
          </a:p>
        </p:txBody>
      </p:sp>
      <p:sp>
        <p:nvSpPr>
          <p:cNvPr id="22" name="Shape 20"/>
          <p:cNvSpPr/>
          <p:nvPr/>
        </p:nvSpPr>
        <p:spPr>
          <a:xfrm>
            <a:off x="6766560" y="3794760"/>
            <a:ext cx="1828800" cy="36576"/>
          </a:xfrm>
          <a:prstGeom prst="rect">
            <a:avLst/>
          </a:prstGeom>
          <a:solidFill>
            <a:srgbClr val="C0392B"/>
          </a:solidFill>
          <a:ln/>
        </p:spPr>
      </p:sp>
      <p:sp>
        <p:nvSpPr>
          <p:cNvPr id="23" name="Text 21"/>
          <p:cNvSpPr/>
          <p:nvPr/>
        </p:nvSpPr>
        <p:spPr>
          <a:xfrm>
            <a:off x="6400800" y="3886200"/>
            <a:ext cx="2560320" cy="109728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JS/Stimulus · UX</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Asset Mapper</a:t>
            </a:r>
            <a:endParaRPr lang="en-US" sz="1200" dirty="0"/>
          </a:p>
        </p:txBody>
      </p:sp>
      <p:sp>
        <p:nvSpPr>
          <p:cNvPr id="24" name="Shape 22"/>
          <p:cNvSpPr/>
          <p:nvPr/>
        </p:nvSpPr>
        <p:spPr>
          <a:xfrm>
            <a:off x="9326880" y="2743200"/>
            <a:ext cx="2743200" cy="2560320"/>
          </a:xfrm>
          <a:prstGeom prst="rect">
            <a:avLst>
              <a:gd name="adj" fmla="val 2857"/>
            </a:avLst>
          </a:prstGeom>
          <a:solidFill>
            <a:srgbClr val="1A2E1A"/>
          </a:solidFill>
          <a:ln w="19050">
            <a:solidFill>
              <a:srgbClr val="C0392B"/>
            </a:solidFill>
            <a:prstDash val="solid"/>
          </a:ln>
        </p:spPr>
      </p:sp>
      <p:sp>
        <p:nvSpPr>
          <p:cNvPr id="25" name="Text 23"/>
          <p:cNvSpPr/>
          <p:nvPr/>
        </p:nvSpPr>
        <p:spPr>
          <a:xfrm>
            <a:off x="9464040" y="2834640"/>
            <a:ext cx="2468880" cy="457200"/>
          </a:xfrm>
          <a:prstGeom prst="rect">
            <a:avLst/>
          </a:prstGeom>
          <a:noFill/>
          <a:ln/>
        </p:spPr>
        <p:txBody>
          <a:bodyPr wrap="square" rtlCol="0" anchor="ctr"/>
          <a:lstStyle/>
          <a:p>
            <a:pPr algn="r" indent="0" marL="0">
              <a:buNone/>
            </a:pPr>
            <a:r>
              <a:rPr lang="en-US" sz="2200" b="1" dirty="0">
                <a:solidFill>
                  <a:srgbClr val="E74C3C"/>
                </a:solidFill>
                <a:latin typeface="Georgia" pitchFamily="34" charset="0"/>
                <a:ea typeface="Georgia" pitchFamily="34" charset="-122"/>
                <a:cs typeface="Georgia" pitchFamily="34" charset="-120"/>
              </a:rPr>
              <a:t>×1</a:t>
            </a:r>
            <a:endParaRPr lang="en-US" sz="2200" dirty="0"/>
          </a:p>
        </p:txBody>
      </p:sp>
      <p:sp>
        <p:nvSpPr>
          <p:cNvPr id="26" name="Text 24"/>
          <p:cNvSpPr/>
          <p:nvPr/>
        </p:nvSpPr>
        <p:spPr>
          <a:xfrm>
            <a:off x="9464040" y="3291840"/>
            <a:ext cx="2468880" cy="457200"/>
          </a:xfrm>
          <a:prstGeom prst="rect">
            <a:avLst/>
          </a:prstGeom>
          <a:noFill/>
          <a:ln/>
        </p:spPr>
        <p:txBody>
          <a:bodyPr wrap="square" rtlCol="0" anchor="ctr"/>
          <a:lstStyle/>
          <a:p>
            <a:pPr algn="ctr" indent="0" marL="0">
              <a:buNone/>
            </a:pPr>
            <a:r>
              <a:rPr lang="en-US" sz="1300" b="1" dirty="0">
                <a:solidFill>
                  <a:srgbClr val="F0F0F0"/>
                </a:solidFill>
                <a:latin typeface="Calibri" pitchFamily="34" charset="0"/>
                <a:ea typeface="Calibri" pitchFamily="34" charset="-122"/>
                <a:cs typeface="Calibri" pitchFamily="34" charset="-120"/>
              </a:rPr>
              <a:t>DevOps</a:t>
            </a:r>
            <a:endParaRPr lang="en-US" sz="1300" dirty="0"/>
          </a:p>
        </p:txBody>
      </p:sp>
      <p:sp>
        <p:nvSpPr>
          <p:cNvPr id="27" name="Shape 25"/>
          <p:cNvSpPr/>
          <p:nvPr/>
        </p:nvSpPr>
        <p:spPr>
          <a:xfrm>
            <a:off x="9784080" y="3794760"/>
            <a:ext cx="1828800" cy="36576"/>
          </a:xfrm>
          <a:prstGeom prst="rect">
            <a:avLst/>
          </a:prstGeom>
          <a:solidFill>
            <a:srgbClr val="C0392B"/>
          </a:solidFill>
          <a:ln/>
        </p:spPr>
      </p:sp>
      <p:sp>
        <p:nvSpPr>
          <p:cNvPr id="28" name="Text 26"/>
          <p:cNvSpPr/>
          <p:nvPr/>
        </p:nvSpPr>
        <p:spPr>
          <a:xfrm>
            <a:off x="9418320" y="3886200"/>
            <a:ext cx="2560320" cy="1097280"/>
          </a:xfrm>
          <a:prstGeom prst="rect">
            <a:avLst/>
          </a:prstGeom>
          <a:noFill/>
          <a:ln/>
        </p:spPr>
        <p:txBody>
          <a:bodyPr wrap="square" rtlCol="0" anchor="ctr"/>
          <a:lstStyle/>
          <a:p>
            <a:pPr algn="ctr" indent="0" marL="0">
              <a:buNone/>
            </a:pPr>
            <a:r>
              <a:rPr lang="en-US" sz="1200" dirty="0">
                <a:solidFill>
                  <a:srgbClr val="B2B2B2"/>
                </a:solidFill>
                <a:latin typeface="Calibri" pitchFamily="34" charset="0"/>
                <a:ea typeface="Calibri" pitchFamily="34" charset="-122"/>
                <a:cs typeface="Calibri" pitchFamily="34" charset="-120"/>
              </a:rPr>
              <a:t>Docker · K8s</a:t>
            </a:r>
            <a:endParaRPr lang="en-US" sz="1200" dirty="0"/>
          </a:p>
          <a:p>
            <a:pPr algn="ctr" indent="0" marL="0">
              <a:buNone/>
            </a:pPr>
            <a:r>
              <a:rPr lang="en-US" sz="1200" dirty="0">
                <a:solidFill>
                  <a:srgbClr val="B2B2B2"/>
                </a:solidFill>
                <a:latin typeface="Calibri" pitchFamily="34" charset="0"/>
                <a:ea typeface="Calibri" pitchFamily="34" charset="-122"/>
                <a:cs typeface="Calibri" pitchFamily="34" charset="-120"/>
              </a:rPr>
              <a:t>GitHub Actions</a:t>
            </a:r>
            <a:endParaRPr lang="en-US" sz="1200" dirty="0"/>
          </a:p>
        </p:txBody>
      </p:sp>
      <p:sp>
        <p:nvSpPr>
          <p:cNvPr id="29" name="Shape 27"/>
          <p:cNvSpPr/>
          <p:nvPr/>
        </p:nvSpPr>
        <p:spPr>
          <a:xfrm>
            <a:off x="274320" y="5486400"/>
            <a:ext cx="11704320" cy="822960"/>
          </a:xfrm>
          <a:prstGeom prst="rect">
            <a:avLst>
              <a:gd name="adj" fmla="val 8889"/>
            </a:avLst>
          </a:prstGeom>
          <a:solidFill>
            <a:srgbClr val="1A1A1A"/>
          </a:solidFill>
          <a:ln w="19050">
            <a:solidFill>
              <a:srgbClr val="C0392B"/>
            </a:solidFill>
            <a:prstDash val="solid"/>
          </a:ln>
        </p:spPr>
      </p:sp>
      <p:sp>
        <p:nvSpPr>
          <p:cNvPr id="30" name="Text 28"/>
          <p:cNvSpPr/>
          <p:nvPr/>
        </p:nvSpPr>
        <p:spPr>
          <a:xfrm>
            <a:off x="457200" y="5577840"/>
            <a:ext cx="2743200" cy="502920"/>
          </a:xfrm>
          <a:prstGeom prst="rect">
            <a:avLst/>
          </a:prstGeom>
          <a:noFill/>
          <a:ln/>
        </p:spPr>
        <p:txBody>
          <a:bodyPr wrap="square" rtlCol="0" anchor="ctr"/>
          <a:lstStyle/>
          <a:p>
            <a:pPr indent="0" marL="0">
              <a:buNone/>
            </a:pPr>
            <a:r>
              <a:rPr lang="en-US" sz="1200" b="1" dirty="0">
                <a:solidFill>
                  <a:srgbClr val="F39C12"/>
                </a:solidFill>
                <a:latin typeface="Calibri" pitchFamily="34" charset="0"/>
                <a:ea typeface="Calibri" pitchFamily="34" charset="-122"/>
                <a:cs typeface="Calibri" pitchFamily="34" charset="-120"/>
              </a:rPr>
              <a:t>📚  Formation proposée :</a:t>
            </a:r>
            <a:endParaRPr lang="en-US" sz="1200" dirty="0"/>
          </a:p>
        </p:txBody>
      </p:sp>
      <p:sp>
        <p:nvSpPr>
          <p:cNvPr id="31" name="Text 29"/>
          <p:cNvSpPr/>
          <p:nvPr/>
        </p:nvSpPr>
        <p:spPr>
          <a:xfrm>
            <a:off x="3200400" y="5577840"/>
            <a:ext cx="8595360" cy="502920"/>
          </a:xfrm>
          <a:prstGeom prst="rect">
            <a:avLst/>
          </a:prstGeom>
          <a:noFill/>
          <a:ln/>
        </p:spPr>
        <p:txBody>
          <a:bodyPr wrap="square" rtlCol="0" anchor="ctr"/>
          <a:lstStyle/>
          <a:p>
            <a:pPr indent="0" marL="0">
              <a:buNone/>
            </a:pPr>
            <a:r>
              <a:rPr lang="en-US" sz="1200" dirty="0">
                <a:solidFill>
                  <a:srgbClr val="F0F0F0"/>
                </a:solidFill>
                <a:latin typeface="Calibri" pitchFamily="34" charset="0"/>
                <a:ea typeface="Calibri" pitchFamily="34" charset="-122"/>
                <a:cs typeface="Calibri" pitchFamily="34" charset="-120"/>
              </a:rPr>
              <a:t>Certification Kubernetes CKA pour le DevOps — 3 mois · 100% en ligne · Linux Foundation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000"/>
        </a:solidFill>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sp>
      <p:sp>
        <p:nvSpPr>
          <p:cNvPr id="3" name="Text 1"/>
          <p:cNvSpPr/>
          <p:nvPr/>
        </p:nvSpPr>
        <p:spPr>
          <a:xfrm>
            <a:off x="0" y="1828800"/>
            <a:ext cx="12192000" cy="640080"/>
          </a:xfrm>
          <a:prstGeom prst="rect">
            <a:avLst/>
          </a:prstGeom>
          <a:noFill/>
          <a:ln/>
        </p:spPr>
        <p:txBody>
          <a:bodyPr wrap="square" rtlCol="0" anchor="ctr"/>
          <a:lstStyle/>
          <a:p>
            <a:pPr algn="ctr" indent="0" marL="0">
              <a:buNone/>
            </a:pPr>
            <a:r>
              <a:rPr lang="en-US" sz="1400" b="1" spc="600" kern="0" dirty="0">
                <a:solidFill>
                  <a:srgbClr val="E74C3C"/>
                </a:solidFill>
                <a:latin typeface="Calibri" pitchFamily="34" charset="0"/>
                <a:ea typeface="Calibri" pitchFamily="34" charset="-122"/>
                <a:cs typeface="Calibri" pitchFamily="34" charset="-120"/>
              </a:rPr>
              <a:t>PARTIE 2</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algn="ctr" indent="0" marL="0">
              <a:buNone/>
            </a:pPr>
            <a:r>
              <a:rPr lang="en-US" sz="4600" b="1" dirty="0">
                <a:solidFill>
                  <a:srgbClr val="F0F0F0"/>
                </a:solidFill>
                <a:latin typeface="Georgia" pitchFamily="34" charset="0"/>
                <a:ea typeface="Georgia" pitchFamily="34" charset="-122"/>
                <a:cs typeface="Georgia" pitchFamily="34" charset="-120"/>
              </a:rPr>
              <a:t>Développement &amp; Déploiement</a:t>
            </a:r>
            <a:endParaRPr lang="en-US" sz="4600" dirty="0"/>
          </a:p>
        </p:txBody>
      </p:sp>
      <p:sp>
        <p:nvSpPr>
          <p:cNvPr id="5" name="Text 3"/>
          <p:cNvSpPr/>
          <p:nvPr/>
        </p:nvSpPr>
        <p:spPr>
          <a:xfrm>
            <a:off x="0" y="4023360"/>
            <a:ext cx="12192000" cy="457200"/>
          </a:xfrm>
          <a:prstGeom prst="rect">
            <a:avLst/>
          </a:prstGeom>
          <a:noFill/>
          <a:ln/>
        </p:spPr>
        <p:txBody>
          <a:bodyPr wrap="square" rtlCol="0" anchor="ctr"/>
          <a:lstStyle/>
          <a:p>
            <a:pPr algn="ctr" indent="0" marL="0">
              <a:buNone/>
            </a:pPr>
            <a:r>
              <a:rPr lang="en-US" sz="1400" i="1" dirty="0">
                <a:solidFill>
                  <a:srgbClr val="B2B2B2"/>
                </a:solidFill>
                <a:latin typeface="Calibri" pitchFamily="34" charset="0"/>
                <a:ea typeface="Calibri" pitchFamily="34" charset="-122"/>
                <a:cs typeface="Calibri" pitchFamily="34" charset="-120"/>
              </a:rPr>
              <a:t>Backlog · Architecture BFF · POC · Disponibilité · Résultats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10</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ANALYSE DES EXIGENCES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4 User Stories — Backlog v1</a:t>
            </a:r>
            <a:endParaRPr lang="en-US" sz="3400" dirty="0"/>
          </a:p>
        </p:txBody>
      </p:sp>
      <p:sp>
        <p:nvSpPr>
          <p:cNvPr id="9" name="Shape 7"/>
          <p:cNvSpPr/>
          <p:nvPr/>
        </p:nvSpPr>
        <p:spPr>
          <a:xfrm>
            <a:off x="274320" y="2743200"/>
            <a:ext cx="5760720" cy="1737360"/>
          </a:xfrm>
          <a:prstGeom prst="rect">
            <a:avLst>
              <a:gd name="adj" fmla="val 4211"/>
            </a:avLst>
          </a:prstGeom>
          <a:solidFill>
            <a:srgbClr val="2E1A1A"/>
          </a:solidFill>
          <a:ln w="19050">
            <a:solidFill>
              <a:srgbClr val="C0392B"/>
            </a:solidFill>
            <a:prstDash val="solid"/>
          </a:ln>
        </p:spPr>
      </p:sp>
      <p:sp>
        <p:nvSpPr>
          <p:cNvPr id="10" name="Text 8"/>
          <p:cNvSpPr/>
          <p:nvPr/>
        </p:nvSpPr>
        <p:spPr>
          <a:xfrm>
            <a:off x="411480" y="2834640"/>
            <a:ext cx="1097280" cy="411480"/>
          </a:xfrm>
          <a:prstGeom prst="rect">
            <a:avLst/>
          </a:prstGeom>
          <a:noFill/>
          <a:ln/>
        </p:spPr>
        <p:txBody>
          <a:bodyPr wrap="square" rtlCol="0" anchor="ctr"/>
          <a:lstStyle/>
          <a:p>
            <a:pPr indent="0" marL="0">
              <a:buNone/>
            </a:pPr>
            <a:r>
              <a:rPr lang="en-US" sz="1300" b="1" dirty="0">
                <a:solidFill>
                  <a:srgbClr val="E74C3C"/>
                </a:solidFill>
                <a:latin typeface="Calibri" pitchFamily="34" charset="0"/>
                <a:ea typeface="Calibri" pitchFamily="34" charset="-122"/>
                <a:cs typeface="Calibri" pitchFamily="34" charset="-120"/>
              </a:rPr>
              <a:t>US-01</a:t>
            </a:r>
            <a:endParaRPr lang="en-US" sz="1300" dirty="0"/>
          </a:p>
        </p:txBody>
      </p:sp>
      <p:sp>
        <p:nvSpPr>
          <p:cNvPr id="11" name="Text 9"/>
          <p:cNvSpPr/>
          <p:nvPr/>
        </p:nvSpPr>
        <p:spPr>
          <a:xfrm>
            <a:off x="4206240" y="2816352"/>
            <a:ext cx="1645920" cy="320040"/>
          </a:xfrm>
          <a:prstGeom prst="rect">
            <a:avLst/>
          </a:prstGeom>
          <a:noFill/>
          <a:ln/>
        </p:spPr>
        <p:txBody>
          <a:bodyPr wrap="square" rtlCol="0" anchor="ctr"/>
          <a:lstStyle/>
          <a:p>
            <a:pPr algn="r" indent="0" marL="0">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2" name="Text 10"/>
          <p:cNvSpPr/>
          <p:nvPr/>
        </p:nvSpPr>
        <p:spPr>
          <a:xfrm>
            <a:off x="411480" y="3246120"/>
            <a:ext cx="5486400" cy="45720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Profil utilisateur agrégé</a:t>
            </a:r>
            <a:endParaRPr lang="en-US" sz="1400" dirty="0"/>
          </a:p>
        </p:txBody>
      </p:sp>
      <p:sp>
        <p:nvSpPr>
          <p:cNvPr id="13" name="Text 11"/>
          <p:cNvSpPr/>
          <p:nvPr/>
        </p:nvSpPr>
        <p:spPr>
          <a:xfrm>
            <a:off x="411480" y="3703320"/>
            <a:ext cx="5486400" cy="640080"/>
          </a:xfrm>
          <a:prstGeom prst="rect">
            <a:avLst/>
          </a:prstGeom>
          <a:noFill/>
          <a:ln/>
        </p:spPr>
        <p:txBody>
          <a:bodyPr wrap="square" rtlCol="0" anchor="ctr"/>
          <a:lstStyle/>
          <a:p>
            <a:pPr indent="0" marL="0">
              <a:buNone/>
            </a:pPr>
            <a:r>
              <a:rPr lang="en-US" sz="1100" dirty="0">
                <a:solidFill>
                  <a:srgbClr val="B2B2B2"/>
                </a:solidFill>
                <a:latin typeface="Calibri" pitchFamily="34" charset="0"/>
                <a:ea typeface="Calibri" pitchFamily="34" charset="-122"/>
                <a:cs typeface="Calibri" pitchFamily="34" charset="-120"/>
              </a:rPr>
              <a:t>BFF · GET /api/profile/{id}</a:t>
            </a:r>
            <a:endParaRPr lang="en-US" sz="1100" dirty="0"/>
          </a:p>
          <a:p>
            <a:pPr indent="0" marL="0">
              <a:buNone/>
            </a:pPr>
            <a:r>
              <a:rPr lang="en-US" sz="1100" dirty="0">
                <a:solidFill>
                  <a:srgbClr val="B2B2B2"/>
                </a:solidFill>
                <a:latin typeface="Calibri" pitchFamily="34" charset="0"/>
                <a:ea typeface="Calibri" pitchFamily="34" charset="-122"/>
                <a:cs typeface="Calibri" pitchFamily="34" charset="-120"/>
              </a:rPr>
              <a:t>Cache 60s · statut 206 si service KO</a:t>
            </a:r>
            <a:endParaRPr lang="en-US" sz="1100" dirty="0"/>
          </a:p>
        </p:txBody>
      </p:sp>
      <p:sp>
        <p:nvSpPr>
          <p:cNvPr id="14" name="Shape 12"/>
          <p:cNvSpPr/>
          <p:nvPr/>
        </p:nvSpPr>
        <p:spPr>
          <a:xfrm>
            <a:off x="6309360" y="2743200"/>
            <a:ext cx="5760720" cy="1737360"/>
          </a:xfrm>
          <a:prstGeom prst="rect">
            <a:avLst>
              <a:gd name="adj" fmla="val 4211"/>
            </a:avLst>
          </a:prstGeom>
          <a:solidFill>
            <a:srgbClr val="1A1A2E"/>
          </a:solidFill>
          <a:ln w="19050">
            <a:solidFill>
              <a:srgbClr val="C0392B"/>
            </a:solidFill>
            <a:prstDash val="solid"/>
          </a:ln>
        </p:spPr>
      </p:sp>
      <p:sp>
        <p:nvSpPr>
          <p:cNvPr id="15" name="Text 13"/>
          <p:cNvSpPr/>
          <p:nvPr/>
        </p:nvSpPr>
        <p:spPr>
          <a:xfrm>
            <a:off x="6446520" y="2834640"/>
            <a:ext cx="1097280" cy="411480"/>
          </a:xfrm>
          <a:prstGeom prst="rect">
            <a:avLst/>
          </a:prstGeom>
          <a:noFill/>
          <a:ln/>
        </p:spPr>
        <p:txBody>
          <a:bodyPr wrap="square" rtlCol="0" anchor="ctr"/>
          <a:lstStyle/>
          <a:p>
            <a:pPr indent="0" marL="0">
              <a:buNone/>
            </a:pPr>
            <a:r>
              <a:rPr lang="en-US" sz="1300" b="1" dirty="0">
                <a:solidFill>
                  <a:srgbClr val="E74C3C"/>
                </a:solidFill>
                <a:latin typeface="Calibri" pitchFamily="34" charset="0"/>
                <a:ea typeface="Calibri" pitchFamily="34" charset="-122"/>
                <a:cs typeface="Calibri" pitchFamily="34" charset="-120"/>
              </a:rPr>
              <a:t>US-02</a:t>
            </a:r>
            <a:endParaRPr lang="en-US" sz="1300" dirty="0"/>
          </a:p>
        </p:txBody>
      </p:sp>
      <p:sp>
        <p:nvSpPr>
          <p:cNvPr id="16" name="Text 14"/>
          <p:cNvSpPr/>
          <p:nvPr/>
        </p:nvSpPr>
        <p:spPr>
          <a:xfrm>
            <a:off x="10241280" y="2816352"/>
            <a:ext cx="1645920" cy="320040"/>
          </a:xfrm>
          <a:prstGeom prst="rect">
            <a:avLst/>
          </a:prstGeom>
          <a:noFill/>
          <a:ln/>
        </p:spPr>
        <p:txBody>
          <a:bodyPr wrap="square" rtlCol="0" anchor="ctr"/>
          <a:lstStyle/>
          <a:p>
            <a:pPr algn="r" indent="0" marL="0">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7" name="Text 15"/>
          <p:cNvSpPr/>
          <p:nvPr/>
        </p:nvSpPr>
        <p:spPr>
          <a:xfrm>
            <a:off x="6446520" y="3246120"/>
            <a:ext cx="5486400" cy="45720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Authentification Keycloak</a:t>
            </a:r>
            <a:endParaRPr lang="en-US" sz="1400" dirty="0"/>
          </a:p>
        </p:txBody>
      </p:sp>
      <p:sp>
        <p:nvSpPr>
          <p:cNvPr id="18" name="Text 16"/>
          <p:cNvSpPr/>
          <p:nvPr/>
        </p:nvSpPr>
        <p:spPr>
          <a:xfrm>
            <a:off x="6446520" y="3703320"/>
            <a:ext cx="5486400" cy="640080"/>
          </a:xfrm>
          <a:prstGeom prst="rect">
            <a:avLst/>
          </a:prstGeom>
          <a:noFill/>
          <a:ln/>
        </p:spPr>
        <p:txBody>
          <a:bodyPr wrap="square" rtlCol="0" anchor="ctr"/>
          <a:lstStyle/>
          <a:p>
            <a:pPr indent="0" marL="0">
              <a:buNone/>
            </a:pPr>
            <a:r>
              <a:rPr lang="en-US" sz="1100" dirty="0">
                <a:solidFill>
                  <a:srgbClr val="B2B2B2"/>
                </a:solidFill>
                <a:latin typeface="Calibri" pitchFamily="34" charset="0"/>
                <a:ea typeface="Calibri" pitchFamily="34" charset="-122"/>
                <a:cs typeface="Calibri" pitchFamily="34" charset="-120"/>
              </a:rPr>
              <a:t>OAuth2/OIDC · Authorization Code</a:t>
            </a:r>
            <a:endParaRPr lang="en-US" sz="1100" dirty="0"/>
          </a:p>
          <a:p>
            <a:pPr indent="0" marL="0">
              <a:buNone/>
            </a:pPr>
            <a:r>
              <a:rPr lang="en-US" sz="1100" dirty="0">
                <a:solidFill>
                  <a:srgbClr val="B2B2B2"/>
                </a:solidFill>
                <a:latin typeface="Calibri" pitchFamily="34" charset="0"/>
                <a:ea typeface="Calibri" pitchFamily="34" charset="-122"/>
                <a:cs typeface="Calibri" pitchFamily="34" charset="-120"/>
              </a:rPr>
              <a:t>State CSRF · JWT claims</a:t>
            </a:r>
            <a:endParaRPr lang="en-US" sz="1100" dirty="0"/>
          </a:p>
        </p:txBody>
      </p:sp>
      <p:sp>
        <p:nvSpPr>
          <p:cNvPr id="19" name="Shape 17"/>
          <p:cNvSpPr/>
          <p:nvPr/>
        </p:nvSpPr>
        <p:spPr>
          <a:xfrm>
            <a:off x="274320" y="4709160"/>
            <a:ext cx="5760720" cy="1737360"/>
          </a:xfrm>
          <a:prstGeom prst="rect">
            <a:avLst>
              <a:gd name="adj" fmla="val 4211"/>
            </a:avLst>
          </a:prstGeom>
          <a:solidFill>
            <a:srgbClr val="1A2E1A"/>
          </a:solidFill>
          <a:ln w="19050">
            <a:solidFill>
              <a:srgbClr val="C0392B"/>
            </a:solidFill>
            <a:prstDash val="solid"/>
          </a:ln>
        </p:spPr>
      </p:sp>
      <p:sp>
        <p:nvSpPr>
          <p:cNvPr id="20" name="Text 18"/>
          <p:cNvSpPr/>
          <p:nvPr/>
        </p:nvSpPr>
        <p:spPr>
          <a:xfrm>
            <a:off x="411480" y="4800600"/>
            <a:ext cx="1097280" cy="411480"/>
          </a:xfrm>
          <a:prstGeom prst="rect">
            <a:avLst/>
          </a:prstGeom>
          <a:noFill/>
          <a:ln/>
        </p:spPr>
        <p:txBody>
          <a:bodyPr wrap="square" rtlCol="0" anchor="ctr"/>
          <a:lstStyle/>
          <a:p>
            <a:pPr indent="0" marL="0">
              <a:buNone/>
            </a:pPr>
            <a:r>
              <a:rPr lang="en-US" sz="1300" b="1" dirty="0">
                <a:solidFill>
                  <a:srgbClr val="E74C3C"/>
                </a:solidFill>
                <a:latin typeface="Calibri" pitchFamily="34" charset="0"/>
                <a:ea typeface="Calibri" pitchFamily="34" charset="-122"/>
                <a:cs typeface="Calibri" pitchFamily="34" charset="-120"/>
              </a:rPr>
              <a:t>US-03</a:t>
            </a:r>
            <a:endParaRPr lang="en-US" sz="1300" dirty="0"/>
          </a:p>
        </p:txBody>
      </p:sp>
      <p:sp>
        <p:nvSpPr>
          <p:cNvPr id="21" name="Text 19"/>
          <p:cNvSpPr/>
          <p:nvPr/>
        </p:nvSpPr>
        <p:spPr>
          <a:xfrm>
            <a:off x="4206240" y="4782312"/>
            <a:ext cx="1645920" cy="320040"/>
          </a:xfrm>
          <a:prstGeom prst="rect">
            <a:avLst/>
          </a:prstGeom>
          <a:noFill/>
          <a:ln/>
        </p:spPr>
        <p:txBody>
          <a:bodyPr wrap="square" rtlCol="0" anchor="ctr"/>
          <a:lstStyle/>
          <a:p>
            <a:pPr algn="r" indent="0" marL="0">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2" name="Text 20"/>
          <p:cNvSpPr/>
          <p:nvPr/>
        </p:nvSpPr>
        <p:spPr>
          <a:xfrm>
            <a:off x="411480" y="5212080"/>
            <a:ext cx="5486400" cy="45720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Catalogue produits</a:t>
            </a:r>
            <a:endParaRPr lang="en-US" sz="1400" dirty="0"/>
          </a:p>
        </p:txBody>
      </p:sp>
      <p:sp>
        <p:nvSpPr>
          <p:cNvPr id="23" name="Text 21"/>
          <p:cNvSpPr/>
          <p:nvPr/>
        </p:nvSpPr>
        <p:spPr>
          <a:xfrm>
            <a:off x="411480" y="5669280"/>
            <a:ext cx="5486400" cy="640080"/>
          </a:xfrm>
          <a:prstGeom prst="rect">
            <a:avLst/>
          </a:prstGeom>
          <a:noFill/>
          <a:ln/>
        </p:spPr>
        <p:txBody>
          <a:bodyPr wrap="square" rtlCol="0" anchor="ctr"/>
          <a:lstStyle/>
          <a:p>
            <a:pPr indent="0" marL="0">
              <a:buNone/>
            </a:pPr>
            <a:r>
              <a:rPr lang="en-US" sz="1100" dirty="0">
                <a:solidFill>
                  <a:srgbClr val="B2B2B2"/>
                </a:solidFill>
                <a:latin typeface="Calibri" pitchFamily="34" charset="0"/>
                <a:ea typeface="Calibri" pitchFamily="34" charset="-122"/>
                <a:cs typeface="Calibri" pitchFamily="34" charset="-120"/>
              </a:rPr>
              <a:t>GET /api/products</a:t>
            </a:r>
            <a:endParaRPr lang="en-US" sz="1100" dirty="0"/>
          </a:p>
          <a:p>
            <a:pPr indent="0" marL="0">
              <a:buNone/>
            </a:pPr>
            <a:r>
              <a:rPr lang="en-US" sz="1100" dirty="0">
                <a:solidFill>
                  <a:srgbClr val="B2B2B2"/>
                </a:solidFill>
                <a:latin typeface="Calibri" pitchFamily="34" charset="0"/>
                <a:ea typeface="Calibri" pitchFamily="34" charset="-122"/>
                <a:cs typeface="Calibri" pitchFamily="34" charset="-120"/>
              </a:rPr>
              <a:t>Sans authentification</a:t>
            </a:r>
            <a:endParaRPr lang="en-US" sz="1100" dirty="0"/>
          </a:p>
        </p:txBody>
      </p:sp>
      <p:sp>
        <p:nvSpPr>
          <p:cNvPr id="24" name="Shape 22"/>
          <p:cNvSpPr/>
          <p:nvPr/>
        </p:nvSpPr>
        <p:spPr>
          <a:xfrm>
            <a:off x="6309360" y="4709160"/>
            <a:ext cx="5760720" cy="1737360"/>
          </a:xfrm>
          <a:prstGeom prst="rect">
            <a:avLst>
              <a:gd name="adj" fmla="val 4211"/>
            </a:avLst>
          </a:prstGeom>
          <a:solidFill>
            <a:srgbClr val="2E2A1A"/>
          </a:solidFill>
          <a:ln w="19050">
            <a:solidFill>
              <a:srgbClr val="C0392B"/>
            </a:solidFill>
            <a:prstDash val="solid"/>
          </a:ln>
        </p:spPr>
      </p:sp>
      <p:sp>
        <p:nvSpPr>
          <p:cNvPr id="25" name="Text 23"/>
          <p:cNvSpPr/>
          <p:nvPr/>
        </p:nvSpPr>
        <p:spPr>
          <a:xfrm>
            <a:off x="6446520" y="4800600"/>
            <a:ext cx="1097280" cy="411480"/>
          </a:xfrm>
          <a:prstGeom prst="rect">
            <a:avLst/>
          </a:prstGeom>
          <a:noFill/>
          <a:ln/>
        </p:spPr>
        <p:txBody>
          <a:bodyPr wrap="square" rtlCol="0" anchor="ctr"/>
          <a:lstStyle/>
          <a:p>
            <a:pPr indent="0" marL="0">
              <a:buNone/>
            </a:pPr>
            <a:r>
              <a:rPr lang="en-US" sz="1300" b="1" dirty="0">
                <a:solidFill>
                  <a:srgbClr val="E74C3C"/>
                </a:solidFill>
                <a:latin typeface="Calibri" pitchFamily="34" charset="0"/>
                <a:ea typeface="Calibri" pitchFamily="34" charset="-122"/>
                <a:cs typeface="Calibri" pitchFamily="34" charset="-120"/>
              </a:rPr>
              <a:t>US-04</a:t>
            </a:r>
            <a:endParaRPr lang="en-US" sz="1300" dirty="0"/>
          </a:p>
        </p:txBody>
      </p:sp>
      <p:sp>
        <p:nvSpPr>
          <p:cNvPr id="26" name="Text 24"/>
          <p:cNvSpPr/>
          <p:nvPr/>
        </p:nvSpPr>
        <p:spPr>
          <a:xfrm>
            <a:off x="10241280" y="4782312"/>
            <a:ext cx="1645920" cy="320040"/>
          </a:xfrm>
          <a:prstGeom prst="rect">
            <a:avLst/>
          </a:prstGeom>
          <a:noFill/>
          <a:ln/>
        </p:spPr>
        <p:txBody>
          <a:bodyPr wrap="square" rtlCol="0" anchor="ctr"/>
          <a:lstStyle/>
          <a:p>
            <a:pPr algn="r" indent="0" marL="0">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7" name="Text 25"/>
          <p:cNvSpPr/>
          <p:nvPr/>
        </p:nvSpPr>
        <p:spPr>
          <a:xfrm>
            <a:off x="6446520" y="5212080"/>
            <a:ext cx="5486400" cy="45720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Notification asynchrone</a:t>
            </a:r>
            <a:endParaRPr lang="en-US" sz="1400" dirty="0"/>
          </a:p>
        </p:txBody>
      </p:sp>
      <p:sp>
        <p:nvSpPr>
          <p:cNvPr id="28" name="Text 26"/>
          <p:cNvSpPr/>
          <p:nvPr/>
        </p:nvSpPr>
        <p:spPr>
          <a:xfrm>
            <a:off x="6446520" y="5669280"/>
            <a:ext cx="5486400" cy="640080"/>
          </a:xfrm>
          <a:prstGeom prst="rect">
            <a:avLst/>
          </a:prstGeom>
          <a:noFill/>
          <a:ln/>
        </p:spPr>
        <p:txBody>
          <a:bodyPr wrap="square" rtlCol="0" anchor="ctr"/>
          <a:lstStyle/>
          <a:p>
            <a:pPr indent="0" marL="0">
              <a:buNone/>
            </a:pPr>
            <a:r>
              <a:rPr lang="en-US" sz="1100" dirty="0">
                <a:solidFill>
                  <a:srgbClr val="B2B2B2"/>
                </a:solidFill>
                <a:latin typeface="Calibri" pitchFamily="34" charset="0"/>
                <a:ea typeface="Calibri" pitchFamily="34" charset="-122"/>
                <a:cs typeface="Calibri" pitchFamily="34" charset="-120"/>
              </a:rPr>
              <a:t>Symfony Messenger</a:t>
            </a:r>
            <a:endParaRPr lang="en-US" sz="1100" dirty="0"/>
          </a:p>
          <a:p>
            <a:pPr indent="0" marL="0">
              <a:buNone/>
            </a:pPr>
            <a:r>
              <a:rPr lang="en-US" sz="1100" dirty="0">
                <a:solidFill>
                  <a:srgbClr val="B2B2B2"/>
                </a:solidFill>
                <a:latin typeface="Calibri" pitchFamily="34" charset="0"/>
                <a:ea typeface="Calibri" pitchFamily="34" charset="-122"/>
                <a:cs typeface="Calibri" pitchFamily="34" charset="-120"/>
              </a:rPr>
              <a:t>GhostAlert + Login events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11</a:t>
            </a:r>
            <a:endParaRPr lang="en-US" sz="1800" dirty="0"/>
          </a:p>
        </p:txBody>
      </p:sp>
      <p:sp>
        <p:nvSpPr>
          <p:cNvPr id="6" name="Text 4"/>
          <p:cNvSpPr/>
          <p:nvPr/>
        </p:nvSpPr>
        <p:spPr>
          <a:xfrm>
            <a:off x="365760" y="91440"/>
            <a:ext cx="10972800" cy="292608"/>
          </a:xfrm>
          <a:prstGeom prst="rect">
            <a:avLst/>
          </a:prstGeom>
          <a:noFill/>
          <a:ln/>
        </p:spPr>
        <p:txBody>
          <a:bodyPr wrap="square" rtlCol="0" anchor="ctr"/>
          <a:lstStyle/>
          <a:p>
            <a:pPr indent="0" marL="0">
              <a:buNone/>
            </a:pPr>
            <a:r>
              <a:rPr lang="en-US" sz="900" b="1" spc="200" kern="0" dirty="0">
                <a:solidFill>
                  <a:srgbClr val="E74C3C"/>
                </a:solidFill>
                <a:latin typeface="Calibri" pitchFamily="34" charset="0"/>
                <a:ea typeface="Calibri" pitchFamily="34" charset="-122"/>
                <a:cs typeface="Calibri" pitchFamily="34" charset="-120"/>
              </a:rPr>
              <a:t>ARCHITECTURE TECHNIQUE</a:t>
            </a:r>
            <a:endParaRPr lang="en-US" sz="900" dirty="0"/>
          </a:p>
        </p:txBody>
      </p:sp>
      <p:sp>
        <p:nvSpPr>
          <p:cNvPr id="7" name="Shape 5"/>
          <p:cNvSpPr/>
          <p:nvPr/>
        </p:nvSpPr>
        <p:spPr>
          <a:xfrm>
            <a:off x="365760" y="402336"/>
            <a:ext cx="2377440" cy="45720"/>
          </a:xfrm>
          <a:prstGeom prst="rect">
            <a:avLst/>
          </a:prstGeom>
          <a:solidFill>
            <a:srgbClr val="C0392B"/>
          </a:solidFill>
          <a:ln/>
        </p:spPr>
      </p:sp>
      <p:sp>
        <p:nvSpPr>
          <p:cNvPr id="8" name="Text 6"/>
          <p:cNvSpPr/>
          <p:nvPr/>
        </p:nvSpPr>
        <p:spPr>
          <a:xfrm>
            <a:off x="365760" y="475488"/>
            <a:ext cx="11430000" cy="594360"/>
          </a:xfrm>
          <a:prstGeom prst="rect">
            <a:avLst/>
          </a:prstGeom>
          <a:noFill/>
          <a:ln/>
        </p:spPr>
        <p:txBody>
          <a:bodyPr wrap="square" rtlCol="0" anchor="ctr"/>
          <a:lstStyle/>
          <a:p>
            <a:pPr indent="0" marL="0">
              <a:buNone/>
            </a:pPr>
            <a:r>
              <a:rPr lang="en-US" sz="2200" b="1" dirty="0">
                <a:solidFill>
                  <a:srgbClr val="F0F0F0"/>
                </a:solidFill>
                <a:latin typeface="Georgia" pitchFamily="34" charset="0"/>
                <a:ea typeface="Georgia" pitchFamily="34" charset="-122"/>
                <a:cs typeface="Georgia" pitchFamily="34" charset="-120"/>
              </a:rPr>
              <a:t>API Gateway / BFF Pattern</a:t>
            </a:r>
            <a:endParaRPr lang="en-US" sz="2200" dirty="0"/>
          </a:p>
        </p:txBody>
      </p:sp>
      <p:sp>
        <p:nvSpPr>
          <p:cNvPr id="9" name="Shape 7"/>
          <p:cNvSpPr/>
          <p:nvPr/>
        </p:nvSpPr>
        <p:spPr>
          <a:xfrm>
            <a:off x="5120640" y="1188720"/>
            <a:ext cx="2011680" cy="548640"/>
          </a:xfrm>
          <a:prstGeom prst="rect">
            <a:avLst>
              <a:gd name="adj" fmla="val 13333"/>
            </a:avLst>
          </a:prstGeom>
          <a:solidFill>
            <a:srgbClr val="2E1A2E"/>
          </a:solidFill>
          <a:ln w="19050">
            <a:solidFill>
              <a:srgbClr val="C0392B"/>
            </a:solidFill>
            <a:prstDash val="solid"/>
          </a:ln>
        </p:spPr>
      </p:sp>
      <p:sp>
        <p:nvSpPr>
          <p:cNvPr id="10" name="Text 8"/>
          <p:cNvSpPr/>
          <p:nvPr/>
        </p:nvSpPr>
        <p:spPr>
          <a:xfrm>
            <a:off x="5120640" y="1261872"/>
            <a:ext cx="2011680" cy="411480"/>
          </a:xfrm>
          <a:prstGeom prst="rect">
            <a:avLst/>
          </a:prstGeom>
          <a:noFill/>
          <a:ln/>
        </p:spPr>
        <p:txBody>
          <a:bodyPr wrap="square" rtlCol="0" anchor="ctr"/>
          <a:lstStyle/>
          <a:p>
            <a:pPr algn="ctr" indent="0" marL="0">
              <a:buNone/>
            </a:pPr>
            <a:r>
              <a:rPr lang="en-US" sz="900" b="1" dirty="0">
                <a:solidFill>
                  <a:srgbClr val="F0F0F0"/>
                </a:solidFill>
                <a:latin typeface="Calibri" pitchFamily="34" charset="0"/>
                <a:ea typeface="Calibri" pitchFamily="34" charset="-122"/>
                <a:cs typeface="Calibri" pitchFamily="34" charset="-120"/>
              </a:rPr>
              <a:t>CLIENT (Navigateur)</a:t>
            </a:r>
            <a:endParaRPr lang="en-US" sz="900" dirty="0"/>
          </a:p>
        </p:txBody>
      </p:sp>
      <p:sp>
        <p:nvSpPr>
          <p:cNvPr id="11" name="Shape 9"/>
          <p:cNvSpPr/>
          <p:nvPr/>
        </p:nvSpPr>
        <p:spPr>
          <a:xfrm>
            <a:off x="4114800" y="2148840"/>
            <a:ext cx="4023360" cy="685800"/>
          </a:xfrm>
          <a:prstGeom prst="rect">
            <a:avLst>
              <a:gd name="adj" fmla="val 10667"/>
            </a:avLst>
          </a:prstGeom>
          <a:solidFill>
            <a:srgbClr val="1A1A2E"/>
          </a:solidFill>
          <a:ln w="19050">
            <a:solidFill>
              <a:srgbClr val="C0392B"/>
            </a:solidFill>
            <a:prstDash val="solid"/>
          </a:ln>
        </p:spPr>
      </p:sp>
      <p:sp>
        <p:nvSpPr>
          <p:cNvPr id="12" name="Text 10"/>
          <p:cNvSpPr/>
          <p:nvPr/>
        </p:nvSpPr>
        <p:spPr>
          <a:xfrm>
            <a:off x="4114800" y="2176272"/>
            <a:ext cx="4023360" cy="594360"/>
          </a:xfrm>
          <a:prstGeom prst="rect">
            <a:avLst/>
          </a:prstGeom>
          <a:noFill/>
          <a:ln/>
        </p:spPr>
        <p:txBody>
          <a:bodyPr wrap="square" rtlCol="0" anchor="ctr"/>
          <a:lstStyle/>
          <a:p>
            <a:pPr algn="ctr" indent="0" marL="0">
              <a:buNone/>
            </a:pPr>
            <a:r>
              <a:rPr lang="en-US" sz="900" dirty="0">
                <a:solidFill>
                  <a:srgbClr val="F39C12"/>
                </a:solidFill>
                <a:latin typeface="Calibri" pitchFamily="34" charset="0"/>
                <a:ea typeface="Calibri" pitchFamily="34" charset="-122"/>
                <a:cs typeface="Calibri" pitchFamily="34" charset="-120"/>
              </a:rPr>
              <a:t>API Gateway / BFF</a:t>
            </a:r>
            <a:endParaRPr lang="en-US" sz="900" dirty="0"/>
          </a:p>
          <a:p>
            <a:pPr algn="ctr" indent="0" marL="0">
              <a:buNone/>
            </a:pPr>
            <a:r>
              <a:rPr lang="en-US" sz="900" dirty="0">
                <a:solidFill>
                  <a:srgbClr val="F39C12"/>
                </a:solidFill>
                <a:latin typeface="Calibri" pitchFamily="34" charset="0"/>
                <a:ea typeface="Calibri" pitchFamily="34" charset="-122"/>
                <a:cs typeface="Calibri" pitchFamily="34" charset="-120"/>
              </a:rPr>
              <a:t>GET /api/profile/{id} · Cache 60s</a:t>
            </a:r>
            <a:endParaRPr lang="en-US" sz="900" dirty="0"/>
          </a:p>
        </p:txBody>
      </p:sp>
      <p:sp>
        <p:nvSpPr>
          <p:cNvPr id="13" name="Shape 11"/>
          <p:cNvSpPr/>
          <p:nvPr/>
        </p:nvSpPr>
        <p:spPr>
          <a:xfrm>
            <a:off x="274320" y="2148840"/>
            <a:ext cx="2743200" cy="685800"/>
          </a:xfrm>
          <a:prstGeom prst="rect">
            <a:avLst>
              <a:gd name="adj" fmla="val 10667"/>
            </a:avLst>
          </a:prstGeom>
          <a:solidFill>
            <a:srgbClr val="2E1A1A"/>
          </a:solidFill>
          <a:ln w="19050">
            <a:solidFill>
              <a:srgbClr val="C0392B"/>
            </a:solidFill>
            <a:prstDash val="solid"/>
          </a:ln>
        </p:spPr>
      </p:sp>
      <p:sp>
        <p:nvSpPr>
          <p:cNvPr id="14" name="Text 12"/>
          <p:cNvSpPr/>
          <p:nvPr/>
        </p:nvSpPr>
        <p:spPr>
          <a:xfrm>
            <a:off x="274320" y="2176272"/>
            <a:ext cx="2743200" cy="594360"/>
          </a:xfrm>
          <a:prstGeom prst="rect">
            <a:avLst/>
          </a:prstGeom>
          <a:noFill/>
          <a:ln/>
        </p:spPr>
        <p:txBody>
          <a:bodyPr wrap="square" rtlCol="0" anchor="ctr"/>
          <a:lstStyle/>
          <a:p>
            <a:pPr algn="ctr" indent="0" marL="0">
              <a:buNone/>
            </a:pPr>
            <a:r>
              <a:rPr lang="en-US" sz="900" dirty="0">
                <a:solidFill>
                  <a:srgbClr val="E74C3C"/>
                </a:solidFill>
                <a:latin typeface="Calibri" pitchFamily="34" charset="0"/>
                <a:ea typeface="Calibri" pitchFamily="34" charset="-122"/>
                <a:cs typeface="Calibri" pitchFamily="34" charset="-120"/>
              </a:rPr>
              <a:t>Keycloak</a:t>
            </a:r>
            <a:endParaRPr lang="en-US" sz="900" dirty="0"/>
          </a:p>
          <a:p>
            <a:pPr algn="ctr" indent="0" marL="0">
              <a:buNone/>
            </a:pPr>
            <a:r>
              <a:rPr lang="en-US" sz="900" dirty="0">
                <a:solidFill>
                  <a:srgbClr val="E74C3C"/>
                </a:solidFill>
                <a:latin typeface="Calibri" pitchFamily="34" charset="0"/>
                <a:ea typeface="Calibri" pitchFamily="34" charset="-122"/>
                <a:cs typeface="Calibri" pitchFamily="34" charset="-120"/>
              </a:rPr>
              <a:t>OAuth2/OIDC · SSO</a:t>
            </a:r>
            <a:endParaRPr lang="en-US" sz="900" dirty="0"/>
          </a:p>
        </p:txBody>
      </p:sp>
      <p:sp>
        <p:nvSpPr>
          <p:cNvPr id="15" name="Shape 13"/>
          <p:cNvSpPr/>
          <p:nvPr/>
        </p:nvSpPr>
        <p:spPr>
          <a:xfrm>
            <a:off x="4114800" y="3291840"/>
            <a:ext cx="2743200" cy="685800"/>
          </a:xfrm>
          <a:prstGeom prst="rect">
            <a:avLst>
              <a:gd name="adj" fmla="val 10667"/>
            </a:avLst>
          </a:prstGeom>
          <a:solidFill>
            <a:srgbClr val="1A2E2E"/>
          </a:solidFill>
          <a:ln w="19050">
            <a:solidFill>
              <a:srgbClr val="C0392B"/>
            </a:solidFill>
            <a:prstDash val="solid"/>
          </a:ln>
        </p:spPr>
      </p:sp>
      <p:sp>
        <p:nvSpPr>
          <p:cNvPr id="16" name="Text 14"/>
          <p:cNvSpPr/>
          <p:nvPr/>
        </p:nvSpPr>
        <p:spPr>
          <a:xfrm>
            <a:off x="4114800" y="3337560"/>
            <a:ext cx="2743200" cy="594360"/>
          </a:xfrm>
          <a:prstGeom prst="rect">
            <a:avLst/>
          </a:prstGeom>
          <a:noFill/>
          <a:ln/>
        </p:spPr>
        <p:txBody>
          <a:bodyPr wrap="square" rtlCol="0" anchor="ctr"/>
          <a:lstStyle/>
          <a:p>
            <a:pPr algn="ctr" indent="0" marL="0">
              <a:buNone/>
            </a:pPr>
            <a:r>
              <a:rPr lang="en-US" sz="800" dirty="0">
                <a:solidFill>
                  <a:srgbClr val="F0F0F0"/>
                </a:solidFill>
                <a:latin typeface="Calibri" pitchFamily="34" charset="0"/>
                <a:ea typeface="Calibri" pitchFamily="34" charset="-122"/>
                <a:cs typeface="Calibri" pitchFamily="34" charset="-120"/>
              </a:rPr>
              <a:t>UserService</a:t>
            </a:r>
            <a:endParaRPr lang="en-US" sz="800" dirty="0"/>
          </a:p>
          <a:p>
            <a:pPr algn="ctr" indent="0" marL="0">
              <a:buNone/>
            </a:pPr>
            <a:r>
              <a:rPr lang="en-US" sz="800" dirty="0">
                <a:solidFill>
                  <a:srgbClr val="F0F0F0"/>
                </a:solidFill>
                <a:latin typeface="Calibri" pitchFamily="34" charset="0"/>
                <a:ea typeface="Calibri" pitchFamily="34" charset="-122"/>
                <a:cs typeface="Calibri" pitchFamily="34" charset="-120"/>
              </a:rPr>
              <a:t>/internal/users</a:t>
            </a:r>
            <a:endParaRPr lang="en-US" sz="800" dirty="0"/>
          </a:p>
        </p:txBody>
      </p:sp>
      <p:sp>
        <p:nvSpPr>
          <p:cNvPr id="17" name="Shape 15"/>
          <p:cNvSpPr/>
          <p:nvPr/>
        </p:nvSpPr>
        <p:spPr>
          <a:xfrm>
            <a:off x="7315200" y="3291840"/>
            <a:ext cx="2743200" cy="685800"/>
          </a:xfrm>
          <a:prstGeom prst="rect">
            <a:avLst>
              <a:gd name="adj" fmla="val 10667"/>
            </a:avLst>
          </a:prstGeom>
          <a:solidFill>
            <a:srgbClr val="1A2E2E"/>
          </a:solidFill>
          <a:ln w="19050">
            <a:solidFill>
              <a:srgbClr val="C0392B"/>
            </a:solidFill>
            <a:prstDash val="solid"/>
          </a:ln>
        </p:spPr>
      </p:sp>
      <p:sp>
        <p:nvSpPr>
          <p:cNvPr id="18" name="Text 16"/>
          <p:cNvSpPr/>
          <p:nvPr/>
        </p:nvSpPr>
        <p:spPr>
          <a:xfrm>
            <a:off x="7315200" y="3337560"/>
            <a:ext cx="2743200" cy="594360"/>
          </a:xfrm>
          <a:prstGeom prst="rect">
            <a:avLst/>
          </a:prstGeom>
          <a:noFill/>
          <a:ln/>
        </p:spPr>
        <p:txBody>
          <a:bodyPr wrap="square" rtlCol="0" anchor="ctr"/>
          <a:lstStyle/>
          <a:p>
            <a:pPr algn="ctr" indent="0" marL="0">
              <a:buNone/>
            </a:pPr>
            <a:r>
              <a:rPr lang="en-US" sz="800" dirty="0">
                <a:solidFill>
                  <a:srgbClr val="F0F0F0"/>
                </a:solidFill>
                <a:latin typeface="Calibri" pitchFamily="34" charset="0"/>
                <a:ea typeface="Calibri" pitchFamily="34" charset="-122"/>
                <a:cs typeface="Calibri" pitchFamily="34" charset="-120"/>
              </a:rPr>
              <a:t>SubscriptionService</a:t>
            </a:r>
            <a:endParaRPr lang="en-US" sz="800" dirty="0"/>
          </a:p>
          <a:p>
            <a:pPr algn="ctr" indent="0" marL="0">
              <a:buNone/>
            </a:pPr>
            <a:r>
              <a:rPr lang="en-US" sz="800" dirty="0">
                <a:solidFill>
                  <a:srgbClr val="F0F0F0"/>
                </a:solidFill>
                <a:latin typeface="Calibri" pitchFamily="34" charset="0"/>
                <a:ea typeface="Calibri" pitchFamily="34" charset="-122"/>
                <a:cs typeface="Calibri" pitchFamily="34" charset="-120"/>
              </a:rPr>
              <a:t>/internal/subscriptions</a:t>
            </a:r>
            <a:endParaRPr lang="en-US" sz="800" dirty="0"/>
          </a:p>
        </p:txBody>
      </p:sp>
      <p:sp>
        <p:nvSpPr>
          <p:cNvPr id="19" name="Shape 17"/>
          <p:cNvSpPr/>
          <p:nvPr/>
        </p:nvSpPr>
        <p:spPr>
          <a:xfrm>
            <a:off x="1645920" y="4297680"/>
            <a:ext cx="8961120" cy="777240"/>
          </a:xfrm>
          <a:prstGeom prst="rect">
            <a:avLst>
              <a:gd name="adj" fmla="val 9412"/>
            </a:avLst>
          </a:prstGeom>
          <a:solidFill>
            <a:srgbClr val="1A1A1A"/>
          </a:solidFill>
          <a:ln w="19050">
            <a:solidFill>
              <a:srgbClr val="C0392B"/>
            </a:solidFill>
            <a:prstDash val="solid"/>
          </a:ln>
        </p:spPr>
      </p:sp>
      <p:sp>
        <p:nvSpPr>
          <p:cNvPr id="20" name="Text 18"/>
          <p:cNvSpPr/>
          <p:nvPr/>
        </p:nvSpPr>
        <p:spPr>
          <a:xfrm>
            <a:off x="1645920" y="4315968"/>
            <a:ext cx="8961120" cy="685800"/>
          </a:xfrm>
          <a:prstGeom prst="rect">
            <a:avLst/>
          </a:prstGeom>
          <a:noFill/>
          <a:ln/>
        </p:spPr>
        <p:txBody>
          <a:bodyPr wrap="square" rtlCol="0" anchor="ctr"/>
          <a:lstStyle/>
          <a:p>
            <a:pPr algn="ctr" indent="0" marL="0">
              <a:buNone/>
            </a:pPr>
            <a:r>
              <a:rPr lang="en-US" sz="1000" dirty="0">
                <a:solidFill>
                  <a:srgbClr val="F0F0F0"/>
                </a:solidFill>
                <a:latin typeface="Calibri" pitchFamily="34" charset="0"/>
                <a:ea typeface="Calibri" pitchFamily="34" charset="-122"/>
                <a:cs typeface="Calibri" pitchFamily="34" charset="-120"/>
              </a:rPr>
              <a:t>Application Symfony 6.4 / PHP 8.2</a:t>
            </a:r>
            <a:endParaRPr lang="en-US" sz="1000" dirty="0"/>
          </a:p>
          <a:p>
            <a:pPr algn="ctr" indent="0" marL="0">
              <a:buNone/>
            </a:pPr>
            <a:r>
              <a:rPr lang="en-US" sz="1000" dirty="0">
                <a:solidFill>
                  <a:srgbClr val="F0F0F0"/>
                </a:solidFill>
                <a:latin typeface="Calibri" pitchFamily="34" charset="0"/>
                <a:ea typeface="Calibri" pitchFamily="34" charset="-122"/>
                <a:cs typeface="Calibri" pitchFamily="34" charset="-120"/>
              </a:rPr>
              <a:t>Controllers · Messenger · Security</a:t>
            </a:r>
            <a:endParaRPr lang="en-US" sz="1000" dirty="0"/>
          </a:p>
        </p:txBody>
      </p:sp>
      <p:sp>
        <p:nvSpPr>
          <p:cNvPr id="21" name="Shape 19"/>
          <p:cNvSpPr/>
          <p:nvPr/>
        </p:nvSpPr>
        <p:spPr>
          <a:xfrm>
            <a:off x="274320" y="5349240"/>
            <a:ext cx="3200400" cy="685800"/>
          </a:xfrm>
          <a:prstGeom prst="rect">
            <a:avLst>
              <a:gd name="adj" fmla="val 10667"/>
            </a:avLst>
          </a:prstGeom>
          <a:solidFill>
            <a:srgbClr val="1A2E1A"/>
          </a:solidFill>
          <a:ln w="19050">
            <a:solidFill>
              <a:srgbClr val="C0392B"/>
            </a:solidFill>
            <a:prstDash val="solid"/>
          </a:ln>
        </p:spPr>
      </p:sp>
      <p:sp>
        <p:nvSpPr>
          <p:cNvPr id="22" name="Text 20"/>
          <p:cNvSpPr/>
          <p:nvPr/>
        </p:nvSpPr>
        <p:spPr>
          <a:xfrm>
            <a:off x="274320" y="5394960"/>
            <a:ext cx="3200400" cy="594360"/>
          </a:xfrm>
          <a:prstGeom prst="rect">
            <a:avLst/>
          </a:prstGeom>
          <a:noFill/>
          <a:ln/>
        </p:spPr>
        <p:txBody>
          <a:bodyPr wrap="square" rtlCol="0" anchor="ctr"/>
          <a:lstStyle/>
          <a:p>
            <a:pPr algn="ctr" indent="0" marL="0">
              <a:buNone/>
            </a:pPr>
            <a:r>
              <a:rPr lang="en-US" sz="900" dirty="0">
                <a:solidFill>
                  <a:srgbClr val="B2B2B2"/>
                </a:solidFill>
                <a:latin typeface="Calibri" pitchFamily="34" charset="0"/>
                <a:ea typeface="Calibri" pitchFamily="34" charset="-122"/>
                <a:cs typeface="Calibri" pitchFamily="34" charset="-120"/>
              </a:rPr>
              <a:t>PostgreSQL</a:t>
            </a:r>
            <a:endParaRPr lang="en-US" sz="900" dirty="0"/>
          </a:p>
          <a:p>
            <a:pPr algn="ctr" indent="0" marL="0">
              <a:buNone/>
            </a:pPr>
            <a:r>
              <a:rPr lang="en-US" sz="900" dirty="0">
                <a:solidFill>
                  <a:srgbClr val="B2B2B2"/>
                </a:solidFill>
                <a:latin typeface="Calibri" pitchFamily="34" charset="0"/>
                <a:ea typeface="Calibri" pitchFamily="34" charset="-122"/>
                <a:cs typeface="Calibri" pitchFamily="34" charset="-120"/>
              </a:rPr>
              <a:t>Doctrine</a:t>
            </a:r>
            <a:endParaRPr lang="en-US" sz="900" dirty="0"/>
          </a:p>
        </p:txBody>
      </p:sp>
      <p:sp>
        <p:nvSpPr>
          <p:cNvPr id="23" name="Shape 21"/>
          <p:cNvSpPr/>
          <p:nvPr/>
        </p:nvSpPr>
        <p:spPr>
          <a:xfrm>
            <a:off x="4572000" y="5349240"/>
            <a:ext cx="3200400" cy="685800"/>
          </a:xfrm>
          <a:prstGeom prst="rect">
            <a:avLst>
              <a:gd name="adj" fmla="val 10667"/>
            </a:avLst>
          </a:prstGeom>
          <a:solidFill>
            <a:srgbClr val="2E2A1A"/>
          </a:solidFill>
          <a:ln w="19050">
            <a:solidFill>
              <a:srgbClr val="C0392B"/>
            </a:solidFill>
            <a:prstDash val="solid"/>
          </a:ln>
        </p:spPr>
      </p:sp>
      <p:sp>
        <p:nvSpPr>
          <p:cNvPr id="24" name="Text 22"/>
          <p:cNvSpPr/>
          <p:nvPr/>
        </p:nvSpPr>
        <p:spPr>
          <a:xfrm>
            <a:off x="4572000" y="5394960"/>
            <a:ext cx="3200400" cy="594360"/>
          </a:xfrm>
          <a:prstGeom prst="rect">
            <a:avLst/>
          </a:prstGeom>
          <a:noFill/>
          <a:ln/>
        </p:spPr>
        <p:txBody>
          <a:bodyPr wrap="square" rtlCol="0" anchor="ctr"/>
          <a:lstStyle/>
          <a:p>
            <a:pPr algn="ctr" indent="0" marL="0">
              <a:buNone/>
            </a:pPr>
            <a:r>
              <a:rPr lang="en-US" sz="900" dirty="0">
                <a:solidFill>
                  <a:srgbClr val="B2B2B2"/>
                </a:solidFill>
                <a:latin typeface="Calibri" pitchFamily="34" charset="0"/>
                <a:ea typeface="Calibri" pitchFamily="34" charset="-122"/>
                <a:cs typeface="Calibri" pitchFamily="34" charset="-120"/>
              </a:rPr>
              <a:t>RabbitMQ</a:t>
            </a:r>
            <a:endParaRPr lang="en-US" sz="900" dirty="0"/>
          </a:p>
          <a:p>
            <a:pPr algn="ctr" indent="0" marL="0">
              <a:buNone/>
            </a:pPr>
            <a:r>
              <a:rPr lang="en-US" sz="900" dirty="0">
                <a:solidFill>
                  <a:srgbClr val="B2B2B2"/>
                </a:solidFill>
                <a:latin typeface="Calibri" pitchFamily="34" charset="0"/>
                <a:ea typeface="Calibri" pitchFamily="34" charset="-122"/>
                <a:cs typeface="Calibri" pitchFamily="34" charset="-120"/>
              </a:rPr>
              <a:t>AMQP/sync://</a:t>
            </a:r>
            <a:endParaRPr lang="en-US" sz="900" dirty="0"/>
          </a:p>
        </p:txBody>
      </p:sp>
      <p:sp>
        <p:nvSpPr>
          <p:cNvPr id="25" name="Shape 23"/>
          <p:cNvSpPr/>
          <p:nvPr/>
        </p:nvSpPr>
        <p:spPr>
          <a:xfrm>
            <a:off x="8869680" y="5349240"/>
            <a:ext cx="3200400" cy="685800"/>
          </a:xfrm>
          <a:prstGeom prst="rect">
            <a:avLst>
              <a:gd name="adj" fmla="val 10667"/>
            </a:avLst>
          </a:prstGeom>
          <a:solidFill>
            <a:srgbClr val="1A1A2E"/>
          </a:solidFill>
          <a:ln w="19050">
            <a:solidFill>
              <a:srgbClr val="C0392B"/>
            </a:solidFill>
            <a:prstDash val="solid"/>
          </a:ln>
        </p:spPr>
      </p:sp>
      <p:sp>
        <p:nvSpPr>
          <p:cNvPr id="26" name="Text 24"/>
          <p:cNvSpPr/>
          <p:nvPr/>
        </p:nvSpPr>
        <p:spPr>
          <a:xfrm>
            <a:off x="8869680" y="5394960"/>
            <a:ext cx="3200400" cy="594360"/>
          </a:xfrm>
          <a:prstGeom prst="rect">
            <a:avLst/>
          </a:prstGeom>
          <a:noFill/>
          <a:ln/>
        </p:spPr>
        <p:txBody>
          <a:bodyPr wrap="square" rtlCol="0" anchor="ctr"/>
          <a:lstStyle/>
          <a:p>
            <a:pPr algn="ctr" indent="0" marL="0">
              <a:buNone/>
            </a:pPr>
            <a:r>
              <a:rPr lang="en-US" sz="900" dirty="0">
                <a:solidFill>
                  <a:srgbClr val="B2B2B2"/>
                </a:solidFill>
                <a:latin typeface="Calibri" pitchFamily="34" charset="0"/>
                <a:ea typeface="Calibri" pitchFamily="34" charset="-122"/>
                <a:cs typeface="Calibri" pitchFamily="34" charset="-120"/>
              </a:rPr>
              <a:t>Monolog</a:t>
            </a:r>
            <a:endParaRPr lang="en-US" sz="900" dirty="0"/>
          </a:p>
          <a:p>
            <a:pPr algn="ctr" indent="0" marL="0">
              <a:buNone/>
            </a:pPr>
            <a:r>
              <a:rPr lang="en-US" sz="900" dirty="0">
                <a:solidFill>
                  <a:srgbClr val="B2B2B2"/>
                </a:solidFill>
                <a:latin typeface="Calibri" pitchFamily="34" charset="0"/>
                <a:ea typeface="Calibri" pitchFamily="34" charset="-122"/>
                <a:cs typeface="Calibri" pitchFamily="34" charset="-120"/>
              </a:rPr>
              <a:t>Logs JSON</a:t>
            </a:r>
            <a:endParaRPr lang="en-US" sz="900" dirty="0"/>
          </a:p>
        </p:txBody>
      </p:sp>
      <p:sp>
        <p:nvSpPr>
          <p:cNvPr id="27" name="Text 25"/>
          <p:cNvSpPr/>
          <p:nvPr/>
        </p:nvSpPr>
        <p:spPr>
          <a:xfrm>
            <a:off x="6035040" y="1737360"/>
            <a:ext cx="274320" cy="41148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
        <p:nvSpPr>
          <p:cNvPr id="28" name="Text 26"/>
          <p:cNvSpPr/>
          <p:nvPr/>
        </p:nvSpPr>
        <p:spPr>
          <a:xfrm>
            <a:off x="6035040" y="2834640"/>
            <a:ext cx="274320" cy="45720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
        <p:nvSpPr>
          <p:cNvPr id="29" name="Text 27"/>
          <p:cNvSpPr/>
          <p:nvPr/>
        </p:nvSpPr>
        <p:spPr>
          <a:xfrm>
            <a:off x="6035040" y="3840480"/>
            <a:ext cx="274320" cy="45720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
        <p:nvSpPr>
          <p:cNvPr id="30" name="Text 28"/>
          <p:cNvSpPr/>
          <p:nvPr/>
        </p:nvSpPr>
        <p:spPr>
          <a:xfrm>
            <a:off x="6035040" y="5029200"/>
            <a:ext cx="274320" cy="320040"/>
          </a:xfrm>
          <a:prstGeom prst="rect">
            <a:avLst/>
          </a:prstGeom>
          <a:noFill/>
          <a:ln/>
        </p:spPr>
        <p:txBody>
          <a:bodyPr wrap="square" rtlCol="0" anchor="ctr"/>
          <a:lstStyle/>
          <a:p>
            <a:pPr algn="ctr" indent="0" marL="0">
              <a:buNone/>
            </a:pPr>
            <a:r>
              <a:rPr lang="en-US" sz="1200" dirty="0">
                <a:solidFill>
                  <a:srgbClr val="B2B2B2"/>
                </a:solidFill>
              </a:rPr>
              <a: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12</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BAC A SABLE — POC &amp; EXPÉRIMENTATION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5 technologies validées en POC</a:t>
            </a:r>
            <a:endParaRPr lang="en-US" sz="3400" dirty="0"/>
          </a:p>
          <a:p>
            <a:pPr indent="0" marL="0">
              <a:buNone/>
            </a:pPr>
            <a:r>
              <a:rPr lang="en-US" sz="3400" b="1" dirty="0">
                <a:solidFill>
                  <a:srgbClr val="F0F0F0"/>
                </a:solidFill>
                <a:latin typeface="Georgia" pitchFamily="34" charset="0"/>
                <a:ea typeface="Georgia" pitchFamily="34" charset="-122"/>
                <a:cs typeface="Georgia" pitchFamily="34" charset="-120"/>
              </a:rPr>
              <a:t>avant intégration</a:t>
            </a:r>
            <a:endParaRPr lang="en-US" sz="3400" dirty="0"/>
          </a:p>
        </p:txBody>
      </p:sp>
      <p:sp>
        <p:nvSpPr>
          <p:cNvPr id="9" name="Shape 7"/>
          <p:cNvSpPr/>
          <p:nvPr/>
        </p:nvSpPr>
        <p:spPr>
          <a:xfrm>
            <a:off x="274320" y="2834640"/>
            <a:ext cx="3657600" cy="1463040"/>
          </a:xfrm>
          <a:prstGeom prst="rect">
            <a:avLst>
              <a:gd name="adj" fmla="val 5000"/>
            </a:avLst>
          </a:prstGeom>
          <a:solidFill>
            <a:srgbClr val="1A1A2E"/>
          </a:solidFill>
          <a:ln w="19050">
            <a:solidFill>
              <a:srgbClr val="C0392B"/>
            </a:solidFill>
            <a:prstDash val="solid"/>
          </a:ln>
        </p:spPr>
      </p:sp>
      <p:sp>
        <p:nvSpPr>
          <p:cNvPr id="10" name="Text 8"/>
          <p:cNvSpPr/>
          <p:nvPr/>
        </p:nvSpPr>
        <p:spPr>
          <a:xfrm>
            <a:off x="411480" y="2926080"/>
            <a:ext cx="3383280" cy="411480"/>
          </a:xfrm>
          <a:prstGeom prst="rect">
            <a:avLst/>
          </a:prstGeom>
          <a:noFill/>
          <a:ln/>
        </p:spPr>
        <p:txBody>
          <a:bodyPr wrap="square" rtlCol="0" anchor="ctr"/>
          <a:lstStyle/>
          <a:p>
            <a:pPr indent="0" marL="0">
              <a:buNone/>
            </a:pPr>
            <a:r>
              <a:rPr lang="en-US" sz="1200" b="1" dirty="0">
                <a:solidFill>
                  <a:srgbClr val="F0F0F0"/>
                </a:solidFill>
                <a:latin typeface="Calibri" pitchFamily="34" charset="0"/>
                <a:ea typeface="Calibri" pitchFamily="34" charset="-122"/>
                <a:cs typeface="Calibri" pitchFamily="34" charset="-120"/>
              </a:rPr>
              <a:t>BFF ApiAggregator</a:t>
            </a:r>
            <a:endParaRPr lang="en-US" sz="1200" dirty="0"/>
          </a:p>
        </p:txBody>
      </p:sp>
      <p:sp>
        <p:nvSpPr>
          <p:cNvPr id="11" name="Text 9"/>
          <p:cNvSpPr/>
          <p:nvPr/>
        </p:nvSpPr>
        <p:spPr>
          <a:xfrm>
            <a:off x="411480" y="3337560"/>
            <a:ext cx="3383280" cy="274320"/>
          </a:xfrm>
          <a:prstGeom prst="rect">
            <a:avLst/>
          </a:prstGeom>
          <a:noFill/>
          <a:ln/>
        </p:spPr>
        <p:txBody>
          <a:bodyPr wrap="square"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2" name="Text 10"/>
          <p:cNvSpPr/>
          <p:nvPr/>
        </p:nvSpPr>
        <p:spPr>
          <a:xfrm>
            <a:off x="411480" y="3611880"/>
            <a:ext cx="3383280" cy="594360"/>
          </a:xfrm>
          <a:prstGeom prst="rect">
            <a:avLst/>
          </a:prstGeom>
          <a:noFill/>
          <a:ln/>
        </p:spPr>
        <p:txBody>
          <a:bodyPr wrap="square" rtlCol="0" anchor="ctr"/>
          <a:lstStyle/>
          <a:p>
            <a:pPr indent="0" marL="0">
              <a:buNone/>
            </a:pPr>
            <a:r>
              <a:rPr lang="en-US" sz="900" dirty="0">
                <a:solidFill>
                  <a:srgbClr val="B2B2B2"/>
                </a:solidFill>
                <a:latin typeface="Calibri" pitchFamily="34" charset="0"/>
                <a:ea typeface="Calibri" pitchFamily="34" charset="-122"/>
                <a:cs typeface="Calibri" pitchFamily="34" charset="-120"/>
              </a:rPr>
              <a:t>Agrégation multi-services</a:t>
            </a:r>
            <a:endParaRPr lang="en-US" sz="900" dirty="0"/>
          </a:p>
          <a:p>
            <a:pPr indent="0" marL="0">
              <a:buNone/>
            </a:pPr>
            <a:r>
              <a:rPr lang="en-US" sz="900" dirty="0">
                <a:solidFill>
                  <a:srgbClr val="B2B2B2"/>
                </a:solidFill>
                <a:latin typeface="Calibri" pitchFamily="34" charset="0"/>
                <a:ea typeface="Calibri" pitchFamily="34" charset="-122"/>
                <a:cs typeface="Calibri" pitchFamily="34" charset="-120"/>
              </a:rPr>
              <a:t>Cache filesystem 60s · 206 si KO</a:t>
            </a:r>
            <a:endParaRPr lang="en-US" sz="900" dirty="0"/>
          </a:p>
        </p:txBody>
      </p:sp>
      <p:sp>
        <p:nvSpPr>
          <p:cNvPr id="13" name="Shape 11"/>
          <p:cNvSpPr/>
          <p:nvPr/>
        </p:nvSpPr>
        <p:spPr>
          <a:xfrm>
            <a:off x="4297680" y="2834640"/>
            <a:ext cx="3657600" cy="1463040"/>
          </a:xfrm>
          <a:prstGeom prst="rect">
            <a:avLst>
              <a:gd name="adj" fmla="val 5000"/>
            </a:avLst>
          </a:prstGeom>
          <a:solidFill>
            <a:srgbClr val="1A1A2E"/>
          </a:solidFill>
          <a:ln w="19050">
            <a:solidFill>
              <a:srgbClr val="C0392B"/>
            </a:solidFill>
            <a:prstDash val="solid"/>
          </a:ln>
        </p:spPr>
      </p:sp>
      <p:sp>
        <p:nvSpPr>
          <p:cNvPr id="14" name="Text 12"/>
          <p:cNvSpPr/>
          <p:nvPr/>
        </p:nvSpPr>
        <p:spPr>
          <a:xfrm>
            <a:off x="4434840" y="2926080"/>
            <a:ext cx="3383280" cy="411480"/>
          </a:xfrm>
          <a:prstGeom prst="rect">
            <a:avLst/>
          </a:prstGeom>
          <a:noFill/>
          <a:ln/>
        </p:spPr>
        <p:txBody>
          <a:bodyPr wrap="square" rtlCol="0" anchor="ctr"/>
          <a:lstStyle/>
          <a:p>
            <a:pPr indent="0" marL="0">
              <a:buNone/>
            </a:pPr>
            <a:r>
              <a:rPr lang="en-US" sz="1200" b="1" dirty="0">
                <a:solidFill>
                  <a:srgbClr val="F0F0F0"/>
                </a:solidFill>
                <a:latin typeface="Calibri" pitchFamily="34" charset="0"/>
                <a:ea typeface="Calibri" pitchFamily="34" charset="-122"/>
                <a:cs typeface="Calibri" pitchFamily="34" charset="-120"/>
              </a:rPr>
              <a:t>Keycloak OAuth2</a:t>
            </a:r>
            <a:endParaRPr lang="en-US" sz="1200" dirty="0"/>
          </a:p>
        </p:txBody>
      </p:sp>
      <p:sp>
        <p:nvSpPr>
          <p:cNvPr id="15" name="Text 13"/>
          <p:cNvSpPr/>
          <p:nvPr/>
        </p:nvSpPr>
        <p:spPr>
          <a:xfrm>
            <a:off x="4434840" y="3337560"/>
            <a:ext cx="3383280" cy="274320"/>
          </a:xfrm>
          <a:prstGeom prst="rect">
            <a:avLst/>
          </a:prstGeom>
          <a:noFill/>
          <a:ln/>
        </p:spPr>
        <p:txBody>
          <a:bodyPr wrap="square"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6" name="Text 14"/>
          <p:cNvSpPr/>
          <p:nvPr/>
        </p:nvSpPr>
        <p:spPr>
          <a:xfrm>
            <a:off x="4434840" y="3611880"/>
            <a:ext cx="3383280" cy="594360"/>
          </a:xfrm>
          <a:prstGeom prst="rect">
            <a:avLst/>
          </a:prstGeom>
          <a:noFill/>
          <a:ln/>
        </p:spPr>
        <p:txBody>
          <a:bodyPr wrap="square" rtlCol="0" anchor="ctr"/>
          <a:lstStyle/>
          <a:p>
            <a:pPr indent="0" marL="0">
              <a:buNone/>
            </a:pPr>
            <a:r>
              <a:rPr lang="en-US" sz="900" dirty="0">
                <a:solidFill>
                  <a:srgbClr val="B2B2B2"/>
                </a:solidFill>
                <a:latin typeface="Calibri" pitchFamily="34" charset="0"/>
                <a:ea typeface="Calibri" pitchFamily="34" charset="-122"/>
                <a:cs typeface="Calibri" pitchFamily="34" charset="-120"/>
              </a:rPr>
              <a:t>SSO local · Auth Code Flow</a:t>
            </a:r>
            <a:endParaRPr lang="en-US" sz="900" dirty="0"/>
          </a:p>
          <a:p>
            <a:pPr indent="0" marL="0">
              <a:buNone/>
            </a:pPr>
            <a:r>
              <a:rPr lang="en-US" sz="900" dirty="0">
                <a:solidFill>
                  <a:srgbClr val="B2B2B2"/>
                </a:solidFill>
                <a:latin typeface="Calibri" pitchFamily="34" charset="0"/>
                <a:ea typeface="Calibri" pitchFamily="34" charset="-122"/>
                <a:cs typeface="Calibri" pitchFamily="34" charset="-120"/>
              </a:rPr>
              <a:t>State CSRF · claims JWT</a:t>
            </a:r>
            <a:endParaRPr lang="en-US" sz="900" dirty="0"/>
          </a:p>
        </p:txBody>
      </p:sp>
      <p:sp>
        <p:nvSpPr>
          <p:cNvPr id="17" name="Shape 15"/>
          <p:cNvSpPr/>
          <p:nvPr/>
        </p:nvSpPr>
        <p:spPr>
          <a:xfrm>
            <a:off x="8321040" y="2834640"/>
            <a:ext cx="3657600" cy="1463040"/>
          </a:xfrm>
          <a:prstGeom prst="rect">
            <a:avLst>
              <a:gd name="adj" fmla="val 5000"/>
            </a:avLst>
          </a:prstGeom>
          <a:solidFill>
            <a:srgbClr val="1A1A2E"/>
          </a:solidFill>
          <a:ln w="19050">
            <a:solidFill>
              <a:srgbClr val="C0392B"/>
            </a:solidFill>
            <a:prstDash val="solid"/>
          </a:ln>
        </p:spPr>
      </p:sp>
      <p:sp>
        <p:nvSpPr>
          <p:cNvPr id="18" name="Text 16"/>
          <p:cNvSpPr/>
          <p:nvPr/>
        </p:nvSpPr>
        <p:spPr>
          <a:xfrm>
            <a:off x="8458200" y="2926080"/>
            <a:ext cx="3383280" cy="411480"/>
          </a:xfrm>
          <a:prstGeom prst="rect">
            <a:avLst/>
          </a:prstGeom>
          <a:noFill/>
          <a:ln/>
        </p:spPr>
        <p:txBody>
          <a:bodyPr wrap="square" rtlCol="0" anchor="ctr"/>
          <a:lstStyle/>
          <a:p>
            <a:pPr indent="0" marL="0">
              <a:buNone/>
            </a:pPr>
            <a:r>
              <a:rPr lang="en-US" sz="1200" b="1" dirty="0">
                <a:solidFill>
                  <a:srgbClr val="F0F0F0"/>
                </a:solidFill>
                <a:latin typeface="Calibri" pitchFamily="34" charset="0"/>
                <a:ea typeface="Calibri" pitchFamily="34" charset="-122"/>
                <a:cs typeface="Calibri" pitchFamily="34" charset="-120"/>
              </a:rPr>
              <a:t>Symfony Messenger</a:t>
            </a:r>
            <a:endParaRPr lang="en-US" sz="1200" dirty="0"/>
          </a:p>
        </p:txBody>
      </p:sp>
      <p:sp>
        <p:nvSpPr>
          <p:cNvPr id="19" name="Text 17"/>
          <p:cNvSpPr/>
          <p:nvPr/>
        </p:nvSpPr>
        <p:spPr>
          <a:xfrm>
            <a:off x="8458200" y="3337560"/>
            <a:ext cx="3383280" cy="274320"/>
          </a:xfrm>
          <a:prstGeom prst="rect">
            <a:avLst/>
          </a:prstGeom>
          <a:noFill/>
          <a:ln/>
        </p:spPr>
        <p:txBody>
          <a:bodyPr wrap="square"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20" name="Text 18"/>
          <p:cNvSpPr/>
          <p:nvPr/>
        </p:nvSpPr>
        <p:spPr>
          <a:xfrm>
            <a:off x="8458200" y="3611880"/>
            <a:ext cx="3383280" cy="594360"/>
          </a:xfrm>
          <a:prstGeom prst="rect">
            <a:avLst/>
          </a:prstGeom>
          <a:noFill/>
          <a:ln/>
        </p:spPr>
        <p:txBody>
          <a:bodyPr wrap="square" rtlCol="0" anchor="ctr"/>
          <a:lstStyle/>
          <a:p>
            <a:pPr indent="0" marL="0">
              <a:buNone/>
            </a:pPr>
            <a:r>
              <a:rPr lang="en-US" sz="900" dirty="0">
                <a:solidFill>
                  <a:srgbClr val="B2B2B2"/>
                </a:solidFill>
                <a:latin typeface="Calibri" pitchFamily="34" charset="0"/>
                <a:ea typeface="Calibri" pitchFamily="34" charset="-122"/>
                <a:cs typeface="Calibri" pitchFamily="34" charset="-120"/>
              </a:rPr>
              <a:t>sync:// transparent en dev</a:t>
            </a:r>
            <a:endParaRPr lang="en-US" sz="900" dirty="0"/>
          </a:p>
          <a:p>
            <a:pPr indent="0" marL="0">
              <a:buNone/>
            </a:pPr>
            <a:r>
              <a:rPr lang="en-US" sz="900" dirty="0">
                <a:solidFill>
                  <a:srgbClr val="B2B2B2"/>
                </a:solidFill>
                <a:latin typeface="Calibri" pitchFamily="34" charset="0"/>
                <a:ea typeface="Calibri" pitchFamily="34" charset="-122"/>
                <a:cs typeface="Calibri" pitchFamily="34" charset="-120"/>
              </a:rPr>
              <a:t>AMQP en prod — sans code change</a:t>
            </a:r>
            <a:endParaRPr lang="en-US" sz="900" dirty="0"/>
          </a:p>
        </p:txBody>
      </p:sp>
      <p:sp>
        <p:nvSpPr>
          <p:cNvPr id="21" name="Shape 19"/>
          <p:cNvSpPr/>
          <p:nvPr/>
        </p:nvSpPr>
        <p:spPr>
          <a:xfrm>
            <a:off x="2286000" y="4526280"/>
            <a:ext cx="3657600" cy="1463040"/>
          </a:xfrm>
          <a:prstGeom prst="rect">
            <a:avLst>
              <a:gd name="adj" fmla="val 5000"/>
            </a:avLst>
          </a:prstGeom>
          <a:solidFill>
            <a:srgbClr val="1A1A2E"/>
          </a:solidFill>
          <a:ln w="19050">
            <a:solidFill>
              <a:srgbClr val="C0392B"/>
            </a:solidFill>
            <a:prstDash val="solid"/>
          </a:ln>
        </p:spPr>
      </p:sp>
      <p:sp>
        <p:nvSpPr>
          <p:cNvPr id="22" name="Text 20"/>
          <p:cNvSpPr/>
          <p:nvPr/>
        </p:nvSpPr>
        <p:spPr>
          <a:xfrm>
            <a:off x="2423160" y="4617720"/>
            <a:ext cx="3383280" cy="411480"/>
          </a:xfrm>
          <a:prstGeom prst="rect">
            <a:avLst/>
          </a:prstGeom>
          <a:noFill/>
          <a:ln/>
        </p:spPr>
        <p:txBody>
          <a:bodyPr wrap="square" rtlCol="0" anchor="ctr"/>
          <a:lstStyle/>
          <a:p>
            <a:pPr indent="0" marL="0">
              <a:buNone/>
            </a:pPr>
            <a:r>
              <a:rPr lang="en-US" sz="1200" b="1" dirty="0">
                <a:solidFill>
                  <a:srgbClr val="F0F0F0"/>
                </a:solidFill>
                <a:latin typeface="Calibri" pitchFamily="34" charset="0"/>
                <a:ea typeface="Calibri" pitchFamily="34" charset="-122"/>
                <a:cs typeface="Calibri" pitchFamily="34" charset="-120"/>
              </a:rPr>
              <a:t>GitHub Actions</a:t>
            </a:r>
            <a:endParaRPr lang="en-US" sz="1200" dirty="0"/>
          </a:p>
        </p:txBody>
      </p:sp>
      <p:sp>
        <p:nvSpPr>
          <p:cNvPr id="23" name="Text 21"/>
          <p:cNvSpPr/>
          <p:nvPr/>
        </p:nvSpPr>
        <p:spPr>
          <a:xfrm>
            <a:off x="2423160" y="5029200"/>
            <a:ext cx="3383280" cy="274320"/>
          </a:xfrm>
          <a:prstGeom prst="rect">
            <a:avLst/>
          </a:prstGeom>
          <a:noFill/>
          <a:ln/>
        </p:spPr>
        <p:txBody>
          <a:bodyPr wrap="square" rtlCol="0" anchor="ctr"/>
          <a:lstStyle/>
          <a:p>
            <a:pPr indent="0" marL="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24" name="Text 22"/>
          <p:cNvSpPr/>
          <p:nvPr/>
        </p:nvSpPr>
        <p:spPr>
          <a:xfrm>
            <a:off x="2423160" y="5303520"/>
            <a:ext cx="3383280" cy="594360"/>
          </a:xfrm>
          <a:prstGeom prst="rect">
            <a:avLst/>
          </a:prstGeom>
          <a:noFill/>
          <a:ln/>
        </p:spPr>
        <p:txBody>
          <a:bodyPr wrap="square" rtlCol="0" anchor="ctr"/>
          <a:lstStyle/>
          <a:p>
            <a:pPr indent="0" marL="0">
              <a:buNone/>
            </a:pPr>
            <a:r>
              <a:rPr lang="en-US" sz="900" dirty="0">
                <a:solidFill>
                  <a:srgbClr val="B2B2B2"/>
                </a:solidFill>
                <a:latin typeface="Calibri" pitchFamily="34" charset="0"/>
                <a:ea typeface="Calibri" pitchFamily="34" charset="-122"/>
                <a:cs typeface="Calibri" pitchFamily="34" charset="-120"/>
              </a:rPr>
              <a:t>Self-hosted runner Windows</a:t>
            </a:r>
            <a:endParaRPr lang="en-US" sz="900" dirty="0"/>
          </a:p>
          <a:p>
            <a:pPr indent="0" marL="0">
              <a:buNone/>
            </a:pPr>
            <a:r>
              <a:rPr lang="en-US" sz="900" dirty="0">
                <a:solidFill>
                  <a:srgbClr val="B2B2B2"/>
                </a:solidFill>
                <a:latin typeface="Calibri" pitchFamily="34" charset="0"/>
                <a:ea typeface="Calibri" pitchFamily="34" charset="-122"/>
                <a:cs typeface="Calibri" pitchFamily="34" charset="-120"/>
              </a:rPr>
              <a:t>11 jobs · déploiement automatique</a:t>
            </a:r>
            <a:endParaRPr lang="en-US" sz="900" dirty="0"/>
          </a:p>
        </p:txBody>
      </p:sp>
      <p:sp>
        <p:nvSpPr>
          <p:cNvPr id="25" name="Shape 23"/>
          <p:cNvSpPr/>
          <p:nvPr/>
        </p:nvSpPr>
        <p:spPr>
          <a:xfrm>
            <a:off x="6309360" y="4526280"/>
            <a:ext cx="3657600" cy="1463040"/>
          </a:xfrm>
          <a:prstGeom prst="rect">
            <a:avLst>
              <a:gd name="adj" fmla="val 5000"/>
            </a:avLst>
          </a:prstGeom>
          <a:solidFill>
            <a:srgbClr val="2E2A1A"/>
          </a:solidFill>
          <a:ln w="19050">
            <a:solidFill>
              <a:srgbClr val="C0392B"/>
            </a:solidFill>
            <a:prstDash val="solid"/>
          </a:ln>
        </p:spPr>
      </p:sp>
      <p:sp>
        <p:nvSpPr>
          <p:cNvPr id="26" name="Text 24"/>
          <p:cNvSpPr/>
          <p:nvPr/>
        </p:nvSpPr>
        <p:spPr>
          <a:xfrm>
            <a:off x="6446520" y="4617720"/>
            <a:ext cx="3383280" cy="411480"/>
          </a:xfrm>
          <a:prstGeom prst="rect">
            <a:avLst/>
          </a:prstGeom>
          <a:noFill/>
          <a:ln/>
        </p:spPr>
        <p:txBody>
          <a:bodyPr wrap="square" rtlCol="0" anchor="ctr"/>
          <a:lstStyle/>
          <a:p>
            <a:pPr indent="0" marL="0">
              <a:buNone/>
            </a:pPr>
            <a:r>
              <a:rPr lang="en-US" sz="1200" b="1" dirty="0">
                <a:solidFill>
                  <a:srgbClr val="F0F0F0"/>
                </a:solidFill>
                <a:latin typeface="Calibri" pitchFamily="34" charset="0"/>
                <a:ea typeface="Calibri" pitchFamily="34" charset="-122"/>
                <a:cs typeface="Calibri" pitchFamily="34" charset="-120"/>
              </a:rPr>
              <a:t>Docker / Apache</a:t>
            </a:r>
            <a:endParaRPr lang="en-US" sz="1200" dirty="0"/>
          </a:p>
        </p:txBody>
      </p:sp>
      <p:sp>
        <p:nvSpPr>
          <p:cNvPr id="27" name="Text 25"/>
          <p:cNvSpPr/>
          <p:nvPr/>
        </p:nvSpPr>
        <p:spPr>
          <a:xfrm>
            <a:off x="6446520" y="5029200"/>
            <a:ext cx="3383280" cy="274320"/>
          </a:xfrm>
          <a:prstGeom prst="rect">
            <a:avLst/>
          </a:prstGeom>
          <a:noFill/>
          <a:ln/>
        </p:spPr>
        <p:txBody>
          <a:bodyPr wrap="square" rtlCol="0" anchor="ctr"/>
          <a:lstStyle/>
          <a:p>
            <a:pPr indent="0" marL="0">
              <a:buNone/>
            </a:pPr>
            <a:r>
              <a:rPr lang="en-US" sz="1000" b="1" dirty="0">
                <a:solidFill>
                  <a:srgbClr val="E67E22"/>
                </a:solidFill>
                <a:latin typeface="Calibri" pitchFamily="34" charset="0"/>
                <a:ea typeface="Calibri" pitchFamily="34" charset="-122"/>
                <a:cs typeface="Calibri" pitchFamily="34" charset="-120"/>
              </a:rPr>
              <a:t>⚠️ Problème résolu</a:t>
            </a:r>
            <a:endParaRPr lang="en-US" sz="1000" dirty="0"/>
          </a:p>
        </p:txBody>
      </p:sp>
      <p:sp>
        <p:nvSpPr>
          <p:cNvPr id="28" name="Text 26"/>
          <p:cNvSpPr/>
          <p:nvPr/>
        </p:nvSpPr>
        <p:spPr>
          <a:xfrm>
            <a:off x="6446520" y="5303520"/>
            <a:ext cx="3383280" cy="594360"/>
          </a:xfrm>
          <a:prstGeom prst="rect">
            <a:avLst/>
          </a:prstGeom>
          <a:noFill/>
          <a:ln/>
        </p:spPr>
        <p:txBody>
          <a:bodyPr wrap="square" rtlCol="0" anchor="ctr"/>
          <a:lstStyle/>
          <a:p>
            <a:pPr indent="0" marL="0">
              <a:buNone/>
            </a:pPr>
            <a:r>
              <a:rPr lang="en-US" sz="900" dirty="0">
                <a:solidFill>
                  <a:srgbClr val="B2B2B2"/>
                </a:solidFill>
                <a:latin typeface="Calibri" pitchFamily="34" charset="0"/>
                <a:ea typeface="Calibri" pitchFamily="34" charset="-122"/>
                <a:cs typeface="Calibri" pitchFamily="34" charset="-120"/>
              </a:rPr>
              <a:t>mod_php ne passe pas</a:t>
            </a:r>
            <a:endParaRPr lang="en-US" sz="900" dirty="0"/>
          </a:p>
          <a:p>
            <a:pPr indent="0" marL="0">
              <a:buNone/>
            </a:pPr>
            <a:r>
              <a:rPr lang="en-US" sz="900" dirty="0">
                <a:solidFill>
                  <a:srgbClr val="B2B2B2"/>
                </a:solidFill>
                <a:latin typeface="Calibri" pitchFamily="34" charset="0"/>
                <a:ea typeface="Calibri" pitchFamily="34" charset="-122"/>
                <a:cs typeface="Calibri" pitchFamily="34" charset="-120"/>
              </a:rPr>
              <a:t>les vars Docker → SetEnv Apache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13</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QUALITE MESUREE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Résultats — chiffres clés</a:t>
            </a:r>
            <a:endParaRPr lang="en-US" sz="3400" dirty="0"/>
          </a:p>
        </p:txBody>
      </p:sp>
      <p:sp>
        <p:nvSpPr>
          <p:cNvPr id="9" name="Shape 7"/>
          <p:cNvSpPr/>
          <p:nvPr/>
        </p:nvSpPr>
        <p:spPr>
          <a:xfrm>
            <a:off x="274320" y="2743200"/>
            <a:ext cx="2743200" cy="3291840"/>
          </a:xfrm>
          <a:prstGeom prst="rect">
            <a:avLst>
              <a:gd name="adj" fmla="val 2667"/>
            </a:avLst>
          </a:prstGeom>
          <a:solidFill>
            <a:srgbClr val="1A2E1A"/>
          </a:solidFill>
          <a:ln w="19050">
            <a:solidFill>
              <a:srgbClr val="C0392B"/>
            </a:solidFill>
            <a:prstDash val="solid"/>
          </a:ln>
        </p:spPr>
      </p:sp>
      <p:sp>
        <p:nvSpPr>
          <p:cNvPr id="10" name="Text 8"/>
          <p:cNvSpPr/>
          <p:nvPr/>
        </p:nvSpPr>
        <p:spPr>
          <a:xfrm>
            <a:off x="365760" y="2926080"/>
            <a:ext cx="2560320" cy="1188720"/>
          </a:xfrm>
          <a:prstGeom prst="rect">
            <a:avLst/>
          </a:prstGeom>
          <a:noFill/>
          <a:ln/>
        </p:spPr>
        <p:txBody>
          <a:bodyPr wrap="square" rtlCol="0" anchor="ctr"/>
          <a:lstStyle/>
          <a:p>
            <a:pPr algn="ctr" indent="0" marL="0">
              <a:buNone/>
            </a:pPr>
            <a:r>
              <a:rPr lang="en-US" sz="4000" b="1" dirty="0">
                <a:solidFill>
                  <a:srgbClr val="F0F0F0"/>
                </a:solidFill>
                <a:latin typeface="Georgia" pitchFamily="34" charset="0"/>
                <a:ea typeface="Georgia" pitchFamily="34" charset="-122"/>
                <a:cs typeface="Georgia" pitchFamily="34" charset="-120"/>
              </a:rPr>
              <a:t>59</a:t>
            </a:r>
            <a:endParaRPr lang="en-US" sz="4000" dirty="0"/>
          </a:p>
        </p:txBody>
      </p:sp>
      <p:sp>
        <p:nvSpPr>
          <p:cNvPr id="11" name="Shape 9"/>
          <p:cNvSpPr/>
          <p:nvPr/>
        </p:nvSpPr>
        <p:spPr>
          <a:xfrm>
            <a:off x="731520" y="4160520"/>
            <a:ext cx="1828800" cy="45720"/>
          </a:xfrm>
          <a:prstGeom prst="rect">
            <a:avLst/>
          </a:prstGeom>
          <a:solidFill>
            <a:srgbClr val="C0392B"/>
          </a:solidFill>
          <a:ln/>
        </p:spPr>
      </p:sp>
      <p:sp>
        <p:nvSpPr>
          <p:cNvPr id="12" name="Text 10"/>
          <p:cNvSpPr/>
          <p:nvPr/>
        </p:nvSpPr>
        <p:spPr>
          <a:xfrm>
            <a:off x="365760" y="4251960"/>
            <a:ext cx="2560320" cy="457200"/>
          </a:xfrm>
          <a:prstGeom prst="rect">
            <a:avLst/>
          </a:prstGeom>
          <a:noFill/>
          <a:ln/>
        </p:spPr>
        <p:txBody>
          <a:bodyPr wrap="square" rtlCol="0" anchor="ctr"/>
          <a:lstStyle/>
          <a:p>
            <a:pPr algn="ctr" indent="0" marL="0">
              <a:buNone/>
            </a:pPr>
            <a:r>
              <a:rPr lang="en-US" sz="1200" b="1" dirty="0">
                <a:solidFill>
                  <a:srgbClr val="F39C12"/>
                </a:solidFill>
                <a:latin typeface="Calibri" pitchFamily="34" charset="0"/>
                <a:ea typeface="Calibri" pitchFamily="34" charset="-122"/>
                <a:cs typeface="Calibri" pitchFamily="34" charset="-120"/>
              </a:rPr>
              <a:t>tests PHPUnit</a:t>
            </a:r>
            <a:endParaRPr lang="en-US" sz="1200" dirty="0"/>
          </a:p>
        </p:txBody>
      </p:sp>
      <p:sp>
        <p:nvSpPr>
          <p:cNvPr id="13" name="Text 11"/>
          <p:cNvSpPr/>
          <p:nvPr/>
        </p:nvSpPr>
        <p:spPr>
          <a:xfrm>
            <a:off x="365760" y="4754880"/>
            <a:ext cx="2560320" cy="457200"/>
          </a:xfrm>
          <a:prstGeom prst="rect">
            <a:avLst/>
          </a:prstGeom>
          <a:noFill/>
          <a:ln/>
        </p:spPr>
        <p:txBody>
          <a:bodyPr wrap="square" rtlCol="0" anchor="ctr"/>
          <a:lstStyle/>
          <a:p>
            <a:pPr algn="ctr" indent="0" marL="0">
              <a:buNone/>
            </a:pPr>
            <a:r>
              <a:rPr lang="en-US" sz="1100" dirty="0">
                <a:solidFill>
                  <a:srgbClr val="B2B2B2"/>
                </a:solidFill>
                <a:latin typeface="Calibri" pitchFamily="34" charset="0"/>
                <a:ea typeface="Calibri" pitchFamily="34" charset="-122"/>
                <a:cs typeface="Calibri" pitchFamily="34" charset="-120"/>
              </a:rPr>
              <a:t>186 assertions · 0 échec</a:t>
            </a:r>
            <a:endParaRPr lang="en-US" sz="1100" dirty="0"/>
          </a:p>
        </p:txBody>
      </p:sp>
      <p:sp>
        <p:nvSpPr>
          <p:cNvPr id="14" name="Shape 12"/>
          <p:cNvSpPr/>
          <p:nvPr/>
        </p:nvSpPr>
        <p:spPr>
          <a:xfrm>
            <a:off x="3291840" y="2743200"/>
            <a:ext cx="2743200" cy="3291840"/>
          </a:xfrm>
          <a:prstGeom prst="rect">
            <a:avLst>
              <a:gd name="adj" fmla="val 2667"/>
            </a:avLst>
          </a:prstGeom>
          <a:solidFill>
            <a:srgbClr val="1A1A2E"/>
          </a:solidFill>
          <a:ln w="19050">
            <a:solidFill>
              <a:srgbClr val="C0392B"/>
            </a:solidFill>
            <a:prstDash val="solid"/>
          </a:ln>
        </p:spPr>
      </p:sp>
      <p:sp>
        <p:nvSpPr>
          <p:cNvPr id="15" name="Text 13"/>
          <p:cNvSpPr/>
          <p:nvPr/>
        </p:nvSpPr>
        <p:spPr>
          <a:xfrm>
            <a:off x="3383280" y="2926080"/>
            <a:ext cx="2560320" cy="1188720"/>
          </a:xfrm>
          <a:prstGeom prst="rect">
            <a:avLst/>
          </a:prstGeom>
          <a:noFill/>
          <a:ln/>
        </p:spPr>
        <p:txBody>
          <a:bodyPr wrap="square" rtlCol="0" anchor="ctr"/>
          <a:lstStyle/>
          <a:p>
            <a:pPr algn="ctr" indent="0" marL="0">
              <a:buNone/>
            </a:pPr>
            <a:r>
              <a:rPr lang="en-US" sz="4000" b="1" dirty="0">
                <a:solidFill>
                  <a:srgbClr val="F0F0F0"/>
                </a:solidFill>
                <a:latin typeface="Georgia" pitchFamily="34" charset="0"/>
                <a:ea typeface="Georgia" pitchFamily="34" charset="-122"/>
                <a:cs typeface="Georgia" pitchFamily="34" charset="-120"/>
              </a:rPr>
              <a:t>78,95%</a:t>
            </a:r>
            <a:endParaRPr lang="en-US" sz="4000" dirty="0"/>
          </a:p>
        </p:txBody>
      </p:sp>
      <p:sp>
        <p:nvSpPr>
          <p:cNvPr id="16" name="Shape 14"/>
          <p:cNvSpPr/>
          <p:nvPr/>
        </p:nvSpPr>
        <p:spPr>
          <a:xfrm>
            <a:off x="3749040" y="4160520"/>
            <a:ext cx="1828800" cy="45720"/>
          </a:xfrm>
          <a:prstGeom prst="rect">
            <a:avLst/>
          </a:prstGeom>
          <a:solidFill>
            <a:srgbClr val="C0392B"/>
          </a:solidFill>
          <a:ln/>
        </p:spPr>
      </p:sp>
      <p:sp>
        <p:nvSpPr>
          <p:cNvPr id="17" name="Text 15"/>
          <p:cNvSpPr/>
          <p:nvPr/>
        </p:nvSpPr>
        <p:spPr>
          <a:xfrm>
            <a:off x="3383280" y="4251960"/>
            <a:ext cx="2560320" cy="457200"/>
          </a:xfrm>
          <a:prstGeom prst="rect">
            <a:avLst/>
          </a:prstGeom>
          <a:noFill/>
          <a:ln/>
        </p:spPr>
        <p:txBody>
          <a:bodyPr wrap="square" rtlCol="0" anchor="ctr"/>
          <a:lstStyle/>
          <a:p>
            <a:pPr algn="ctr" indent="0" marL="0">
              <a:buNone/>
            </a:pPr>
            <a:r>
              <a:rPr lang="en-US" sz="1200" b="1" dirty="0">
                <a:solidFill>
                  <a:srgbClr val="F39C12"/>
                </a:solidFill>
                <a:latin typeface="Calibri" pitchFamily="34" charset="0"/>
                <a:ea typeface="Calibri" pitchFamily="34" charset="-122"/>
                <a:cs typeface="Calibri" pitchFamily="34" charset="-120"/>
              </a:rPr>
              <a:t>couverture classes</a:t>
            </a:r>
            <a:endParaRPr lang="en-US" sz="1200" dirty="0"/>
          </a:p>
        </p:txBody>
      </p:sp>
      <p:sp>
        <p:nvSpPr>
          <p:cNvPr id="18" name="Text 16"/>
          <p:cNvSpPr/>
          <p:nvPr/>
        </p:nvSpPr>
        <p:spPr>
          <a:xfrm>
            <a:off x="3383280" y="4754880"/>
            <a:ext cx="2560320" cy="457200"/>
          </a:xfrm>
          <a:prstGeom prst="rect">
            <a:avLst/>
          </a:prstGeom>
          <a:noFill/>
          <a:ln/>
        </p:spPr>
        <p:txBody>
          <a:bodyPr wrap="square" rtlCol="0" anchor="ctr"/>
          <a:lstStyle/>
          <a:p>
            <a:pPr algn="ctr" indent="0" marL="0">
              <a:buNone/>
            </a:pPr>
            <a:r>
              <a:rPr lang="en-US" sz="1100" dirty="0">
                <a:solidFill>
                  <a:srgbClr val="B2B2B2"/>
                </a:solidFill>
                <a:latin typeface="Calibri" pitchFamily="34" charset="0"/>
                <a:ea typeface="Calibri" pitchFamily="34" charset="-122"/>
                <a:cs typeface="Calibri" pitchFamily="34" charset="-120"/>
              </a:rPr>
              <a:t>59,11% lignes · PCOV</a:t>
            </a:r>
            <a:endParaRPr lang="en-US" sz="1100" dirty="0"/>
          </a:p>
        </p:txBody>
      </p:sp>
      <p:sp>
        <p:nvSpPr>
          <p:cNvPr id="19" name="Shape 17"/>
          <p:cNvSpPr/>
          <p:nvPr/>
        </p:nvSpPr>
        <p:spPr>
          <a:xfrm>
            <a:off x="6309360" y="2743200"/>
            <a:ext cx="2743200" cy="3291840"/>
          </a:xfrm>
          <a:prstGeom prst="rect">
            <a:avLst>
              <a:gd name="adj" fmla="val 2667"/>
            </a:avLst>
          </a:prstGeom>
          <a:solidFill>
            <a:srgbClr val="2E2A1A"/>
          </a:solidFill>
          <a:ln w="19050">
            <a:solidFill>
              <a:srgbClr val="C0392B"/>
            </a:solidFill>
            <a:prstDash val="solid"/>
          </a:ln>
        </p:spPr>
      </p:sp>
      <p:sp>
        <p:nvSpPr>
          <p:cNvPr id="20" name="Text 18"/>
          <p:cNvSpPr/>
          <p:nvPr/>
        </p:nvSpPr>
        <p:spPr>
          <a:xfrm>
            <a:off x="6400800" y="2926080"/>
            <a:ext cx="2560320" cy="1188720"/>
          </a:xfrm>
          <a:prstGeom prst="rect">
            <a:avLst/>
          </a:prstGeom>
          <a:noFill/>
          <a:ln/>
        </p:spPr>
        <p:txBody>
          <a:bodyPr wrap="square" rtlCol="0" anchor="ctr"/>
          <a:lstStyle/>
          <a:p>
            <a:pPr algn="ctr" indent="0" marL="0">
              <a:buNone/>
            </a:pPr>
            <a:r>
              <a:rPr lang="en-US" sz="4000" b="1" dirty="0">
                <a:solidFill>
                  <a:srgbClr val="F0F0F0"/>
                </a:solidFill>
                <a:latin typeface="Georgia" pitchFamily="34" charset="0"/>
                <a:ea typeface="Georgia" pitchFamily="34" charset="-122"/>
                <a:cs typeface="Georgia" pitchFamily="34" charset="-120"/>
              </a:rPr>
              <a:t>35/35</a:t>
            </a:r>
            <a:endParaRPr lang="en-US" sz="4000" dirty="0"/>
          </a:p>
        </p:txBody>
      </p:sp>
      <p:sp>
        <p:nvSpPr>
          <p:cNvPr id="21" name="Shape 19"/>
          <p:cNvSpPr/>
          <p:nvPr/>
        </p:nvSpPr>
        <p:spPr>
          <a:xfrm>
            <a:off x="6766560" y="4160520"/>
            <a:ext cx="1828800" cy="45720"/>
          </a:xfrm>
          <a:prstGeom prst="rect">
            <a:avLst/>
          </a:prstGeom>
          <a:solidFill>
            <a:srgbClr val="C0392B"/>
          </a:solidFill>
          <a:ln/>
        </p:spPr>
      </p:sp>
      <p:sp>
        <p:nvSpPr>
          <p:cNvPr id="22" name="Text 20"/>
          <p:cNvSpPr/>
          <p:nvPr/>
        </p:nvSpPr>
        <p:spPr>
          <a:xfrm>
            <a:off x="6400800" y="4251960"/>
            <a:ext cx="2560320" cy="457200"/>
          </a:xfrm>
          <a:prstGeom prst="rect">
            <a:avLst/>
          </a:prstGeom>
          <a:noFill/>
          <a:ln/>
        </p:spPr>
        <p:txBody>
          <a:bodyPr wrap="square" rtlCol="0" anchor="ctr"/>
          <a:lstStyle/>
          <a:p>
            <a:pPr algn="ctr" indent="0" marL="0">
              <a:buNone/>
            </a:pPr>
            <a:r>
              <a:rPr lang="en-US" sz="1200" b="1" dirty="0">
                <a:solidFill>
                  <a:srgbClr val="F39C12"/>
                </a:solidFill>
                <a:latin typeface="Calibri" pitchFamily="34" charset="0"/>
                <a:ea typeface="Calibri" pitchFamily="34" charset="-122"/>
                <a:cs typeface="Calibri" pitchFamily="34" charset="-120"/>
              </a:rPr>
              <a:t>checks k6</a:t>
            </a:r>
            <a:endParaRPr lang="en-US" sz="1200" dirty="0"/>
          </a:p>
        </p:txBody>
      </p:sp>
      <p:sp>
        <p:nvSpPr>
          <p:cNvPr id="23" name="Text 21"/>
          <p:cNvSpPr/>
          <p:nvPr/>
        </p:nvSpPr>
        <p:spPr>
          <a:xfrm>
            <a:off x="6400800" y="4754880"/>
            <a:ext cx="2560320" cy="457200"/>
          </a:xfrm>
          <a:prstGeom prst="rect">
            <a:avLst/>
          </a:prstGeom>
          <a:noFill/>
          <a:ln/>
        </p:spPr>
        <p:txBody>
          <a:bodyPr wrap="square" rtlCol="0" anchor="ctr"/>
          <a:lstStyle/>
          <a:p>
            <a:pPr algn="ctr" indent="0" marL="0">
              <a:buNone/>
            </a:pPr>
            <a:r>
              <a:rPr lang="en-US" sz="1100" dirty="0">
                <a:solidFill>
                  <a:srgbClr val="B2B2B2"/>
                </a:solidFill>
                <a:latin typeface="Calibri" pitchFamily="34" charset="0"/>
                <a:ea typeface="Calibri" pitchFamily="34" charset="-122"/>
                <a:cs typeface="Calibri" pitchFamily="34" charset="-120"/>
              </a:rPr>
              <a:t>p95 &lt; 200ms · 0% erreurs</a:t>
            </a:r>
            <a:endParaRPr lang="en-US" sz="1100" dirty="0"/>
          </a:p>
        </p:txBody>
      </p:sp>
      <p:sp>
        <p:nvSpPr>
          <p:cNvPr id="24" name="Shape 22"/>
          <p:cNvSpPr/>
          <p:nvPr/>
        </p:nvSpPr>
        <p:spPr>
          <a:xfrm>
            <a:off x="9326880" y="2743200"/>
            <a:ext cx="2743200" cy="3291840"/>
          </a:xfrm>
          <a:prstGeom prst="rect">
            <a:avLst>
              <a:gd name="adj" fmla="val 2667"/>
            </a:avLst>
          </a:prstGeom>
          <a:solidFill>
            <a:srgbClr val="2E1A1A"/>
          </a:solidFill>
          <a:ln w="19050">
            <a:solidFill>
              <a:srgbClr val="C0392B"/>
            </a:solidFill>
            <a:prstDash val="solid"/>
          </a:ln>
        </p:spPr>
      </p:sp>
      <p:sp>
        <p:nvSpPr>
          <p:cNvPr id="25" name="Text 23"/>
          <p:cNvSpPr/>
          <p:nvPr/>
        </p:nvSpPr>
        <p:spPr>
          <a:xfrm>
            <a:off x="9418320" y="2926080"/>
            <a:ext cx="2560320" cy="1188720"/>
          </a:xfrm>
          <a:prstGeom prst="rect">
            <a:avLst/>
          </a:prstGeom>
          <a:noFill/>
          <a:ln/>
        </p:spPr>
        <p:txBody>
          <a:bodyPr wrap="square" rtlCol="0" anchor="ctr"/>
          <a:lstStyle/>
          <a:p>
            <a:pPr algn="ctr" indent="0" marL="0">
              <a:buNone/>
            </a:pPr>
            <a:r>
              <a:rPr lang="en-US" sz="4000" b="1" dirty="0">
                <a:solidFill>
                  <a:srgbClr val="F0F0F0"/>
                </a:solidFill>
                <a:latin typeface="Georgia" pitchFamily="34" charset="0"/>
                <a:ea typeface="Georgia" pitchFamily="34" charset="-122"/>
                <a:cs typeface="Georgia" pitchFamily="34" charset="-120"/>
              </a:rPr>
              <a:t>0</a:t>
            </a:r>
            <a:endParaRPr lang="en-US" sz="4000" dirty="0"/>
          </a:p>
        </p:txBody>
      </p:sp>
      <p:sp>
        <p:nvSpPr>
          <p:cNvPr id="26" name="Shape 24"/>
          <p:cNvSpPr/>
          <p:nvPr/>
        </p:nvSpPr>
        <p:spPr>
          <a:xfrm>
            <a:off x="9784080" y="4160520"/>
            <a:ext cx="1828800" cy="45720"/>
          </a:xfrm>
          <a:prstGeom prst="rect">
            <a:avLst/>
          </a:prstGeom>
          <a:solidFill>
            <a:srgbClr val="C0392B"/>
          </a:solidFill>
          <a:ln/>
        </p:spPr>
      </p:sp>
      <p:sp>
        <p:nvSpPr>
          <p:cNvPr id="27" name="Text 25"/>
          <p:cNvSpPr/>
          <p:nvPr/>
        </p:nvSpPr>
        <p:spPr>
          <a:xfrm>
            <a:off x="9418320" y="4251960"/>
            <a:ext cx="2560320" cy="457200"/>
          </a:xfrm>
          <a:prstGeom prst="rect">
            <a:avLst/>
          </a:prstGeom>
          <a:noFill/>
          <a:ln/>
        </p:spPr>
        <p:txBody>
          <a:bodyPr wrap="square" rtlCol="0" anchor="ctr"/>
          <a:lstStyle/>
          <a:p>
            <a:pPr algn="ctr" indent="0" marL="0">
              <a:buNone/>
            </a:pPr>
            <a:r>
              <a:rPr lang="en-US" sz="1200" b="1" dirty="0">
                <a:solidFill>
                  <a:srgbClr val="F39C12"/>
                </a:solidFill>
                <a:latin typeface="Calibri" pitchFamily="34" charset="0"/>
                <a:ea typeface="Calibri" pitchFamily="34" charset="-122"/>
                <a:cs typeface="Calibri" pitchFamily="34" charset="-120"/>
              </a:rPr>
              <a:t>CVE Critical</a:t>
            </a:r>
            <a:endParaRPr lang="en-US" sz="1200" dirty="0"/>
          </a:p>
        </p:txBody>
      </p:sp>
      <p:sp>
        <p:nvSpPr>
          <p:cNvPr id="28" name="Text 26"/>
          <p:cNvSpPr/>
          <p:nvPr/>
        </p:nvSpPr>
        <p:spPr>
          <a:xfrm>
            <a:off x="9418320" y="4754880"/>
            <a:ext cx="2560320" cy="457200"/>
          </a:xfrm>
          <a:prstGeom prst="rect">
            <a:avLst/>
          </a:prstGeom>
          <a:noFill/>
          <a:ln/>
        </p:spPr>
        <p:txBody>
          <a:bodyPr wrap="square" rtlCol="0" anchor="ctr"/>
          <a:lstStyle/>
          <a:p>
            <a:pPr algn="ctr" indent="0" marL="0">
              <a:buNone/>
            </a:pPr>
            <a:r>
              <a:rPr lang="en-US" sz="1100" dirty="0">
                <a:solidFill>
                  <a:srgbClr val="B2B2B2"/>
                </a:solidFill>
                <a:latin typeface="Calibri" pitchFamily="34" charset="0"/>
                <a:ea typeface="Calibri" pitchFamily="34" charset="-122"/>
                <a:cs typeface="Calibri" pitchFamily="34" charset="-120"/>
              </a:rPr>
              <a:t>Trivy image scan</a:t>
            </a:r>
            <a:endParaRPr lang="en-US" sz="1100" dirty="0"/>
          </a:p>
        </p:txBody>
      </p:sp>
      <p:sp>
        <p:nvSpPr>
          <p:cNvPr id="29" name="Shape 27"/>
          <p:cNvSpPr/>
          <p:nvPr/>
        </p:nvSpPr>
        <p:spPr>
          <a:xfrm>
            <a:off x="274320" y="6080760"/>
            <a:ext cx="11704320" cy="411480"/>
          </a:xfrm>
          <a:prstGeom prst="rect">
            <a:avLst>
              <a:gd name="adj" fmla="val 17778"/>
            </a:avLst>
          </a:prstGeom>
          <a:solidFill>
            <a:srgbClr val="1A1A1A"/>
          </a:solidFill>
          <a:ln w="19050">
            <a:solidFill>
              <a:srgbClr val="C0392B"/>
            </a:solidFill>
            <a:prstDash val="solid"/>
          </a:ln>
        </p:spPr>
      </p:sp>
      <p:sp>
        <p:nvSpPr>
          <p:cNvPr id="30" name="Text 28"/>
          <p:cNvSpPr/>
          <p:nvPr/>
        </p:nvSpPr>
        <p:spPr>
          <a:xfrm>
            <a:off x="457200" y="6108192"/>
            <a:ext cx="11338560" cy="320040"/>
          </a:xfrm>
          <a:prstGeom prst="rect">
            <a:avLst/>
          </a:prstGeom>
          <a:noFill/>
          <a:ln/>
        </p:spPr>
        <p:txBody>
          <a:bodyPr wrap="square"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Pipeline complet : install → sast → sonar → trivy → unit-test → e2e → k6 → build-image → trivy-image → staging →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14</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MISE EN PRODUCTION — DISPONIBILITÉ</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Orchestrer la production</a:t>
            </a:r>
            <a:endParaRPr lang="en-US" sz="3400" dirty="0"/>
          </a:p>
          <a:p>
            <a:pPr indent="0" marL="0">
              <a:buNone/>
            </a:pPr>
            <a:r>
              <a:rPr lang="en-US" sz="3400" b="1" dirty="0">
                <a:solidFill>
                  <a:srgbClr val="F0F0F0"/>
                </a:solidFill>
                <a:latin typeface="Georgia" pitchFamily="34" charset="0"/>
                <a:ea typeface="Georgia" pitchFamily="34" charset="-122"/>
                <a:cs typeface="Georgia" pitchFamily="34" charset="-120"/>
              </a:rPr>
              <a:t>pour garantir la disponibilité</a:t>
            </a:r>
            <a:endParaRPr lang="en-US" sz="3400" dirty="0"/>
          </a:p>
        </p:txBody>
      </p:sp>
      <p:sp>
        <p:nvSpPr>
          <p:cNvPr id="9" name="Shape 7"/>
          <p:cNvSpPr/>
          <p:nvPr/>
        </p:nvSpPr>
        <p:spPr>
          <a:xfrm>
            <a:off x="274320" y="2743200"/>
            <a:ext cx="5760720" cy="1600200"/>
          </a:xfrm>
          <a:prstGeom prst="rect">
            <a:avLst>
              <a:gd name="adj" fmla="val 4571"/>
            </a:avLst>
          </a:prstGeom>
          <a:solidFill>
            <a:srgbClr val="1A2E1A"/>
          </a:solidFill>
          <a:ln w="19050">
            <a:solidFill>
              <a:srgbClr val="C0392B"/>
            </a:solidFill>
            <a:prstDash val="solid"/>
          </a:ln>
        </p:spPr>
      </p:sp>
      <p:sp>
        <p:nvSpPr>
          <p:cNvPr id="10" name="Text 8"/>
          <p:cNvSpPr/>
          <p:nvPr/>
        </p:nvSpPr>
        <p:spPr>
          <a:xfrm>
            <a:off x="411480" y="2852928"/>
            <a:ext cx="5486400" cy="50292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  Restart automatique</a:t>
            </a:r>
            <a:endParaRPr lang="en-US" sz="1400" dirty="0"/>
          </a:p>
        </p:txBody>
      </p:sp>
      <p:sp>
        <p:nvSpPr>
          <p:cNvPr id="11" name="Text 9"/>
          <p:cNvSpPr/>
          <p:nvPr/>
        </p:nvSpPr>
        <p:spPr>
          <a:xfrm>
            <a:off x="411480" y="3401568"/>
            <a:ext cx="5486400" cy="82296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--restart=unless-stopped</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Redémarrage auto si crash conteneur</a:t>
            </a:r>
            <a:endParaRPr lang="en-US" sz="1200" dirty="0"/>
          </a:p>
        </p:txBody>
      </p:sp>
      <p:sp>
        <p:nvSpPr>
          <p:cNvPr id="12" name="Shape 10"/>
          <p:cNvSpPr/>
          <p:nvPr/>
        </p:nvSpPr>
        <p:spPr>
          <a:xfrm>
            <a:off x="6309360" y="2743200"/>
            <a:ext cx="5760720" cy="1600200"/>
          </a:xfrm>
          <a:prstGeom prst="rect">
            <a:avLst>
              <a:gd name="adj" fmla="val 4571"/>
            </a:avLst>
          </a:prstGeom>
          <a:solidFill>
            <a:srgbClr val="1A1A2E"/>
          </a:solidFill>
          <a:ln w="19050">
            <a:solidFill>
              <a:srgbClr val="C0392B"/>
            </a:solidFill>
            <a:prstDash val="solid"/>
          </a:ln>
        </p:spPr>
      </p:sp>
      <p:sp>
        <p:nvSpPr>
          <p:cNvPr id="13" name="Text 11"/>
          <p:cNvSpPr/>
          <p:nvPr/>
        </p:nvSpPr>
        <p:spPr>
          <a:xfrm>
            <a:off x="6446520" y="2852928"/>
            <a:ext cx="5486400" cy="50292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  Health check /healthy</a:t>
            </a:r>
            <a:endParaRPr lang="en-US" sz="1400" dirty="0"/>
          </a:p>
        </p:txBody>
      </p:sp>
      <p:sp>
        <p:nvSpPr>
          <p:cNvPr id="14" name="Text 12"/>
          <p:cNvSpPr/>
          <p:nvPr/>
        </p:nvSpPr>
        <p:spPr>
          <a:xfrm>
            <a:off x="6446520" y="3401568"/>
            <a:ext cx="5486400" cy="82296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12 tentatives × 5s dans le pipeline</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Vérification DB + endpoint Symfony</a:t>
            </a:r>
            <a:endParaRPr lang="en-US" sz="1200" dirty="0"/>
          </a:p>
        </p:txBody>
      </p:sp>
      <p:sp>
        <p:nvSpPr>
          <p:cNvPr id="15" name="Shape 13"/>
          <p:cNvSpPr/>
          <p:nvPr/>
        </p:nvSpPr>
        <p:spPr>
          <a:xfrm>
            <a:off x="274320" y="4572000"/>
            <a:ext cx="5760720" cy="1600200"/>
          </a:xfrm>
          <a:prstGeom prst="rect">
            <a:avLst>
              <a:gd name="adj" fmla="val 4571"/>
            </a:avLst>
          </a:prstGeom>
          <a:solidFill>
            <a:srgbClr val="2E2A1A"/>
          </a:solidFill>
          <a:ln w="19050">
            <a:solidFill>
              <a:srgbClr val="C0392B"/>
            </a:solidFill>
            <a:prstDash val="solid"/>
          </a:ln>
        </p:spPr>
      </p:sp>
      <p:sp>
        <p:nvSpPr>
          <p:cNvPr id="16" name="Text 14"/>
          <p:cNvSpPr/>
          <p:nvPr/>
        </p:nvSpPr>
        <p:spPr>
          <a:xfrm>
            <a:off x="411480" y="4681728"/>
            <a:ext cx="5486400" cy="50292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  Persistance des données</a:t>
            </a:r>
            <a:endParaRPr lang="en-US" sz="1400" dirty="0"/>
          </a:p>
        </p:txBody>
      </p:sp>
      <p:sp>
        <p:nvSpPr>
          <p:cNvPr id="17" name="Text 15"/>
          <p:cNvSpPr/>
          <p:nvPr/>
        </p:nvSpPr>
        <p:spPr>
          <a:xfrm>
            <a:off x="411480" y="5230368"/>
            <a:ext cx="5486400" cy="82296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Volume Docker lpmde_pg_data</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Données conservées entre déploiements</a:t>
            </a:r>
            <a:endParaRPr lang="en-US" sz="1200" dirty="0"/>
          </a:p>
        </p:txBody>
      </p:sp>
      <p:sp>
        <p:nvSpPr>
          <p:cNvPr id="18" name="Shape 16"/>
          <p:cNvSpPr/>
          <p:nvPr/>
        </p:nvSpPr>
        <p:spPr>
          <a:xfrm>
            <a:off x="6309360" y="4572000"/>
            <a:ext cx="5760720" cy="1600200"/>
          </a:xfrm>
          <a:prstGeom prst="rect">
            <a:avLst>
              <a:gd name="adj" fmla="val 4571"/>
            </a:avLst>
          </a:prstGeom>
          <a:solidFill>
            <a:srgbClr val="1A2E2E"/>
          </a:solidFill>
          <a:ln w="19050">
            <a:solidFill>
              <a:srgbClr val="C0392B"/>
            </a:solidFill>
            <a:prstDash val="solid"/>
          </a:ln>
        </p:spPr>
      </p:sp>
      <p:sp>
        <p:nvSpPr>
          <p:cNvPr id="19" name="Text 17"/>
          <p:cNvSpPr/>
          <p:nvPr/>
        </p:nvSpPr>
        <p:spPr>
          <a:xfrm>
            <a:off x="6446520" y="4681728"/>
            <a:ext cx="5486400" cy="50292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  Performance validée k6</a:t>
            </a:r>
            <a:endParaRPr lang="en-US" sz="1400" dirty="0"/>
          </a:p>
        </p:txBody>
      </p:sp>
      <p:sp>
        <p:nvSpPr>
          <p:cNvPr id="20" name="Text 18"/>
          <p:cNvSpPr/>
          <p:nvPr/>
        </p:nvSpPr>
        <p:spPr>
          <a:xfrm>
            <a:off x="6446520" y="5230368"/>
            <a:ext cx="5486400" cy="82296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35/35 checks · p95 &lt; 200ms</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0% d'erreurs sous charge simulée</a:t>
            </a:r>
            <a:endParaRPr lang="en-US" sz="1200" dirty="0"/>
          </a:p>
        </p:txBody>
      </p:sp>
      <p:sp>
        <p:nvSpPr>
          <p:cNvPr id="21" name="Shape 19"/>
          <p:cNvSpPr/>
          <p:nvPr/>
        </p:nvSpPr>
        <p:spPr>
          <a:xfrm>
            <a:off x="274320" y="6236208"/>
            <a:ext cx="11704320" cy="320040"/>
          </a:xfrm>
          <a:prstGeom prst="rect">
            <a:avLst>
              <a:gd name="adj" fmla="val 22857"/>
            </a:avLst>
          </a:prstGeom>
          <a:solidFill>
            <a:srgbClr val="1A1A1A"/>
          </a:solidFill>
          <a:ln w="19050">
            <a:solidFill>
              <a:srgbClr val="C0392B"/>
            </a:solidFill>
            <a:prstDash val="solid"/>
          </a:ln>
        </p:spPr>
      </p:sp>
      <p:sp>
        <p:nvSpPr>
          <p:cNvPr id="22" name="Text 20"/>
          <p:cNvSpPr/>
          <p:nvPr/>
        </p:nvSpPr>
        <p:spPr>
          <a:xfrm>
            <a:off x="457200" y="6254496"/>
            <a:ext cx="11338560" cy="256032"/>
          </a:xfrm>
          <a:prstGeom prst="rect">
            <a:avLst/>
          </a:prstGeom>
          <a:noFill/>
          <a:ln/>
        </p:spPr>
        <p:txBody>
          <a:bodyPr wrap="square" rtlCol="0" anchor="ctr"/>
          <a:lstStyle/>
          <a:p>
            <a:pPr indent="0" marL="0">
              <a:buNone/>
            </a:pPr>
            <a:r>
              <a:rPr lang="en-US" sz="1000" dirty="0">
                <a:solidFill>
                  <a:srgbClr val="F39C12"/>
                </a:solidFill>
                <a:latin typeface="Calibri" pitchFamily="34" charset="0"/>
                <a:ea typeface="Calibri" pitchFamily="34" charset="-122"/>
                <a:cs typeface="Calibri" pitchFamily="34" charset="-120"/>
              </a:rPr>
              <a:t>🚀  Roadmap scalabilité : Kubernetes (CKA) → Load Balancer → Multi-instances → SLA 99,9%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000"/>
        </a:solidFill>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sp>
      <p:sp>
        <p:nvSpPr>
          <p:cNvPr id="3" name="Text 1"/>
          <p:cNvSpPr/>
          <p:nvPr/>
        </p:nvSpPr>
        <p:spPr>
          <a:xfrm>
            <a:off x="0" y="1828800"/>
            <a:ext cx="12192000" cy="640080"/>
          </a:xfrm>
          <a:prstGeom prst="rect">
            <a:avLst/>
          </a:prstGeom>
          <a:noFill/>
          <a:ln/>
        </p:spPr>
        <p:txBody>
          <a:bodyPr wrap="square" rtlCol="0" anchor="ctr"/>
          <a:lstStyle/>
          <a:p>
            <a:pPr algn="ctr" indent="0" marL="0">
              <a:buNone/>
            </a:pPr>
            <a:r>
              <a:rPr lang="en-US" sz="1400" b="1" spc="600" kern="0" dirty="0">
                <a:solidFill>
                  <a:srgbClr val="E74C3C"/>
                </a:solidFill>
                <a:latin typeface="Calibri" pitchFamily="34" charset="0"/>
                <a:ea typeface="Calibri" pitchFamily="34" charset="-122"/>
                <a:cs typeface="Calibri" pitchFamily="34" charset="-120"/>
              </a:rPr>
              <a:t>PARTIE 3</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algn="ctr" indent="0" marL="0">
              <a:buNone/>
            </a:pPr>
            <a:r>
              <a:rPr lang="en-US" sz="5000" b="1" dirty="0">
                <a:solidFill>
                  <a:srgbClr val="F0F0F0"/>
                </a:solidFill>
                <a:latin typeface="Georgia" pitchFamily="34" charset="0"/>
                <a:ea typeface="Georgia" pitchFamily="34" charset="-122"/>
                <a:cs typeface="Georgia" pitchFamily="34" charset="-120"/>
              </a:rPr>
              <a:t>Sécurité &amp; Remédiation</a:t>
            </a:r>
            <a:endParaRPr lang="en-US" sz="5000" dirty="0"/>
          </a:p>
        </p:txBody>
      </p:sp>
      <p:sp>
        <p:nvSpPr>
          <p:cNvPr id="5" name="Text 3"/>
          <p:cNvSpPr/>
          <p:nvPr/>
        </p:nvSpPr>
        <p:spPr>
          <a:xfrm>
            <a:off x="0" y="4023360"/>
            <a:ext cx="12192000" cy="457200"/>
          </a:xfrm>
          <a:prstGeom prst="rect">
            <a:avLst/>
          </a:prstGeom>
          <a:noFill/>
          <a:ln/>
        </p:spPr>
        <p:txBody>
          <a:bodyPr wrap="square" rtlCol="0" anchor="ctr"/>
          <a:lstStyle/>
          <a:p>
            <a:pPr algn="ctr" indent="0" marL="0">
              <a:buNone/>
            </a:pPr>
            <a:r>
              <a:rPr lang="en-US" sz="1400" i="1" dirty="0">
                <a:solidFill>
                  <a:srgbClr val="B2B2B2"/>
                </a:solidFill>
                <a:latin typeface="Calibri" pitchFamily="34" charset="0"/>
                <a:ea typeface="Calibri" pitchFamily="34" charset="-122"/>
                <a:cs typeface="Calibri" pitchFamily="34" charset="-120"/>
              </a:rPr>
              <a:t>OWASP Top 10 · Plan de remédiation · Mesures préventives v2</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16</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ANALYSE SECURITE — OWASP TOP 10</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7 vulnérabilités identifiées en v1</a:t>
            </a:r>
            <a:endParaRPr lang="en-US" sz="3400" dirty="0"/>
          </a:p>
        </p:txBody>
      </p:sp>
      <p:sp>
        <p:nvSpPr>
          <p:cNvPr id="9" name="Shape 7"/>
          <p:cNvSpPr/>
          <p:nvPr/>
        </p:nvSpPr>
        <p:spPr>
          <a:xfrm>
            <a:off x="274320" y="2606040"/>
            <a:ext cx="8686800" cy="457200"/>
          </a:xfrm>
          <a:prstGeom prst="rect">
            <a:avLst/>
          </a:prstGeom>
          <a:solidFill>
            <a:srgbClr val="1A1A2E"/>
          </a:solidFill>
          <a:ln w="12700">
            <a:solidFill>
              <a:srgbClr val="2A2A3E"/>
            </a:solidFill>
            <a:prstDash val="solid"/>
          </a:ln>
        </p:spPr>
      </p:sp>
      <p:sp>
        <p:nvSpPr>
          <p:cNvPr id="10" name="Text 8"/>
          <p:cNvSpPr/>
          <p:nvPr/>
        </p:nvSpPr>
        <p:spPr>
          <a:xfrm>
            <a:off x="411480" y="2651760"/>
            <a:ext cx="731520" cy="365760"/>
          </a:xfrm>
          <a:prstGeom prst="rect">
            <a:avLst/>
          </a:prstGeom>
          <a:noFill/>
          <a:ln/>
        </p:spPr>
        <p:txBody>
          <a:bodyPr wrap="square"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V-01</a:t>
            </a:r>
            <a:endParaRPr lang="en-US" sz="1000" dirty="0"/>
          </a:p>
        </p:txBody>
      </p:sp>
      <p:sp>
        <p:nvSpPr>
          <p:cNvPr id="11" name="Text 9"/>
          <p:cNvSpPr/>
          <p:nvPr/>
        </p:nvSpPr>
        <p:spPr>
          <a:xfrm>
            <a:off x="1188720" y="2651760"/>
            <a:ext cx="6400800" cy="36576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access_control: [] en dev</a:t>
            </a:r>
            <a:endParaRPr lang="en-US" sz="1100" dirty="0"/>
          </a:p>
        </p:txBody>
      </p:sp>
      <p:sp>
        <p:nvSpPr>
          <p:cNvPr id="12" name="Shape 10"/>
          <p:cNvSpPr/>
          <p:nvPr/>
        </p:nvSpPr>
        <p:spPr>
          <a:xfrm>
            <a:off x="9144000" y="2670048"/>
            <a:ext cx="2560320" cy="320040"/>
          </a:xfrm>
          <a:prstGeom prst="rect">
            <a:avLst/>
          </a:prstGeom>
          <a:solidFill>
            <a:srgbClr val="0D0D0D"/>
          </a:solidFill>
          <a:ln w="19050">
            <a:solidFill>
              <a:srgbClr val="E74C3C"/>
            </a:solidFill>
            <a:prstDash val="solid"/>
          </a:ln>
        </p:spPr>
      </p:sp>
      <p:sp>
        <p:nvSpPr>
          <p:cNvPr id="13" name="Text 11"/>
          <p:cNvSpPr/>
          <p:nvPr/>
        </p:nvSpPr>
        <p:spPr>
          <a:xfrm>
            <a:off x="9144000" y="2670048"/>
            <a:ext cx="2560320" cy="320040"/>
          </a:xfrm>
          <a:prstGeom prst="rect">
            <a:avLst/>
          </a:prstGeom>
          <a:noFill/>
          <a:ln/>
        </p:spPr>
        <p:txBody>
          <a:bodyPr wrap="square" rtlCol="0" anchor="ctr"/>
          <a:lstStyle/>
          <a:p>
            <a:pPr algn="ctr" indent="0" marL="0">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14" name="Shape 12"/>
          <p:cNvSpPr/>
          <p:nvPr/>
        </p:nvSpPr>
        <p:spPr>
          <a:xfrm>
            <a:off x="274320" y="3163824"/>
            <a:ext cx="8686800" cy="457200"/>
          </a:xfrm>
          <a:prstGeom prst="rect">
            <a:avLst/>
          </a:prstGeom>
          <a:solidFill>
            <a:srgbClr val="1A1A2E"/>
          </a:solidFill>
          <a:ln w="12700">
            <a:solidFill>
              <a:srgbClr val="2A2A3E"/>
            </a:solidFill>
            <a:prstDash val="solid"/>
          </a:ln>
        </p:spPr>
      </p:sp>
      <p:sp>
        <p:nvSpPr>
          <p:cNvPr id="15" name="Text 13"/>
          <p:cNvSpPr/>
          <p:nvPr/>
        </p:nvSpPr>
        <p:spPr>
          <a:xfrm>
            <a:off x="411480" y="3209544"/>
            <a:ext cx="731520" cy="365760"/>
          </a:xfrm>
          <a:prstGeom prst="rect">
            <a:avLst/>
          </a:prstGeom>
          <a:noFill/>
          <a:ln/>
        </p:spPr>
        <p:txBody>
          <a:bodyPr wrap="square" rtlCol="0" anchor="ctr"/>
          <a:lstStyle/>
          <a:p>
            <a:pPr indent="0" marL="0">
              <a:buNone/>
            </a:pPr>
            <a:r>
              <a:rPr lang="en-US" sz="1000" b="1" dirty="0">
                <a:solidFill>
                  <a:srgbClr val="E67E22"/>
                </a:solidFill>
                <a:latin typeface="Calibri" pitchFamily="34" charset="0"/>
                <a:ea typeface="Calibri" pitchFamily="34" charset="-122"/>
                <a:cs typeface="Calibri" pitchFamily="34" charset="-120"/>
              </a:rPr>
              <a:t>V-02</a:t>
            </a:r>
            <a:endParaRPr lang="en-US" sz="1000" dirty="0"/>
          </a:p>
        </p:txBody>
      </p:sp>
      <p:sp>
        <p:nvSpPr>
          <p:cNvPr id="16" name="Text 14"/>
          <p:cNvSpPr/>
          <p:nvPr/>
        </p:nvSpPr>
        <p:spPr>
          <a:xfrm>
            <a:off x="1188720" y="3209544"/>
            <a:ext cx="6400800" cy="36576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SQLite sans chiffrement en prod</a:t>
            </a:r>
            <a:endParaRPr lang="en-US" sz="1100" dirty="0"/>
          </a:p>
        </p:txBody>
      </p:sp>
      <p:sp>
        <p:nvSpPr>
          <p:cNvPr id="17" name="Shape 15"/>
          <p:cNvSpPr/>
          <p:nvPr/>
        </p:nvSpPr>
        <p:spPr>
          <a:xfrm>
            <a:off x="9144000" y="3227832"/>
            <a:ext cx="2560320" cy="320040"/>
          </a:xfrm>
          <a:prstGeom prst="rect">
            <a:avLst/>
          </a:prstGeom>
          <a:solidFill>
            <a:srgbClr val="0D0D0D"/>
          </a:solidFill>
          <a:ln w="19050">
            <a:solidFill>
              <a:srgbClr val="E67E22"/>
            </a:solidFill>
            <a:prstDash val="solid"/>
          </a:ln>
        </p:spPr>
      </p:sp>
      <p:sp>
        <p:nvSpPr>
          <p:cNvPr id="18" name="Text 16"/>
          <p:cNvSpPr/>
          <p:nvPr/>
        </p:nvSpPr>
        <p:spPr>
          <a:xfrm>
            <a:off x="9144000" y="3227832"/>
            <a:ext cx="2560320" cy="320040"/>
          </a:xfrm>
          <a:prstGeom prst="rect">
            <a:avLst/>
          </a:prstGeom>
          <a:noFill/>
          <a:ln/>
        </p:spPr>
        <p:txBody>
          <a:bodyPr wrap="square" rtlCol="0" anchor="ctr"/>
          <a:lstStyle/>
          <a:p>
            <a:pPr algn="ctr" indent="0" marL="0">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19" name="Shape 17"/>
          <p:cNvSpPr/>
          <p:nvPr/>
        </p:nvSpPr>
        <p:spPr>
          <a:xfrm>
            <a:off x="274320" y="3721608"/>
            <a:ext cx="8686800" cy="457200"/>
          </a:xfrm>
          <a:prstGeom prst="rect">
            <a:avLst/>
          </a:prstGeom>
          <a:solidFill>
            <a:srgbClr val="1A1A2E"/>
          </a:solidFill>
          <a:ln w="12700">
            <a:solidFill>
              <a:srgbClr val="2A2A3E"/>
            </a:solidFill>
            <a:prstDash val="solid"/>
          </a:ln>
        </p:spPr>
      </p:sp>
      <p:sp>
        <p:nvSpPr>
          <p:cNvPr id="20" name="Text 18"/>
          <p:cNvSpPr/>
          <p:nvPr/>
        </p:nvSpPr>
        <p:spPr>
          <a:xfrm>
            <a:off x="411480" y="3767328"/>
            <a:ext cx="731520" cy="365760"/>
          </a:xfrm>
          <a:prstGeom prst="rect">
            <a:avLst/>
          </a:prstGeom>
          <a:noFill/>
          <a:ln/>
        </p:spPr>
        <p:txBody>
          <a:bodyPr wrap="square" rtlCol="0" anchor="ctr"/>
          <a:lstStyle/>
          <a:p>
            <a:pPr indent="0" marL="0">
              <a:buNone/>
            </a:pPr>
            <a:r>
              <a:rPr lang="en-US" sz="1000" b="1" dirty="0">
                <a:solidFill>
                  <a:srgbClr val="E74C3C"/>
                </a:solidFill>
                <a:latin typeface="Calibri" pitchFamily="34" charset="0"/>
                <a:ea typeface="Calibri" pitchFamily="34" charset="-122"/>
                <a:cs typeface="Calibri" pitchFamily="34" charset="-120"/>
              </a:rPr>
              <a:t>V-03</a:t>
            </a:r>
            <a:endParaRPr lang="en-US" sz="1000" dirty="0"/>
          </a:p>
        </p:txBody>
      </p:sp>
      <p:sp>
        <p:nvSpPr>
          <p:cNvPr id="21" name="Text 19"/>
          <p:cNvSpPr/>
          <p:nvPr/>
        </p:nvSpPr>
        <p:spPr>
          <a:xfrm>
            <a:off x="1188720" y="3767328"/>
            <a:ext cx="6400800" cy="36576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APP_SECRET potentiellement exposé</a:t>
            </a:r>
            <a:endParaRPr lang="en-US" sz="1100" dirty="0"/>
          </a:p>
        </p:txBody>
      </p:sp>
      <p:sp>
        <p:nvSpPr>
          <p:cNvPr id="22" name="Shape 20"/>
          <p:cNvSpPr/>
          <p:nvPr/>
        </p:nvSpPr>
        <p:spPr>
          <a:xfrm>
            <a:off x="9144000" y="3785616"/>
            <a:ext cx="2560320" cy="320040"/>
          </a:xfrm>
          <a:prstGeom prst="rect">
            <a:avLst/>
          </a:prstGeom>
          <a:solidFill>
            <a:srgbClr val="0D0D0D"/>
          </a:solidFill>
          <a:ln w="19050">
            <a:solidFill>
              <a:srgbClr val="E74C3C"/>
            </a:solidFill>
            <a:prstDash val="solid"/>
          </a:ln>
        </p:spPr>
      </p:sp>
      <p:sp>
        <p:nvSpPr>
          <p:cNvPr id="23" name="Text 21"/>
          <p:cNvSpPr/>
          <p:nvPr/>
        </p:nvSpPr>
        <p:spPr>
          <a:xfrm>
            <a:off x="9144000" y="3785616"/>
            <a:ext cx="2560320" cy="320040"/>
          </a:xfrm>
          <a:prstGeom prst="rect">
            <a:avLst/>
          </a:prstGeom>
          <a:noFill/>
          <a:ln/>
        </p:spPr>
        <p:txBody>
          <a:bodyPr wrap="square" rtlCol="0" anchor="ctr"/>
          <a:lstStyle/>
          <a:p>
            <a:pPr algn="ctr" indent="0" marL="0">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24" name="Shape 22"/>
          <p:cNvSpPr/>
          <p:nvPr/>
        </p:nvSpPr>
        <p:spPr>
          <a:xfrm>
            <a:off x="274320" y="4279392"/>
            <a:ext cx="8686800" cy="457200"/>
          </a:xfrm>
          <a:prstGeom prst="rect">
            <a:avLst/>
          </a:prstGeom>
          <a:solidFill>
            <a:srgbClr val="1A1A2E"/>
          </a:solidFill>
          <a:ln w="12700">
            <a:solidFill>
              <a:srgbClr val="2A2A3E"/>
            </a:solidFill>
            <a:prstDash val="solid"/>
          </a:ln>
        </p:spPr>
      </p:sp>
      <p:sp>
        <p:nvSpPr>
          <p:cNvPr id="25" name="Text 23"/>
          <p:cNvSpPr/>
          <p:nvPr/>
        </p:nvSpPr>
        <p:spPr>
          <a:xfrm>
            <a:off x="411480" y="4325112"/>
            <a:ext cx="731520" cy="365760"/>
          </a:xfrm>
          <a:prstGeom prst="rect">
            <a:avLst/>
          </a:prstGeom>
          <a:noFill/>
          <a:ln/>
        </p:spPr>
        <p:txBody>
          <a:bodyPr wrap="square" rtlCol="0" anchor="ctr"/>
          <a:lstStyle/>
          <a:p>
            <a:pPr indent="0" marL="0">
              <a:buNone/>
            </a:pPr>
            <a:r>
              <a:rPr lang="en-US" sz="1000" b="1" dirty="0">
                <a:solidFill>
                  <a:srgbClr val="E67E22"/>
                </a:solidFill>
                <a:latin typeface="Calibri" pitchFamily="34" charset="0"/>
                <a:ea typeface="Calibri" pitchFamily="34" charset="-122"/>
                <a:cs typeface="Calibri" pitchFamily="34" charset="-120"/>
              </a:rPr>
              <a:t>V-04</a:t>
            </a:r>
            <a:endParaRPr lang="en-US" sz="1000" dirty="0"/>
          </a:p>
        </p:txBody>
      </p:sp>
      <p:sp>
        <p:nvSpPr>
          <p:cNvPr id="26" name="Text 24"/>
          <p:cNvSpPr/>
          <p:nvPr/>
        </p:nvSpPr>
        <p:spPr>
          <a:xfrm>
            <a:off x="1188720" y="4325112"/>
            <a:ext cx="6400800" cy="36576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Pas de rate limiting sur /api/*</a:t>
            </a:r>
            <a:endParaRPr lang="en-US" sz="1100" dirty="0"/>
          </a:p>
        </p:txBody>
      </p:sp>
      <p:sp>
        <p:nvSpPr>
          <p:cNvPr id="27" name="Shape 25"/>
          <p:cNvSpPr/>
          <p:nvPr/>
        </p:nvSpPr>
        <p:spPr>
          <a:xfrm>
            <a:off x="9144000" y="4343400"/>
            <a:ext cx="2560320" cy="320040"/>
          </a:xfrm>
          <a:prstGeom prst="rect">
            <a:avLst/>
          </a:prstGeom>
          <a:solidFill>
            <a:srgbClr val="0D0D0D"/>
          </a:solidFill>
          <a:ln w="19050">
            <a:solidFill>
              <a:srgbClr val="E67E22"/>
            </a:solidFill>
            <a:prstDash val="solid"/>
          </a:ln>
        </p:spPr>
      </p:sp>
      <p:sp>
        <p:nvSpPr>
          <p:cNvPr id="28" name="Text 26"/>
          <p:cNvSpPr/>
          <p:nvPr/>
        </p:nvSpPr>
        <p:spPr>
          <a:xfrm>
            <a:off x="9144000" y="4343400"/>
            <a:ext cx="2560320" cy="320040"/>
          </a:xfrm>
          <a:prstGeom prst="rect">
            <a:avLst/>
          </a:prstGeom>
          <a:noFill/>
          <a:ln/>
        </p:spPr>
        <p:txBody>
          <a:bodyPr wrap="square" rtlCol="0" anchor="ctr"/>
          <a:lstStyle/>
          <a:p>
            <a:pPr algn="ctr" indent="0" marL="0">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29" name="Shape 27"/>
          <p:cNvSpPr/>
          <p:nvPr/>
        </p:nvSpPr>
        <p:spPr>
          <a:xfrm>
            <a:off x="274320" y="4837176"/>
            <a:ext cx="8686800" cy="457200"/>
          </a:xfrm>
          <a:prstGeom prst="rect">
            <a:avLst/>
          </a:prstGeom>
          <a:solidFill>
            <a:srgbClr val="1A1A2E"/>
          </a:solidFill>
          <a:ln w="12700">
            <a:solidFill>
              <a:srgbClr val="2A2A3E"/>
            </a:solidFill>
            <a:prstDash val="solid"/>
          </a:ln>
        </p:spPr>
      </p:sp>
      <p:sp>
        <p:nvSpPr>
          <p:cNvPr id="30" name="Text 28"/>
          <p:cNvSpPr/>
          <p:nvPr/>
        </p:nvSpPr>
        <p:spPr>
          <a:xfrm>
            <a:off x="411480" y="4882896"/>
            <a:ext cx="731520" cy="365760"/>
          </a:xfrm>
          <a:prstGeom prst="rect">
            <a:avLst/>
          </a:prstGeom>
          <a:noFill/>
          <a:ln/>
        </p:spPr>
        <p:txBody>
          <a:bodyPr wrap="square" rtlCol="0" anchor="ctr"/>
          <a:lstStyle/>
          <a:p>
            <a:pPr indent="0" marL="0">
              <a:buNone/>
            </a:pPr>
            <a:r>
              <a:rPr lang="en-US" sz="1000" b="1" dirty="0">
                <a:solidFill>
                  <a:srgbClr val="F39C12"/>
                </a:solidFill>
                <a:latin typeface="Calibri" pitchFamily="34" charset="0"/>
                <a:ea typeface="Calibri" pitchFamily="34" charset="-122"/>
                <a:cs typeface="Calibri" pitchFamily="34" charset="-120"/>
              </a:rPr>
              <a:t>V-05</a:t>
            </a:r>
            <a:endParaRPr lang="en-US" sz="1000" dirty="0"/>
          </a:p>
        </p:txBody>
      </p:sp>
      <p:sp>
        <p:nvSpPr>
          <p:cNvPr id="31" name="Text 29"/>
          <p:cNvSpPr/>
          <p:nvPr/>
        </p:nvSpPr>
        <p:spPr>
          <a:xfrm>
            <a:off x="1188720" y="4882896"/>
            <a:ext cx="6400800" cy="36576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Headers CSP / HSTS absents</a:t>
            </a:r>
            <a:endParaRPr lang="en-US" sz="1100" dirty="0"/>
          </a:p>
        </p:txBody>
      </p:sp>
      <p:sp>
        <p:nvSpPr>
          <p:cNvPr id="32" name="Shape 30"/>
          <p:cNvSpPr/>
          <p:nvPr/>
        </p:nvSpPr>
        <p:spPr>
          <a:xfrm>
            <a:off x="9144000" y="4901184"/>
            <a:ext cx="2560320" cy="320040"/>
          </a:xfrm>
          <a:prstGeom prst="rect">
            <a:avLst/>
          </a:prstGeom>
          <a:solidFill>
            <a:srgbClr val="0D0D0D"/>
          </a:solidFill>
          <a:ln w="19050">
            <a:solidFill>
              <a:srgbClr val="F39C12"/>
            </a:solidFill>
            <a:prstDash val="solid"/>
          </a:ln>
        </p:spPr>
      </p:sp>
      <p:sp>
        <p:nvSpPr>
          <p:cNvPr id="33" name="Text 31"/>
          <p:cNvSpPr/>
          <p:nvPr/>
        </p:nvSpPr>
        <p:spPr>
          <a:xfrm>
            <a:off x="9144000" y="4901184"/>
            <a:ext cx="2560320" cy="320040"/>
          </a:xfrm>
          <a:prstGeom prst="rect">
            <a:avLst/>
          </a:prstGeom>
          <a:noFill/>
          <a:ln/>
        </p:spPr>
        <p:txBody>
          <a:bodyPr wrap="square" rtlCol="0" anchor="ctr"/>
          <a:lstStyle/>
          <a:p>
            <a:pPr algn="ctr" indent="0" marL="0">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4" name="Shape 32"/>
          <p:cNvSpPr/>
          <p:nvPr/>
        </p:nvSpPr>
        <p:spPr>
          <a:xfrm>
            <a:off x="274320" y="5394960"/>
            <a:ext cx="8686800" cy="457200"/>
          </a:xfrm>
          <a:prstGeom prst="rect">
            <a:avLst/>
          </a:prstGeom>
          <a:solidFill>
            <a:srgbClr val="1A1A2E"/>
          </a:solidFill>
          <a:ln w="12700">
            <a:solidFill>
              <a:srgbClr val="2A2A3E"/>
            </a:solidFill>
            <a:prstDash val="solid"/>
          </a:ln>
        </p:spPr>
      </p:sp>
      <p:sp>
        <p:nvSpPr>
          <p:cNvPr id="35" name="Text 33"/>
          <p:cNvSpPr/>
          <p:nvPr/>
        </p:nvSpPr>
        <p:spPr>
          <a:xfrm>
            <a:off x="411480" y="5440680"/>
            <a:ext cx="731520" cy="365760"/>
          </a:xfrm>
          <a:prstGeom prst="rect">
            <a:avLst/>
          </a:prstGeom>
          <a:noFill/>
          <a:ln/>
        </p:spPr>
        <p:txBody>
          <a:bodyPr wrap="square" rtlCol="0" anchor="ctr"/>
          <a:lstStyle/>
          <a:p>
            <a:pPr indent="0" marL="0">
              <a:buNone/>
            </a:pPr>
            <a:r>
              <a:rPr lang="en-US" sz="1000" b="1" dirty="0">
                <a:solidFill>
                  <a:srgbClr val="F39C12"/>
                </a:solidFill>
                <a:latin typeface="Calibri" pitchFamily="34" charset="0"/>
                <a:ea typeface="Calibri" pitchFamily="34" charset="-122"/>
                <a:cs typeface="Calibri" pitchFamily="34" charset="-120"/>
              </a:rPr>
              <a:t>V-06</a:t>
            </a:r>
            <a:endParaRPr lang="en-US" sz="1000" dirty="0"/>
          </a:p>
        </p:txBody>
      </p:sp>
      <p:sp>
        <p:nvSpPr>
          <p:cNvPr id="36" name="Text 34"/>
          <p:cNvSpPr/>
          <p:nvPr/>
        </p:nvSpPr>
        <p:spPr>
          <a:xfrm>
            <a:off x="1188720" y="5440680"/>
            <a:ext cx="6400800" cy="36576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Logs sans anonymisation RGPD</a:t>
            </a:r>
            <a:endParaRPr lang="en-US" sz="1100" dirty="0"/>
          </a:p>
        </p:txBody>
      </p:sp>
      <p:sp>
        <p:nvSpPr>
          <p:cNvPr id="37" name="Shape 35"/>
          <p:cNvSpPr/>
          <p:nvPr/>
        </p:nvSpPr>
        <p:spPr>
          <a:xfrm>
            <a:off x="9144000" y="5458968"/>
            <a:ext cx="2560320" cy="320040"/>
          </a:xfrm>
          <a:prstGeom prst="rect">
            <a:avLst/>
          </a:prstGeom>
          <a:solidFill>
            <a:srgbClr val="0D0D0D"/>
          </a:solidFill>
          <a:ln w="19050">
            <a:solidFill>
              <a:srgbClr val="F39C12"/>
            </a:solidFill>
            <a:prstDash val="solid"/>
          </a:ln>
        </p:spPr>
      </p:sp>
      <p:sp>
        <p:nvSpPr>
          <p:cNvPr id="38" name="Text 36"/>
          <p:cNvSpPr/>
          <p:nvPr/>
        </p:nvSpPr>
        <p:spPr>
          <a:xfrm>
            <a:off x="9144000" y="5458968"/>
            <a:ext cx="2560320" cy="320040"/>
          </a:xfrm>
          <a:prstGeom prst="rect">
            <a:avLst/>
          </a:prstGeom>
          <a:noFill/>
          <a:ln/>
        </p:spPr>
        <p:txBody>
          <a:bodyPr wrap="square" rtlCol="0" anchor="ctr"/>
          <a:lstStyle/>
          <a:p>
            <a:pPr algn="ctr" indent="0" marL="0">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9" name="Shape 37"/>
          <p:cNvSpPr/>
          <p:nvPr/>
        </p:nvSpPr>
        <p:spPr>
          <a:xfrm>
            <a:off x="274320" y="5952744"/>
            <a:ext cx="8686800" cy="457200"/>
          </a:xfrm>
          <a:prstGeom prst="rect">
            <a:avLst/>
          </a:prstGeom>
          <a:solidFill>
            <a:srgbClr val="1A1A2E"/>
          </a:solidFill>
          <a:ln w="12700">
            <a:solidFill>
              <a:srgbClr val="2A2A3E"/>
            </a:solidFill>
            <a:prstDash val="solid"/>
          </a:ln>
        </p:spPr>
      </p:sp>
      <p:sp>
        <p:nvSpPr>
          <p:cNvPr id="40" name="Text 38"/>
          <p:cNvSpPr/>
          <p:nvPr/>
        </p:nvSpPr>
        <p:spPr>
          <a:xfrm>
            <a:off x="411480" y="5998464"/>
            <a:ext cx="731520" cy="365760"/>
          </a:xfrm>
          <a:prstGeom prst="rect">
            <a:avLst/>
          </a:prstGeom>
          <a:noFill/>
          <a:ln/>
        </p:spPr>
        <p:txBody>
          <a:bodyPr wrap="square" rtlCol="0" anchor="ctr"/>
          <a:lstStyle/>
          <a:p>
            <a:pPr indent="0" marL="0">
              <a:buNone/>
            </a:pPr>
            <a:r>
              <a:rPr lang="en-US" sz="1000" b="1" dirty="0">
                <a:solidFill>
                  <a:srgbClr val="B2B2B2"/>
                </a:solidFill>
                <a:latin typeface="Calibri" pitchFamily="34" charset="0"/>
                <a:ea typeface="Calibri" pitchFamily="34" charset="-122"/>
                <a:cs typeface="Calibri" pitchFamily="34" charset="-120"/>
              </a:rPr>
              <a:t>V-07</a:t>
            </a:r>
            <a:endParaRPr lang="en-US" sz="1000" dirty="0"/>
          </a:p>
        </p:txBody>
      </p:sp>
      <p:sp>
        <p:nvSpPr>
          <p:cNvPr id="41" name="Text 39"/>
          <p:cNvSpPr/>
          <p:nvPr/>
        </p:nvSpPr>
        <p:spPr>
          <a:xfrm>
            <a:off x="1188720" y="5998464"/>
            <a:ext cx="6400800" cy="36576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Image Docker php:8.2-apache (large)</a:t>
            </a:r>
            <a:endParaRPr lang="en-US" sz="1100" dirty="0"/>
          </a:p>
        </p:txBody>
      </p:sp>
      <p:sp>
        <p:nvSpPr>
          <p:cNvPr id="42" name="Shape 40"/>
          <p:cNvSpPr/>
          <p:nvPr/>
        </p:nvSpPr>
        <p:spPr>
          <a:xfrm>
            <a:off x="9144000" y="6016752"/>
            <a:ext cx="2560320" cy="320040"/>
          </a:xfrm>
          <a:prstGeom prst="rect">
            <a:avLst/>
          </a:prstGeom>
          <a:solidFill>
            <a:srgbClr val="0D0D0D"/>
          </a:solidFill>
          <a:ln w="19050">
            <a:solidFill>
              <a:srgbClr val="B2B2B2"/>
            </a:solidFill>
            <a:prstDash val="solid"/>
          </a:ln>
        </p:spPr>
      </p:sp>
      <p:sp>
        <p:nvSpPr>
          <p:cNvPr id="43" name="Text 41"/>
          <p:cNvSpPr/>
          <p:nvPr/>
        </p:nvSpPr>
        <p:spPr>
          <a:xfrm>
            <a:off x="9144000" y="6016752"/>
            <a:ext cx="2560320" cy="320040"/>
          </a:xfrm>
          <a:prstGeom prst="rect">
            <a:avLst/>
          </a:prstGeom>
          <a:noFill/>
          <a:ln/>
        </p:spPr>
        <p:txBody>
          <a:bodyPr wrap="square" rtlCol="0" anchor="ctr"/>
          <a:lstStyle/>
          <a:p>
            <a:pPr algn="ctr" indent="0" marL="0">
              <a:buNone/>
            </a:pPr>
            <a:r>
              <a:rPr lang="en-US" sz="900" b="1" dirty="0">
                <a:solidFill>
                  <a:srgbClr val="B2B2B2"/>
                </a:solidFill>
                <a:latin typeface="Calibri" pitchFamily="34" charset="0"/>
                <a:ea typeface="Calibri" pitchFamily="34" charset="-122"/>
                <a:cs typeface="Calibri" pitchFamily="34" charset="-120"/>
              </a:rPr>
              <a:t>BASSE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17</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PLAN DE REMEDIATION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3 sprints — du critique au préventif</a:t>
            </a:r>
            <a:endParaRPr lang="en-US" sz="3400" dirty="0"/>
          </a:p>
        </p:txBody>
      </p:sp>
      <p:sp>
        <p:nvSpPr>
          <p:cNvPr id="9" name="Shape 7"/>
          <p:cNvSpPr/>
          <p:nvPr/>
        </p:nvSpPr>
        <p:spPr>
          <a:xfrm>
            <a:off x="365760" y="2743200"/>
            <a:ext cx="3657600" cy="3657600"/>
          </a:xfrm>
          <a:prstGeom prst="rect">
            <a:avLst>
              <a:gd name="adj" fmla="val 2000"/>
            </a:avLst>
          </a:prstGeom>
          <a:solidFill>
            <a:srgbClr val="2E1A1A"/>
          </a:solidFill>
          <a:ln w="19050">
            <a:solidFill>
              <a:srgbClr val="C0392B"/>
            </a:solidFill>
            <a:prstDash val="solid"/>
          </a:ln>
        </p:spPr>
      </p:sp>
      <p:sp>
        <p:nvSpPr>
          <p:cNvPr id="10" name="Text 8"/>
          <p:cNvSpPr/>
          <p:nvPr/>
        </p:nvSpPr>
        <p:spPr>
          <a:xfrm>
            <a:off x="502920" y="2834640"/>
            <a:ext cx="3383280" cy="640080"/>
          </a:xfrm>
          <a:prstGeom prst="rect">
            <a:avLst/>
          </a:prstGeom>
          <a:noFill/>
          <a:ln/>
        </p:spPr>
        <p:txBody>
          <a:bodyPr wrap="square" rtlCol="0" anchor="ctr"/>
          <a:lstStyle/>
          <a:p>
            <a:pPr algn="ctr" indent="0" marL="0">
              <a:buNone/>
            </a:pPr>
            <a:r>
              <a:rPr lang="en-US" sz="1400" b="1" dirty="0">
                <a:solidFill>
                  <a:srgbClr val="F0F0F0"/>
                </a:solidFill>
                <a:latin typeface="Georgia" pitchFamily="34" charset="0"/>
                <a:ea typeface="Georgia" pitchFamily="34" charset="-122"/>
                <a:cs typeface="Georgia" pitchFamily="34" charset="-120"/>
              </a:rPr>
              <a:t>Sprint 1</a:t>
            </a:r>
            <a:endParaRPr lang="en-US" sz="1400" dirty="0"/>
          </a:p>
          <a:p>
            <a:pPr algn="ctr" indent="0" marL="0">
              <a:buNone/>
            </a:pPr>
            <a:r>
              <a:rPr lang="en-US" sz="1400" b="1" dirty="0">
                <a:solidFill>
                  <a:srgbClr val="F0F0F0"/>
                </a:solidFill>
                <a:latin typeface="Georgia" pitchFamily="34" charset="0"/>
                <a:ea typeface="Georgia" pitchFamily="34" charset="-122"/>
                <a:cs typeface="Georgia" pitchFamily="34" charset="-120"/>
              </a:rPr>
              <a:t>Immédiat</a:t>
            </a:r>
            <a:endParaRPr lang="en-US" sz="1400" dirty="0"/>
          </a:p>
        </p:txBody>
      </p:sp>
      <p:sp>
        <p:nvSpPr>
          <p:cNvPr id="11" name="Shape 9"/>
          <p:cNvSpPr/>
          <p:nvPr/>
        </p:nvSpPr>
        <p:spPr>
          <a:xfrm>
            <a:off x="822960" y="3520440"/>
            <a:ext cx="2743200" cy="45720"/>
          </a:xfrm>
          <a:prstGeom prst="rect">
            <a:avLst/>
          </a:prstGeom>
          <a:solidFill>
            <a:srgbClr val="C0392B"/>
          </a:solidFill>
          <a:ln/>
        </p:spPr>
      </p:sp>
      <p:sp>
        <p:nvSpPr>
          <p:cNvPr id="12" name="Text 10"/>
          <p:cNvSpPr/>
          <p:nvPr/>
        </p:nvSpPr>
        <p:spPr>
          <a:xfrm>
            <a:off x="548640" y="3611880"/>
            <a:ext cx="3291840" cy="2194560"/>
          </a:xfrm>
          <a:prstGeom prst="rect">
            <a:avLst/>
          </a:prstGeom>
          <a:noFill/>
          <a:ln/>
        </p:spPr>
        <p:txBody>
          <a:bodyPr wrap="square" rtlCol="0" anchor="ctr"/>
          <a:lstStyle/>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Activer access_control en prod</a:t>
            </a:r>
            <a:endParaRPr lang="en-US" sz="1200" dirty="0"/>
          </a:p>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Secrets via GitHub Secrets / Vault</a:t>
            </a:r>
            <a:endParaRPr lang="en-US" sz="1200" dirty="0"/>
          </a:p>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Migrer vers PostgreSQL</a:t>
            </a:r>
            <a:endParaRPr lang="en-US" sz="1200" dirty="0"/>
          </a:p>
        </p:txBody>
      </p:sp>
      <p:sp>
        <p:nvSpPr>
          <p:cNvPr id="13" name="Shape 11"/>
          <p:cNvSpPr/>
          <p:nvPr/>
        </p:nvSpPr>
        <p:spPr>
          <a:xfrm>
            <a:off x="640080" y="5897880"/>
            <a:ext cx="3108960" cy="347472"/>
          </a:xfrm>
          <a:prstGeom prst="rect">
            <a:avLst/>
          </a:prstGeom>
          <a:solidFill>
            <a:srgbClr val="0A0A0A"/>
          </a:solidFill>
          <a:ln w="19050">
            <a:solidFill>
              <a:srgbClr val="27AE60"/>
            </a:solidFill>
            <a:prstDash val="solid"/>
          </a:ln>
        </p:spPr>
      </p:sp>
      <p:sp>
        <p:nvSpPr>
          <p:cNvPr id="14" name="Text 12"/>
          <p:cNvSpPr/>
          <p:nvPr/>
        </p:nvSpPr>
        <p:spPr>
          <a:xfrm>
            <a:off x="640080" y="5897880"/>
            <a:ext cx="3108960" cy="347472"/>
          </a:xfrm>
          <a:prstGeom prst="rect">
            <a:avLst/>
          </a:prstGeom>
          <a:noFill/>
          <a:ln/>
        </p:spPr>
        <p:txBody>
          <a:bodyPr wrap="square" rtlCol="0" anchor="ctr"/>
          <a:lstStyle/>
          <a:p>
            <a:pPr algn="ctr" indent="0" marL="0">
              <a:buNone/>
            </a:pPr>
            <a:r>
              <a:rPr lang="en-US" sz="1100" b="1" dirty="0">
                <a:solidFill>
                  <a:srgbClr val="27AE60"/>
                </a:solidFill>
                <a:latin typeface="Calibri" pitchFamily="34" charset="0"/>
                <a:ea typeface="Calibri" pitchFamily="34" charset="-122"/>
                <a:cs typeface="Calibri" pitchFamily="34" charset="-120"/>
              </a:rPr>
              <a:t>Critique → Résolu</a:t>
            </a:r>
            <a:endParaRPr lang="en-US" sz="1100" dirty="0"/>
          </a:p>
        </p:txBody>
      </p:sp>
      <p:sp>
        <p:nvSpPr>
          <p:cNvPr id="15" name="Shape 13"/>
          <p:cNvSpPr/>
          <p:nvPr/>
        </p:nvSpPr>
        <p:spPr>
          <a:xfrm>
            <a:off x="4297680" y="2743200"/>
            <a:ext cx="3657600" cy="3657600"/>
          </a:xfrm>
          <a:prstGeom prst="rect">
            <a:avLst>
              <a:gd name="adj" fmla="val 2000"/>
            </a:avLst>
          </a:prstGeom>
          <a:solidFill>
            <a:srgbClr val="2E2A1A"/>
          </a:solidFill>
          <a:ln w="19050">
            <a:solidFill>
              <a:srgbClr val="C0392B"/>
            </a:solidFill>
            <a:prstDash val="solid"/>
          </a:ln>
        </p:spPr>
      </p:sp>
      <p:sp>
        <p:nvSpPr>
          <p:cNvPr id="16" name="Text 14"/>
          <p:cNvSpPr/>
          <p:nvPr/>
        </p:nvSpPr>
        <p:spPr>
          <a:xfrm>
            <a:off x="4434840" y="2834640"/>
            <a:ext cx="3383280" cy="640080"/>
          </a:xfrm>
          <a:prstGeom prst="rect">
            <a:avLst/>
          </a:prstGeom>
          <a:noFill/>
          <a:ln/>
        </p:spPr>
        <p:txBody>
          <a:bodyPr wrap="square" rtlCol="0" anchor="ctr"/>
          <a:lstStyle/>
          <a:p>
            <a:pPr algn="ctr" indent="0" marL="0">
              <a:buNone/>
            </a:pPr>
            <a:r>
              <a:rPr lang="en-US" sz="1400" b="1" dirty="0">
                <a:solidFill>
                  <a:srgbClr val="F0F0F0"/>
                </a:solidFill>
                <a:latin typeface="Georgia" pitchFamily="34" charset="0"/>
                <a:ea typeface="Georgia" pitchFamily="34" charset="-122"/>
                <a:cs typeface="Georgia" pitchFamily="34" charset="-120"/>
              </a:rPr>
              <a:t>Sprint 2</a:t>
            </a:r>
            <a:endParaRPr lang="en-US" sz="1400" dirty="0"/>
          </a:p>
          <a:p>
            <a:pPr algn="ctr" indent="0" marL="0">
              <a:buNone/>
            </a:pPr>
            <a:r>
              <a:rPr lang="en-US" sz="1400" b="1" dirty="0">
                <a:solidFill>
                  <a:srgbClr val="F0F0F0"/>
                </a:solidFill>
                <a:latin typeface="Georgia" pitchFamily="34" charset="0"/>
                <a:ea typeface="Georgia" pitchFamily="34" charset="-122"/>
                <a:cs typeface="Georgia" pitchFamily="34" charset="-120"/>
              </a:rPr>
              <a:t>1 mois</a:t>
            </a:r>
            <a:endParaRPr lang="en-US" sz="1400" dirty="0"/>
          </a:p>
        </p:txBody>
      </p:sp>
      <p:sp>
        <p:nvSpPr>
          <p:cNvPr id="17" name="Shape 15"/>
          <p:cNvSpPr/>
          <p:nvPr/>
        </p:nvSpPr>
        <p:spPr>
          <a:xfrm>
            <a:off x="4754880" y="3520440"/>
            <a:ext cx="2743200" cy="45720"/>
          </a:xfrm>
          <a:prstGeom prst="rect">
            <a:avLst/>
          </a:prstGeom>
          <a:solidFill>
            <a:srgbClr val="C0392B"/>
          </a:solidFill>
          <a:ln/>
        </p:spPr>
      </p:sp>
      <p:sp>
        <p:nvSpPr>
          <p:cNvPr id="18" name="Text 16"/>
          <p:cNvSpPr/>
          <p:nvPr/>
        </p:nvSpPr>
        <p:spPr>
          <a:xfrm>
            <a:off x="4480560" y="3611880"/>
            <a:ext cx="3291840" cy="2194560"/>
          </a:xfrm>
          <a:prstGeom prst="rect">
            <a:avLst/>
          </a:prstGeom>
          <a:noFill/>
          <a:ln/>
        </p:spPr>
        <p:txBody>
          <a:bodyPr wrap="square" rtlCol="0" anchor="ctr"/>
          <a:lstStyle/>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Rate limiting Symfony</a:t>
            </a:r>
            <a:endParaRPr lang="en-US" sz="1200" dirty="0"/>
          </a:p>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Headers CSP / HSTS</a:t>
            </a:r>
            <a:endParaRPr lang="en-US" sz="1200" dirty="0"/>
          </a:p>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Anonymisation logs RGPD</a:t>
            </a:r>
            <a:endParaRPr lang="en-US" sz="1200" dirty="0"/>
          </a:p>
        </p:txBody>
      </p:sp>
      <p:sp>
        <p:nvSpPr>
          <p:cNvPr id="19" name="Shape 17"/>
          <p:cNvSpPr/>
          <p:nvPr/>
        </p:nvSpPr>
        <p:spPr>
          <a:xfrm>
            <a:off x="4572000" y="5897880"/>
            <a:ext cx="3108960" cy="347472"/>
          </a:xfrm>
          <a:prstGeom prst="rect">
            <a:avLst/>
          </a:prstGeom>
          <a:solidFill>
            <a:srgbClr val="0A0A0A"/>
          </a:solidFill>
          <a:ln w="19050">
            <a:solidFill>
              <a:srgbClr val="F39C12"/>
            </a:solidFill>
            <a:prstDash val="solid"/>
          </a:ln>
        </p:spPr>
      </p:sp>
      <p:sp>
        <p:nvSpPr>
          <p:cNvPr id="20" name="Text 18"/>
          <p:cNvSpPr/>
          <p:nvPr/>
        </p:nvSpPr>
        <p:spPr>
          <a:xfrm>
            <a:off x="4572000" y="5897880"/>
            <a:ext cx="3108960" cy="347472"/>
          </a:xfrm>
          <a:prstGeom prst="rect">
            <a:avLst/>
          </a:prstGeom>
          <a:noFill/>
          <a:ln/>
        </p:spPr>
        <p:txBody>
          <a:bodyPr wrap="square" rtlCol="0" anchor="ctr"/>
          <a:lstStyle/>
          <a:p>
            <a:pPr algn="ctr" indent="0" marL="0">
              <a:buNone/>
            </a:pPr>
            <a:r>
              <a:rPr lang="en-US" sz="1100" b="1" dirty="0">
                <a:solidFill>
                  <a:srgbClr val="F39C12"/>
                </a:solidFill>
                <a:latin typeface="Calibri" pitchFamily="34" charset="0"/>
                <a:ea typeface="Calibri" pitchFamily="34" charset="-122"/>
                <a:cs typeface="Calibri" pitchFamily="34" charset="-120"/>
              </a:rPr>
              <a:t>Haute → Résolu</a:t>
            </a:r>
            <a:endParaRPr lang="en-US" sz="1100" dirty="0"/>
          </a:p>
        </p:txBody>
      </p:sp>
      <p:sp>
        <p:nvSpPr>
          <p:cNvPr id="21" name="Shape 19"/>
          <p:cNvSpPr/>
          <p:nvPr/>
        </p:nvSpPr>
        <p:spPr>
          <a:xfrm>
            <a:off x="8229600" y="2743200"/>
            <a:ext cx="3657600" cy="3657600"/>
          </a:xfrm>
          <a:prstGeom prst="rect">
            <a:avLst>
              <a:gd name="adj" fmla="val 2000"/>
            </a:avLst>
          </a:prstGeom>
          <a:solidFill>
            <a:srgbClr val="1A1A2E"/>
          </a:solidFill>
          <a:ln w="19050">
            <a:solidFill>
              <a:srgbClr val="C0392B"/>
            </a:solidFill>
            <a:prstDash val="solid"/>
          </a:ln>
        </p:spPr>
      </p:sp>
      <p:sp>
        <p:nvSpPr>
          <p:cNvPr id="22" name="Text 20"/>
          <p:cNvSpPr/>
          <p:nvPr/>
        </p:nvSpPr>
        <p:spPr>
          <a:xfrm>
            <a:off x="8366760" y="2834640"/>
            <a:ext cx="3383280" cy="640080"/>
          </a:xfrm>
          <a:prstGeom prst="rect">
            <a:avLst/>
          </a:prstGeom>
          <a:noFill/>
          <a:ln/>
        </p:spPr>
        <p:txBody>
          <a:bodyPr wrap="square" rtlCol="0" anchor="ctr"/>
          <a:lstStyle/>
          <a:p>
            <a:pPr algn="ctr" indent="0" marL="0">
              <a:buNone/>
            </a:pPr>
            <a:r>
              <a:rPr lang="en-US" sz="1400" b="1" dirty="0">
                <a:solidFill>
                  <a:srgbClr val="F0F0F0"/>
                </a:solidFill>
                <a:latin typeface="Georgia" pitchFamily="34" charset="0"/>
                <a:ea typeface="Georgia" pitchFamily="34" charset="-122"/>
                <a:cs typeface="Georgia" pitchFamily="34" charset="-120"/>
              </a:rPr>
              <a:t>Sprint 3</a:t>
            </a:r>
            <a:endParaRPr lang="en-US" sz="1400" dirty="0"/>
          </a:p>
          <a:p>
            <a:pPr algn="ctr" indent="0" marL="0">
              <a:buNone/>
            </a:pPr>
            <a:r>
              <a:rPr lang="en-US" sz="1400" b="1" dirty="0">
                <a:solidFill>
                  <a:srgbClr val="F0F0F0"/>
                </a:solidFill>
                <a:latin typeface="Georgia" pitchFamily="34" charset="0"/>
                <a:ea typeface="Georgia" pitchFamily="34" charset="-122"/>
                <a:cs typeface="Georgia" pitchFamily="34" charset="-120"/>
              </a:rPr>
              <a:t>3 mois</a:t>
            </a:r>
            <a:endParaRPr lang="en-US" sz="1400" dirty="0"/>
          </a:p>
        </p:txBody>
      </p:sp>
      <p:sp>
        <p:nvSpPr>
          <p:cNvPr id="23" name="Shape 21"/>
          <p:cNvSpPr/>
          <p:nvPr/>
        </p:nvSpPr>
        <p:spPr>
          <a:xfrm>
            <a:off x="8686800" y="3520440"/>
            <a:ext cx="2743200" cy="45720"/>
          </a:xfrm>
          <a:prstGeom prst="rect">
            <a:avLst/>
          </a:prstGeom>
          <a:solidFill>
            <a:srgbClr val="C0392B"/>
          </a:solidFill>
          <a:ln/>
        </p:spPr>
      </p:sp>
      <p:sp>
        <p:nvSpPr>
          <p:cNvPr id="24" name="Text 22"/>
          <p:cNvSpPr/>
          <p:nvPr/>
        </p:nvSpPr>
        <p:spPr>
          <a:xfrm>
            <a:off x="8412480" y="3611880"/>
            <a:ext cx="3291840" cy="2194560"/>
          </a:xfrm>
          <a:prstGeom prst="rect">
            <a:avLst/>
          </a:prstGeom>
          <a:noFill/>
          <a:ln/>
        </p:spPr>
        <p:txBody>
          <a:bodyPr wrap="square" rtlCol="0" anchor="ctr"/>
          <a:lstStyle/>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Image Docker alpine/distroless</a:t>
            </a:r>
            <a:endParaRPr lang="en-US" sz="1200" dirty="0"/>
          </a:p>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WAF en frontal</a:t>
            </a:r>
            <a:endParaRPr lang="en-US" sz="1200" dirty="0"/>
          </a:p>
          <a:p>
            <a:pPr indent="0" marL="0">
              <a:spcAft>
                <a:spcPts val="400"/>
              </a:spcAft>
              <a:buNone/>
            </a:pPr>
            <a:r>
              <a:rPr lang="en-US" sz="1200" dirty="0">
                <a:solidFill>
                  <a:srgbClr val="B2B2B2"/>
                </a:solidFill>
                <a:latin typeface="Calibri" pitchFamily="34" charset="0"/>
                <a:ea typeface="Calibri" pitchFamily="34" charset="-122"/>
                <a:cs typeface="Calibri" pitchFamily="34" charset="-120"/>
              </a:rPr>
              <a:t>• Audit RGPD complet</a:t>
            </a:r>
            <a:endParaRPr lang="en-US" sz="1200" dirty="0"/>
          </a:p>
        </p:txBody>
      </p:sp>
      <p:sp>
        <p:nvSpPr>
          <p:cNvPr id="25" name="Shape 23"/>
          <p:cNvSpPr/>
          <p:nvPr/>
        </p:nvSpPr>
        <p:spPr>
          <a:xfrm>
            <a:off x="8503920" y="5897880"/>
            <a:ext cx="3108960" cy="347472"/>
          </a:xfrm>
          <a:prstGeom prst="rect">
            <a:avLst/>
          </a:prstGeom>
          <a:solidFill>
            <a:srgbClr val="0A0A0A"/>
          </a:solidFill>
          <a:ln w="19050">
            <a:solidFill>
              <a:srgbClr val="B2B2B2"/>
            </a:solidFill>
            <a:prstDash val="solid"/>
          </a:ln>
        </p:spPr>
      </p:sp>
      <p:sp>
        <p:nvSpPr>
          <p:cNvPr id="26" name="Text 24"/>
          <p:cNvSpPr/>
          <p:nvPr/>
        </p:nvSpPr>
        <p:spPr>
          <a:xfrm>
            <a:off x="8503920" y="5897880"/>
            <a:ext cx="3108960" cy="347472"/>
          </a:xfrm>
          <a:prstGeom prst="rect">
            <a:avLst/>
          </a:prstGeom>
          <a:noFill/>
          <a:ln/>
        </p:spPr>
        <p:txBody>
          <a:bodyPr wrap="square" rtlCol="0" anchor="ctr"/>
          <a:lstStyle/>
          <a:p>
            <a:pPr algn="ctr" indent="0" marL="0">
              <a:buNone/>
            </a:pPr>
            <a:r>
              <a:rPr lang="en-US" sz="1100" b="1" dirty="0">
                <a:solidFill>
                  <a:srgbClr val="B2B2B2"/>
                </a:solidFill>
                <a:latin typeface="Calibri" pitchFamily="34" charset="0"/>
                <a:ea typeface="Calibri" pitchFamily="34" charset="-122"/>
                <a:cs typeface="Calibri" pitchFamily="34" charset="-120"/>
              </a:rPr>
              <a:t>Surface réduite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18</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VERSION 2 — DEVSECOPS RENFORCE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3 mesures préventives</a:t>
            </a:r>
            <a:endParaRPr lang="en-US" sz="3400" dirty="0"/>
          </a:p>
          <a:p>
            <a:pPr indent="0" marL="0">
              <a:buNone/>
            </a:pPr>
            <a:r>
              <a:rPr lang="en-US" sz="3400" b="1" dirty="0">
                <a:solidFill>
                  <a:srgbClr val="F0F0F0"/>
                </a:solidFill>
                <a:latin typeface="Georgia" pitchFamily="34" charset="0"/>
                <a:ea typeface="Georgia" pitchFamily="34" charset="-122"/>
                <a:cs typeface="Georgia" pitchFamily="34" charset="-120"/>
              </a:rPr>
              <a:t>pour la v2</a:t>
            </a:r>
            <a:endParaRPr lang="en-US" sz="3400" dirty="0"/>
          </a:p>
        </p:txBody>
      </p:sp>
      <p:sp>
        <p:nvSpPr>
          <p:cNvPr id="9" name="Shape 7"/>
          <p:cNvSpPr/>
          <p:nvPr/>
        </p:nvSpPr>
        <p:spPr>
          <a:xfrm>
            <a:off x="365760" y="2743200"/>
            <a:ext cx="3657600" cy="3749040"/>
          </a:xfrm>
          <a:prstGeom prst="rect">
            <a:avLst>
              <a:gd name="adj" fmla="val 2000"/>
            </a:avLst>
          </a:prstGeom>
          <a:solidFill>
            <a:srgbClr val="2E1A1A"/>
          </a:solidFill>
          <a:ln w="19050">
            <a:solidFill>
              <a:srgbClr val="C0392B"/>
            </a:solidFill>
            <a:prstDash val="solid"/>
          </a:ln>
        </p:spPr>
      </p:sp>
      <p:sp>
        <p:nvSpPr>
          <p:cNvPr id="10" name="Text 8"/>
          <p:cNvSpPr/>
          <p:nvPr/>
        </p:nvSpPr>
        <p:spPr>
          <a:xfrm>
            <a:off x="548640" y="2834640"/>
            <a:ext cx="914400" cy="731520"/>
          </a:xfrm>
          <a:prstGeom prst="rect">
            <a:avLst/>
          </a:prstGeom>
          <a:noFill/>
          <a:ln/>
        </p:spPr>
        <p:txBody>
          <a:bodyPr wrap="square" rtlCol="0" anchor="ctr"/>
          <a:lstStyle/>
          <a:p>
            <a:pPr indent="0" marL="0">
              <a:buNone/>
            </a:pPr>
            <a:r>
              <a:rPr lang="en-US" sz="3600" b="1" dirty="0">
                <a:solidFill>
                  <a:srgbClr val="E74C3C"/>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2926080" y="2834640"/>
            <a:ext cx="914400" cy="731520"/>
          </a:xfrm>
          <a:prstGeom prst="rect">
            <a:avLst/>
          </a:prstGeom>
          <a:noFill/>
          <a:ln/>
        </p:spPr>
        <p:txBody>
          <a:bodyPr wrap="square" rtlCol="0" anchor="ctr"/>
          <a:lstStyle/>
          <a:p>
            <a:pPr algn="r" indent="0" marL="0">
              <a:buNone/>
            </a:pPr>
            <a:r>
              <a:rPr lang="en-US" sz="2800" dirty="0">
                <a:solidFill>
                  <a:srgbClr val="000000"/>
                </a:solidFill>
              </a:rPr>
              <a:t>🔐</a:t>
            </a:r>
            <a:endParaRPr lang="en-US" sz="2800" dirty="0"/>
          </a:p>
        </p:txBody>
      </p:sp>
      <p:sp>
        <p:nvSpPr>
          <p:cNvPr id="12" name="Shape 10"/>
          <p:cNvSpPr/>
          <p:nvPr/>
        </p:nvSpPr>
        <p:spPr>
          <a:xfrm>
            <a:off x="640080" y="3566160"/>
            <a:ext cx="3108960" cy="45720"/>
          </a:xfrm>
          <a:prstGeom prst="rect">
            <a:avLst/>
          </a:prstGeom>
          <a:solidFill>
            <a:srgbClr val="C0392B"/>
          </a:solidFill>
          <a:ln/>
        </p:spPr>
      </p:sp>
      <p:sp>
        <p:nvSpPr>
          <p:cNvPr id="13" name="Text 11"/>
          <p:cNvSpPr/>
          <p:nvPr/>
        </p:nvSpPr>
        <p:spPr>
          <a:xfrm>
            <a:off x="548640" y="3657600"/>
            <a:ext cx="3291840" cy="50292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Secrets Management</a:t>
            </a:r>
            <a:endParaRPr lang="en-US" sz="1400" dirty="0"/>
          </a:p>
        </p:txBody>
      </p:sp>
      <p:sp>
        <p:nvSpPr>
          <p:cNvPr id="14" name="Text 12"/>
          <p:cNvSpPr/>
          <p:nvPr/>
        </p:nvSpPr>
        <p:spPr>
          <a:xfrm>
            <a:off x="548640" y="4206240"/>
            <a:ext cx="3291840" cy="18288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HashiCorp Vault ou GitHub Secrets</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avec rotation automatique des clés</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et audit trail des accès</a:t>
            </a:r>
            <a:endParaRPr lang="en-US" sz="1200" dirty="0"/>
          </a:p>
        </p:txBody>
      </p:sp>
      <p:sp>
        <p:nvSpPr>
          <p:cNvPr id="15" name="Shape 13"/>
          <p:cNvSpPr/>
          <p:nvPr/>
        </p:nvSpPr>
        <p:spPr>
          <a:xfrm>
            <a:off x="4297680" y="2743200"/>
            <a:ext cx="3657600" cy="3749040"/>
          </a:xfrm>
          <a:prstGeom prst="rect">
            <a:avLst>
              <a:gd name="adj" fmla="val 2000"/>
            </a:avLst>
          </a:prstGeom>
          <a:solidFill>
            <a:srgbClr val="1A1A2E"/>
          </a:solidFill>
          <a:ln w="19050">
            <a:solidFill>
              <a:srgbClr val="C0392B"/>
            </a:solidFill>
            <a:prstDash val="solid"/>
          </a:ln>
        </p:spPr>
      </p:sp>
      <p:sp>
        <p:nvSpPr>
          <p:cNvPr id="16" name="Text 14"/>
          <p:cNvSpPr/>
          <p:nvPr/>
        </p:nvSpPr>
        <p:spPr>
          <a:xfrm>
            <a:off x="4480560" y="2834640"/>
            <a:ext cx="914400" cy="731520"/>
          </a:xfrm>
          <a:prstGeom prst="rect">
            <a:avLst/>
          </a:prstGeom>
          <a:noFill/>
          <a:ln/>
        </p:spPr>
        <p:txBody>
          <a:bodyPr wrap="square" rtlCol="0" anchor="ctr"/>
          <a:lstStyle/>
          <a:p>
            <a:pPr indent="0" marL="0">
              <a:buNone/>
            </a:pPr>
            <a:r>
              <a:rPr lang="en-US" sz="3600" b="1" dirty="0">
                <a:solidFill>
                  <a:srgbClr val="E74C3C"/>
                </a:solidFill>
                <a:latin typeface="Georgia" pitchFamily="34" charset="0"/>
                <a:ea typeface="Georgia" pitchFamily="34" charset="-122"/>
                <a:cs typeface="Georgia" pitchFamily="34" charset="-120"/>
              </a:rPr>
              <a:t>02</a:t>
            </a:r>
            <a:endParaRPr lang="en-US" sz="3600" dirty="0"/>
          </a:p>
        </p:txBody>
      </p:sp>
      <p:sp>
        <p:nvSpPr>
          <p:cNvPr id="17" name="Text 15"/>
          <p:cNvSpPr/>
          <p:nvPr/>
        </p:nvSpPr>
        <p:spPr>
          <a:xfrm>
            <a:off x="6858000" y="2834640"/>
            <a:ext cx="914400" cy="731520"/>
          </a:xfrm>
          <a:prstGeom prst="rect">
            <a:avLst/>
          </a:prstGeom>
          <a:noFill/>
          <a:ln/>
        </p:spPr>
        <p:txBody>
          <a:bodyPr wrap="square" rtlCol="0" anchor="ctr"/>
          <a:lstStyle/>
          <a:p>
            <a:pPr algn="r" indent="0" marL="0">
              <a:buNone/>
            </a:pPr>
            <a:r>
              <a:rPr lang="en-US" sz="2800" dirty="0">
                <a:solidFill>
                  <a:srgbClr val="000000"/>
                </a:solidFill>
              </a:rPr>
              <a:t>🕵️</a:t>
            </a:r>
            <a:endParaRPr lang="en-US" sz="2800" dirty="0"/>
          </a:p>
        </p:txBody>
      </p:sp>
      <p:sp>
        <p:nvSpPr>
          <p:cNvPr id="18" name="Shape 16"/>
          <p:cNvSpPr/>
          <p:nvPr/>
        </p:nvSpPr>
        <p:spPr>
          <a:xfrm>
            <a:off x="4572000" y="3566160"/>
            <a:ext cx="3108960" cy="45720"/>
          </a:xfrm>
          <a:prstGeom prst="rect">
            <a:avLst/>
          </a:prstGeom>
          <a:solidFill>
            <a:srgbClr val="C0392B"/>
          </a:solidFill>
          <a:ln/>
        </p:spPr>
      </p:sp>
      <p:sp>
        <p:nvSpPr>
          <p:cNvPr id="19" name="Text 17"/>
          <p:cNvSpPr/>
          <p:nvPr/>
        </p:nvSpPr>
        <p:spPr>
          <a:xfrm>
            <a:off x="4480560" y="3657600"/>
            <a:ext cx="3291840" cy="50292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DAST Pipeline</a:t>
            </a:r>
            <a:endParaRPr lang="en-US" sz="1400" dirty="0"/>
          </a:p>
        </p:txBody>
      </p:sp>
      <p:sp>
        <p:nvSpPr>
          <p:cNvPr id="20" name="Text 18"/>
          <p:cNvSpPr/>
          <p:nvPr/>
        </p:nvSpPr>
        <p:spPr>
          <a:xfrm>
            <a:off x="4480560" y="4206240"/>
            <a:ext cx="3291840" cy="18288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OWASP ZAP intégré au job staging</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Test dynamique automatisé</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Rapport SARIF → GitHub Security</a:t>
            </a:r>
            <a:endParaRPr lang="en-US" sz="1200" dirty="0"/>
          </a:p>
        </p:txBody>
      </p:sp>
      <p:sp>
        <p:nvSpPr>
          <p:cNvPr id="21" name="Shape 19"/>
          <p:cNvSpPr/>
          <p:nvPr/>
        </p:nvSpPr>
        <p:spPr>
          <a:xfrm>
            <a:off x="8229600" y="2743200"/>
            <a:ext cx="3657600" cy="3749040"/>
          </a:xfrm>
          <a:prstGeom prst="rect">
            <a:avLst>
              <a:gd name="adj" fmla="val 2000"/>
            </a:avLst>
          </a:prstGeom>
          <a:solidFill>
            <a:srgbClr val="1A2E1A"/>
          </a:solidFill>
          <a:ln w="19050">
            <a:solidFill>
              <a:srgbClr val="C0392B"/>
            </a:solidFill>
            <a:prstDash val="solid"/>
          </a:ln>
        </p:spPr>
      </p:sp>
      <p:sp>
        <p:nvSpPr>
          <p:cNvPr id="22" name="Text 20"/>
          <p:cNvSpPr/>
          <p:nvPr/>
        </p:nvSpPr>
        <p:spPr>
          <a:xfrm>
            <a:off x="8412480" y="2834640"/>
            <a:ext cx="914400" cy="731520"/>
          </a:xfrm>
          <a:prstGeom prst="rect">
            <a:avLst/>
          </a:prstGeom>
          <a:noFill/>
          <a:ln/>
        </p:spPr>
        <p:txBody>
          <a:bodyPr wrap="square" rtlCol="0" anchor="ctr"/>
          <a:lstStyle/>
          <a:p>
            <a:pPr indent="0" marL="0">
              <a:buNone/>
            </a:pPr>
            <a:r>
              <a:rPr lang="en-US" sz="3600" b="1" dirty="0">
                <a:solidFill>
                  <a:srgbClr val="E74C3C"/>
                </a:solidFill>
                <a:latin typeface="Georgia" pitchFamily="34" charset="0"/>
                <a:ea typeface="Georgia" pitchFamily="34" charset="-122"/>
                <a:cs typeface="Georgia" pitchFamily="34" charset="-120"/>
              </a:rPr>
              <a:t>03</a:t>
            </a:r>
            <a:endParaRPr lang="en-US" sz="3600" dirty="0"/>
          </a:p>
        </p:txBody>
      </p:sp>
      <p:sp>
        <p:nvSpPr>
          <p:cNvPr id="23" name="Text 21"/>
          <p:cNvSpPr/>
          <p:nvPr/>
        </p:nvSpPr>
        <p:spPr>
          <a:xfrm>
            <a:off x="10789920" y="2834640"/>
            <a:ext cx="914400" cy="731520"/>
          </a:xfrm>
          <a:prstGeom prst="rect">
            <a:avLst/>
          </a:prstGeom>
          <a:noFill/>
          <a:ln/>
        </p:spPr>
        <p:txBody>
          <a:bodyPr wrap="square" rtlCol="0" anchor="ctr"/>
          <a:lstStyle/>
          <a:p>
            <a:pPr algn="r" indent="0" marL="0">
              <a:buNone/>
            </a:pPr>
            <a:r>
              <a:rPr lang="en-US" sz="2800" dirty="0">
                <a:solidFill>
                  <a:srgbClr val="000000"/>
                </a:solidFill>
              </a:rPr>
              <a:t>📦</a:t>
            </a:r>
            <a:endParaRPr lang="en-US" sz="2800" dirty="0"/>
          </a:p>
        </p:txBody>
      </p:sp>
      <p:sp>
        <p:nvSpPr>
          <p:cNvPr id="24" name="Shape 22"/>
          <p:cNvSpPr/>
          <p:nvPr/>
        </p:nvSpPr>
        <p:spPr>
          <a:xfrm>
            <a:off x="8503920" y="3566160"/>
            <a:ext cx="3108960" cy="45720"/>
          </a:xfrm>
          <a:prstGeom prst="rect">
            <a:avLst/>
          </a:prstGeom>
          <a:solidFill>
            <a:srgbClr val="C0392B"/>
          </a:solidFill>
          <a:ln/>
        </p:spPr>
      </p:sp>
      <p:sp>
        <p:nvSpPr>
          <p:cNvPr id="25" name="Text 23"/>
          <p:cNvSpPr/>
          <p:nvPr/>
        </p:nvSpPr>
        <p:spPr>
          <a:xfrm>
            <a:off x="8412480" y="3657600"/>
            <a:ext cx="3291840" cy="502920"/>
          </a:xfrm>
          <a:prstGeom prst="rect">
            <a:avLst/>
          </a:prstGeom>
          <a:noFill/>
          <a:ln/>
        </p:spPr>
        <p:txBody>
          <a:bodyPr wrap="square" rtlCol="0" anchor="ctr"/>
          <a:lstStyle/>
          <a:p>
            <a:pPr indent="0" marL="0">
              <a:buNone/>
            </a:pPr>
            <a:r>
              <a:rPr lang="en-US" sz="1400" b="1" dirty="0">
                <a:solidFill>
                  <a:srgbClr val="F0F0F0"/>
                </a:solidFill>
                <a:latin typeface="Calibri" pitchFamily="34" charset="0"/>
                <a:ea typeface="Calibri" pitchFamily="34" charset="-122"/>
                <a:cs typeface="Calibri" pitchFamily="34" charset="-120"/>
              </a:rPr>
              <a:t>SCA — Dépendances</a:t>
            </a:r>
            <a:endParaRPr lang="en-US" sz="1400" dirty="0"/>
          </a:p>
        </p:txBody>
      </p:sp>
      <p:sp>
        <p:nvSpPr>
          <p:cNvPr id="26" name="Text 24"/>
          <p:cNvSpPr/>
          <p:nvPr/>
        </p:nvSpPr>
        <p:spPr>
          <a:xfrm>
            <a:off x="8412480" y="4206240"/>
            <a:ext cx="3291840" cy="1828800"/>
          </a:xfrm>
          <a:prstGeom prst="rect">
            <a:avLst/>
          </a:prstGeom>
          <a:noFill/>
          <a:ln/>
        </p:spPr>
        <p:txBody>
          <a:bodyPr wrap="square" rtlCol="0" anchor="ctr"/>
          <a:lstStyle/>
          <a:p>
            <a:pPr indent="0" marL="0">
              <a:buNone/>
            </a:pPr>
            <a:r>
              <a:rPr lang="en-US" sz="1200" dirty="0">
                <a:solidFill>
                  <a:srgbClr val="B2B2B2"/>
                </a:solidFill>
                <a:latin typeface="Calibri" pitchFamily="34" charset="0"/>
                <a:ea typeface="Calibri" pitchFamily="34" charset="-122"/>
                <a:cs typeface="Calibri" pitchFamily="34" charset="-120"/>
              </a:rPr>
              <a:t>Dependabot activé sur composer.json</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Alertes CVE automatiques</a:t>
            </a:r>
            <a:endParaRPr lang="en-US" sz="1200" dirty="0"/>
          </a:p>
          <a:p>
            <a:pPr indent="0" marL="0">
              <a:buNone/>
            </a:pPr>
            <a:r>
              <a:rPr lang="en-US" sz="1200" dirty="0">
                <a:solidFill>
                  <a:srgbClr val="B2B2B2"/>
                </a:solidFill>
                <a:latin typeface="Calibri" pitchFamily="34" charset="0"/>
                <a:ea typeface="Calibri" pitchFamily="34" charset="-122"/>
                <a:cs typeface="Calibri" pitchFamily="34" charset="-120"/>
              </a:rPr>
              <a:t>Mise à jour PR automatique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sp>
      <p:sp>
        <p:nvSpPr>
          <p:cNvPr id="3" name="Shape 1"/>
          <p:cNvSpPr/>
          <p:nvPr/>
        </p:nvSpPr>
        <p:spPr>
          <a:xfrm>
            <a:off x="0" y="6675120"/>
            <a:ext cx="12192000" cy="182880"/>
          </a:xfrm>
          <a:prstGeom prst="rect">
            <a:avLst/>
          </a:prstGeom>
          <a:solidFill>
            <a:srgbClr val="C0392B"/>
          </a:solidFill>
          <a:ln/>
        </p:spPr>
      </p:sp>
      <p:sp>
        <p:nvSpPr>
          <p:cNvPr id="4" name="Text 2"/>
          <p:cNvSpPr/>
          <p:nvPr/>
        </p:nvSpPr>
        <p:spPr>
          <a:xfrm>
            <a:off x="274320" y="6675120"/>
            <a:ext cx="9601200" cy="182880"/>
          </a:xfrm>
          <a:prstGeom prst="rect">
            <a:avLst/>
          </a:prstGeom>
          <a:noFill/>
          <a:ln/>
        </p:spPr>
        <p:txBody>
          <a:bodyPr wrap="square" rtlCol="0" anchor="ctr"/>
          <a:lstStyle/>
          <a:p>
            <a:pPr indent="0" marL="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algn="r" indent="0" marL="0">
              <a:buNone/>
            </a:pPr>
            <a:r>
              <a:rPr lang="en-US" sz="1800" b="1" dirty="0">
                <a:solidFill>
                  <a:srgbClr val="F0F0F0"/>
                </a:solidFill>
                <a:latin typeface="Calibri" pitchFamily="34" charset="0"/>
                <a:ea typeface="Calibri" pitchFamily="34" charset="-122"/>
                <a:cs typeface="Calibri" pitchFamily="34" charset="-120"/>
              </a:rPr>
              <a:t>19</a:t>
            </a:r>
            <a:endParaRPr lang="en-US" sz="1800" dirty="0"/>
          </a:p>
        </p:txBody>
      </p:sp>
      <p:sp>
        <p:nvSpPr>
          <p:cNvPr id="6" name="Shape 4"/>
          <p:cNvSpPr/>
          <p:nvPr/>
        </p:nvSpPr>
        <p:spPr>
          <a:xfrm>
            <a:off x="365760" y="1051560"/>
            <a:ext cx="2377440" cy="54864"/>
          </a:xfrm>
          <a:prstGeom prst="rect">
            <a:avLst/>
          </a:prstGeom>
          <a:solidFill>
            <a:srgbClr val="C0392B"/>
          </a:solidFill>
          <a:ln/>
        </p:spPr>
      </p:sp>
      <p:sp>
        <p:nvSpPr>
          <p:cNvPr id="7" name="Text 5"/>
          <p:cNvSpPr/>
          <p:nvPr/>
        </p:nvSpPr>
        <p:spPr>
          <a:xfrm>
            <a:off x="365760" y="640080"/>
            <a:ext cx="10972800" cy="548640"/>
          </a:xfrm>
          <a:prstGeom prst="rect">
            <a:avLst/>
          </a:prstGeom>
          <a:noFill/>
          <a:ln/>
        </p:spPr>
        <p:txBody>
          <a:bodyPr wrap="square" rtlCol="0" anchor="ctr"/>
          <a:lstStyle/>
          <a:p>
            <a:pPr indent="0" marL="0">
              <a:buNone/>
            </a:pPr>
            <a:r>
              <a:rPr lang="en-US" sz="1100" b="1" spc="200" kern="0" dirty="0">
                <a:solidFill>
                  <a:srgbClr val="E74C3C"/>
                </a:solidFill>
                <a:latin typeface="Calibri" pitchFamily="34" charset="0"/>
                <a:ea typeface="Calibri" pitchFamily="34" charset="-122"/>
                <a:cs typeface="Calibri" pitchFamily="34" charset="-120"/>
              </a:rPr>
              <a:t>BILAN DE LA MISSION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indent="0" marL="0">
              <a:buNone/>
            </a:pPr>
            <a:r>
              <a:rPr lang="en-US" sz="3400" b="1" dirty="0">
                <a:solidFill>
                  <a:srgbClr val="F0F0F0"/>
                </a:solidFill>
                <a:latin typeface="Georgia" pitchFamily="34" charset="0"/>
                <a:ea typeface="Georgia" pitchFamily="34" charset="-122"/>
                <a:cs typeface="Georgia" pitchFamily="34" charset="-120"/>
              </a:rPr>
              <a:t>Livraison complète de la v1</a:t>
            </a:r>
            <a:endParaRPr lang="en-US" sz="3400" dirty="0"/>
          </a:p>
        </p:txBody>
      </p:sp>
      <p:sp>
        <p:nvSpPr>
          <p:cNvPr id="9" name="Shape 7"/>
          <p:cNvSpPr/>
          <p:nvPr/>
        </p:nvSpPr>
        <p:spPr>
          <a:xfrm>
            <a:off x="365760" y="2743200"/>
            <a:ext cx="3657600" cy="3749040"/>
          </a:xfrm>
          <a:prstGeom prst="rect">
            <a:avLst>
              <a:gd name="adj" fmla="val 2000"/>
            </a:avLst>
          </a:prstGeom>
          <a:solidFill>
            <a:srgbClr val="1A2E1A"/>
          </a:solidFill>
          <a:ln w="19050">
            <a:solidFill>
              <a:srgbClr val="C0392B"/>
            </a:solidFill>
            <a:prstDash val="solid"/>
          </a:ln>
        </p:spPr>
      </p:sp>
      <p:sp>
        <p:nvSpPr>
          <p:cNvPr id="10" name="Text 8"/>
          <p:cNvSpPr/>
          <p:nvPr/>
        </p:nvSpPr>
        <p:spPr>
          <a:xfrm>
            <a:off x="502920" y="2834640"/>
            <a:ext cx="3383280" cy="502920"/>
          </a:xfrm>
          <a:prstGeom prst="rect">
            <a:avLst/>
          </a:prstGeom>
          <a:noFill/>
          <a:ln/>
        </p:spPr>
        <p:txBody>
          <a:bodyPr wrap="square" rtlCol="0" anchor="ctr"/>
          <a:lstStyle/>
          <a:p>
            <a:pPr algn="ctr" indent="0" marL="0">
              <a:buNone/>
            </a:pPr>
            <a:r>
              <a:rPr lang="en-US" sz="1400" b="1" dirty="0">
                <a:solidFill>
                  <a:srgbClr val="27AE60"/>
                </a:solidFill>
                <a:latin typeface="Calibri" pitchFamily="34" charset="0"/>
                <a:ea typeface="Calibri" pitchFamily="34" charset="-122"/>
                <a:cs typeface="Calibri" pitchFamily="34" charset="-120"/>
              </a:rPr>
              <a:t>✅ Livré</a:t>
            </a:r>
            <a:endParaRPr lang="en-US" sz="1400" dirty="0"/>
          </a:p>
        </p:txBody>
      </p:sp>
      <p:sp>
        <p:nvSpPr>
          <p:cNvPr id="11" name="Shape 9"/>
          <p:cNvSpPr/>
          <p:nvPr/>
        </p:nvSpPr>
        <p:spPr>
          <a:xfrm>
            <a:off x="822960" y="3383280"/>
            <a:ext cx="2743200" cy="45720"/>
          </a:xfrm>
          <a:prstGeom prst="rect">
            <a:avLst/>
          </a:prstGeom>
          <a:solidFill>
            <a:srgbClr val="C0392B"/>
          </a:solidFill>
          <a:ln/>
        </p:spPr>
      </p:sp>
      <p:sp>
        <p:nvSpPr>
          <p:cNvPr id="12" name="Text 10"/>
          <p:cNvSpPr/>
          <p:nvPr/>
        </p:nvSpPr>
        <p:spPr>
          <a:xfrm>
            <a:off x="548640" y="3520440"/>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Pipeline CI/CD 11 jobs</a:t>
            </a:r>
            <a:endParaRPr lang="en-US" sz="1100" dirty="0"/>
          </a:p>
        </p:txBody>
      </p:sp>
      <p:sp>
        <p:nvSpPr>
          <p:cNvPr id="13" name="Text 11"/>
          <p:cNvSpPr/>
          <p:nvPr/>
        </p:nvSpPr>
        <p:spPr>
          <a:xfrm>
            <a:off x="548640" y="4178808"/>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BFF + Keycloak + Messenger</a:t>
            </a:r>
            <a:endParaRPr lang="en-US" sz="1100" dirty="0"/>
          </a:p>
        </p:txBody>
      </p:sp>
      <p:sp>
        <p:nvSpPr>
          <p:cNvPr id="14" name="Text 12"/>
          <p:cNvSpPr/>
          <p:nvPr/>
        </p:nvSpPr>
        <p:spPr>
          <a:xfrm>
            <a:off x="548640" y="4837176"/>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Déploiement auto self-hosted</a:t>
            </a:r>
            <a:endParaRPr lang="en-US" sz="1100" dirty="0"/>
          </a:p>
        </p:txBody>
      </p:sp>
      <p:sp>
        <p:nvSpPr>
          <p:cNvPr id="15" name="Text 13"/>
          <p:cNvSpPr/>
          <p:nvPr/>
        </p:nvSpPr>
        <p:spPr>
          <a:xfrm>
            <a:off x="548640" y="5495544"/>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4 livrables documentaires</a:t>
            </a:r>
            <a:endParaRPr lang="en-US" sz="1100" dirty="0"/>
          </a:p>
        </p:txBody>
      </p:sp>
      <p:sp>
        <p:nvSpPr>
          <p:cNvPr id="16" name="Shape 14"/>
          <p:cNvSpPr/>
          <p:nvPr/>
        </p:nvSpPr>
        <p:spPr>
          <a:xfrm>
            <a:off x="4297680" y="2743200"/>
            <a:ext cx="3657600" cy="3749040"/>
          </a:xfrm>
          <a:prstGeom prst="rect">
            <a:avLst>
              <a:gd name="adj" fmla="val 2000"/>
            </a:avLst>
          </a:prstGeom>
          <a:solidFill>
            <a:srgbClr val="1A1A2E"/>
          </a:solidFill>
          <a:ln w="19050">
            <a:solidFill>
              <a:srgbClr val="C0392B"/>
            </a:solidFill>
            <a:prstDash val="solid"/>
          </a:ln>
        </p:spPr>
      </p:sp>
      <p:sp>
        <p:nvSpPr>
          <p:cNvPr id="17" name="Text 15"/>
          <p:cNvSpPr/>
          <p:nvPr/>
        </p:nvSpPr>
        <p:spPr>
          <a:xfrm>
            <a:off x="4434840" y="2834640"/>
            <a:ext cx="3383280" cy="502920"/>
          </a:xfrm>
          <a:prstGeom prst="rect">
            <a:avLst/>
          </a:prstGeom>
          <a:noFill/>
          <a:ln/>
        </p:spPr>
        <p:txBody>
          <a:bodyPr wrap="square" rtlCol="0" anchor="ctr"/>
          <a:lstStyle/>
          <a:p>
            <a:pPr algn="ctr" indent="0" marL="0">
              <a:buNone/>
            </a:pPr>
            <a:r>
              <a:rPr lang="en-US" sz="1400" b="1" dirty="0">
                <a:solidFill>
                  <a:srgbClr val="F39C12"/>
                </a:solidFill>
                <a:latin typeface="Calibri" pitchFamily="34" charset="0"/>
                <a:ea typeface="Calibri" pitchFamily="34" charset="-122"/>
                <a:cs typeface="Calibri" pitchFamily="34" charset="-120"/>
              </a:rPr>
              <a:t>📊 Mesuré</a:t>
            </a:r>
            <a:endParaRPr lang="en-US" sz="1400" dirty="0"/>
          </a:p>
        </p:txBody>
      </p:sp>
      <p:sp>
        <p:nvSpPr>
          <p:cNvPr id="18" name="Shape 16"/>
          <p:cNvSpPr/>
          <p:nvPr/>
        </p:nvSpPr>
        <p:spPr>
          <a:xfrm>
            <a:off x="4754880" y="3383280"/>
            <a:ext cx="2743200" cy="45720"/>
          </a:xfrm>
          <a:prstGeom prst="rect">
            <a:avLst/>
          </a:prstGeom>
          <a:solidFill>
            <a:srgbClr val="C0392B"/>
          </a:solidFill>
          <a:ln/>
        </p:spPr>
      </p:sp>
      <p:sp>
        <p:nvSpPr>
          <p:cNvPr id="19" name="Text 17"/>
          <p:cNvSpPr/>
          <p:nvPr/>
        </p:nvSpPr>
        <p:spPr>
          <a:xfrm>
            <a:off x="4480560" y="3520440"/>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59 tests · 79% coverage</a:t>
            </a:r>
            <a:endParaRPr lang="en-US" sz="1100" dirty="0"/>
          </a:p>
        </p:txBody>
      </p:sp>
      <p:sp>
        <p:nvSpPr>
          <p:cNvPr id="20" name="Text 18"/>
          <p:cNvSpPr/>
          <p:nvPr/>
        </p:nvSpPr>
        <p:spPr>
          <a:xfrm>
            <a:off x="4480560" y="4178808"/>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k6 p95 &lt; 200ms · 0 erreur</a:t>
            </a:r>
            <a:endParaRPr lang="en-US" sz="1100" dirty="0"/>
          </a:p>
        </p:txBody>
      </p:sp>
      <p:sp>
        <p:nvSpPr>
          <p:cNvPr id="21" name="Text 19"/>
          <p:cNvSpPr/>
          <p:nvPr/>
        </p:nvSpPr>
        <p:spPr>
          <a:xfrm>
            <a:off x="4480560" y="4837176"/>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0 CVE Critical (Trivy)</a:t>
            </a:r>
            <a:endParaRPr lang="en-US" sz="1100" dirty="0"/>
          </a:p>
        </p:txBody>
      </p:sp>
      <p:sp>
        <p:nvSpPr>
          <p:cNvPr id="22" name="Text 20"/>
          <p:cNvSpPr/>
          <p:nvPr/>
        </p:nvSpPr>
        <p:spPr>
          <a:xfrm>
            <a:off x="4480560" y="5495544"/>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SonarCloud actif</a:t>
            </a:r>
            <a:endParaRPr lang="en-US" sz="1100" dirty="0"/>
          </a:p>
        </p:txBody>
      </p:sp>
      <p:sp>
        <p:nvSpPr>
          <p:cNvPr id="23" name="Shape 21"/>
          <p:cNvSpPr/>
          <p:nvPr/>
        </p:nvSpPr>
        <p:spPr>
          <a:xfrm>
            <a:off x="8229600" y="2743200"/>
            <a:ext cx="3657600" cy="3749040"/>
          </a:xfrm>
          <a:prstGeom prst="rect">
            <a:avLst>
              <a:gd name="adj" fmla="val 2000"/>
            </a:avLst>
          </a:prstGeom>
          <a:solidFill>
            <a:srgbClr val="2E1A1A"/>
          </a:solidFill>
          <a:ln w="19050">
            <a:solidFill>
              <a:srgbClr val="C0392B"/>
            </a:solidFill>
            <a:prstDash val="solid"/>
          </a:ln>
        </p:spPr>
      </p:sp>
      <p:sp>
        <p:nvSpPr>
          <p:cNvPr id="24" name="Text 22"/>
          <p:cNvSpPr/>
          <p:nvPr/>
        </p:nvSpPr>
        <p:spPr>
          <a:xfrm>
            <a:off x="8366760" y="2834640"/>
            <a:ext cx="3383280" cy="502920"/>
          </a:xfrm>
          <a:prstGeom prst="rect">
            <a:avLst/>
          </a:prstGeom>
          <a:noFill/>
          <a:ln/>
        </p:spPr>
        <p:txBody>
          <a:bodyPr wrap="square"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 Perspective v2</a:t>
            </a:r>
            <a:endParaRPr lang="en-US" sz="1400" dirty="0"/>
          </a:p>
        </p:txBody>
      </p:sp>
      <p:sp>
        <p:nvSpPr>
          <p:cNvPr id="25" name="Shape 23"/>
          <p:cNvSpPr/>
          <p:nvPr/>
        </p:nvSpPr>
        <p:spPr>
          <a:xfrm>
            <a:off x="8686800" y="3383280"/>
            <a:ext cx="2743200" cy="45720"/>
          </a:xfrm>
          <a:prstGeom prst="rect">
            <a:avLst/>
          </a:prstGeom>
          <a:solidFill>
            <a:srgbClr val="C0392B"/>
          </a:solidFill>
          <a:ln/>
        </p:spPr>
      </p:sp>
      <p:sp>
        <p:nvSpPr>
          <p:cNvPr id="26" name="Text 24"/>
          <p:cNvSpPr/>
          <p:nvPr/>
        </p:nvSpPr>
        <p:spPr>
          <a:xfrm>
            <a:off x="8412480" y="3520440"/>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PostgreSQL + RabbitMQ</a:t>
            </a:r>
            <a:endParaRPr lang="en-US" sz="1100" dirty="0"/>
          </a:p>
        </p:txBody>
      </p:sp>
      <p:sp>
        <p:nvSpPr>
          <p:cNvPr id="27" name="Text 25"/>
          <p:cNvSpPr/>
          <p:nvPr/>
        </p:nvSpPr>
        <p:spPr>
          <a:xfrm>
            <a:off x="8412480" y="4178808"/>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WAF + DAST pipeline</a:t>
            </a:r>
            <a:endParaRPr lang="en-US" sz="1100" dirty="0"/>
          </a:p>
        </p:txBody>
      </p:sp>
      <p:sp>
        <p:nvSpPr>
          <p:cNvPr id="28" name="Text 26"/>
          <p:cNvSpPr/>
          <p:nvPr/>
        </p:nvSpPr>
        <p:spPr>
          <a:xfrm>
            <a:off x="8412480" y="4837176"/>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Kubernetes en production</a:t>
            </a:r>
            <a:endParaRPr lang="en-US" sz="1100" dirty="0"/>
          </a:p>
        </p:txBody>
      </p:sp>
      <p:sp>
        <p:nvSpPr>
          <p:cNvPr id="29" name="Text 27"/>
          <p:cNvSpPr/>
          <p:nvPr/>
        </p:nvSpPr>
        <p:spPr>
          <a:xfrm>
            <a:off x="8412480" y="5495544"/>
            <a:ext cx="3291840" cy="548640"/>
          </a:xfrm>
          <a:prstGeom prst="rect">
            <a:avLst/>
          </a:prstGeom>
          <a:noFill/>
          <a:ln/>
        </p:spPr>
        <p:txBody>
          <a:bodyPr wrap="square" rtlCol="0" anchor="ctr"/>
          <a:lstStyle/>
          <a:p>
            <a:pPr indent="0" marL="0">
              <a:buNone/>
            </a:pPr>
            <a:r>
              <a:rPr lang="en-US" sz="1100" dirty="0">
                <a:solidFill>
                  <a:srgbClr val="F0F0F0"/>
                </a:solidFill>
                <a:latin typeface="Calibri" pitchFamily="34" charset="0"/>
                <a:ea typeface="Calibri" pitchFamily="34" charset="-122"/>
                <a:cs typeface="Calibri" pitchFamily="34" charset="-120"/>
              </a:rPr>
              <a:t>▸  Espace communautaire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457200" cy="6858000"/>
          </a:xfrm>
          <a:prstGeom prst="rect">
            <a:avLst/>
          </a:prstGeom>
          <a:solidFill>
            <a:srgbClr val="C0392B"/>
          </a:solidFill>
          <a:ln/>
        </p:spPr>
      </p:sp>
      <p:sp>
        <p:nvSpPr>
          <p:cNvPr id="3" name="Text 1"/>
          <p:cNvSpPr/>
          <p:nvPr/>
        </p:nvSpPr>
        <p:spPr>
          <a:xfrm>
            <a:off x="731520" y="1097280"/>
            <a:ext cx="10058400" cy="1828800"/>
          </a:xfrm>
          <a:prstGeom prst="rect">
            <a:avLst/>
          </a:prstGeom>
          <a:noFill/>
          <a:ln/>
        </p:spPr>
        <p:txBody>
          <a:bodyPr wrap="square" rtlCol="0" anchor="ctr"/>
          <a:lstStyle/>
          <a:p>
            <a:pPr indent="0" marL="0">
              <a:buNone/>
            </a:pPr>
            <a:r>
              <a:rPr lang="en-US" sz="7200" b="1" dirty="0">
                <a:solidFill>
                  <a:srgbClr val="F0F0F0"/>
                </a:solidFill>
                <a:latin typeface="Georgia" pitchFamily="34" charset="0"/>
                <a:ea typeface="Georgia" pitchFamily="34" charset="-122"/>
                <a:cs typeface="Georgia" pitchFamily="34" charset="-120"/>
              </a:rPr>
              <a:t>Merci</a:t>
            </a:r>
            <a:endParaRPr lang="en-US" sz="7200" dirty="0"/>
          </a:p>
        </p:txBody>
      </p:sp>
      <p:sp>
        <p:nvSpPr>
          <p:cNvPr id="4" name="Shape 2"/>
          <p:cNvSpPr/>
          <p:nvPr/>
        </p:nvSpPr>
        <p:spPr>
          <a:xfrm>
            <a:off x="731520" y="3108960"/>
            <a:ext cx="4572000" cy="54864"/>
          </a:xfrm>
          <a:prstGeom prst="rect">
            <a:avLst/>
          </a:prstGeom>
          <a:solidFill>
            <a:srgbClr val="C0392B"/>
          </a:solidFill>
          <a:ln/>
        </p:spPr>
      </p:sp>
      <p:sp>
        <p:nvSpPr>
          <p:cNvPr id="5" name="Text 3"/>
          <p:cNvSpPr/>
          <p:nvPr/>
        </p:nvSpPr>
        <p:spPr>
          <a:xfrm>
            <a:off x="731520" y="3291840"/>
            <a:ext cx="7315200" cy="822960"/>
          </a:xfrm>
          <a:prstGeom prst="rect">
            <a:avLst/>
          </a:prstGeom>
          <a:noFill/>
          <a:ln/>
        </p:spPr>
        <p:txBody>
          <a:bodyPr wrap="square" rtlCol="0" anchor="ctr"/>
          <a:lstStyle/>
          <a:p>
            <a:pPr indent="0" marL="0">
              <a:buNone/>
            </a:pPr>
            <a:r>
              <a:rPr lang="en-US" sz="3000" i="1" dirty="0">
                <a:solidFill>
                  <a:srgbClr val="B2B2B2"/>
                </a:solidFill>
                <a:latin typeface="Georgia" pitchFamily="34" charset="0"/>
                <a:ea typeface="Georgia" pitchFamily="34" charset="-122"/>
                <a:cs typeface="Georgia" pitchFamily="34" charset="-120"/>
              </a:rPr>
              <a:t>Questions ?</a:t>
            </a:r>
            <a:endParaRPr lang="en-US" sz="3000" dirty="0"/>
          </a:p>
        </p:txBody>
      </p:sp>
      <p:sp>
        <p:nvSpPr>
          <p:cNvPr id="6" name="Text 4"/>
          <p:cNvSpPr/>
          <p:nvPr/>
        </p:nvSpPr>
        <p:spPr>
          <a:xfrm>
            <a:off x="731520" y="4389120"/>
            <a:ext cx="9144000" cy="411480"/>
          </a:xfrm>
          <a:prstGeom prst="rect">
            <a:avLst/>
          </a:prstGeom>
          <a:noFill/>
          <a:ln/>
        </p:spPr>
        <p:txBody>
          <a:bodyPr wrap="square" rtlCol="0" anchor="ctr"/>
          <a:lstStyle/>
          <a:p>
            <a:pPr indent="0" marL="0">
              <a:buNone/>
            </a:pPr>
            <a:r>
              <a:rPr lang="en-US" sz="1300" dirty="0">
                <a:solidFill>
                  <a:srgbClr val="F39C12"/>
                </a:solidFill>
                <a:latin typeface="Calibri" pitchFamily="34" charset="0"/>
                <a:ea typeface="Calibri" pitchFamily="34" charset="-122"/>
                <a:cs typeface="Calibri" pitchFamily="34" charset="-120"/>
              </a:rPr>
              <a:t>🔗  github.com/Brok3nWings/lpmde</a:t>
            </a:r>
            <a:endParaRPr lang="en-US" sz="1300" dirty="0"/>
          </a:p>
        </p:txBody>
      </p:sp>
      <p:sp>
        <p:nvSpPr>
          <p:cNvPr id="7" name="Text 5"/>
          <p:cNvSpPr/>
          <p:nvPr/>
        </p:nvSpPr>
        <p:spPr>
          <a:xfrm>
            <a:off x="731520" y="4892040"/>
            <a:ext cx="9144000" cy="411480"/>
          </a:xfrm>
          <a:prstGeom prst="rect">
            <a:avLst/>
          </a:prstGeom>
          <a:noFill/>
          <a:ln/>
        </p:spPr>
        <p:txBody>
          <a:bodyPr wrap="square" rtlCol="0" anchor="ctr"/>
          <a:lstStyle/>
          <a:p>
            <a:pPr indent="0" marL="0">
              <a:buNone/>
            </a:pPr>
            <a:r>
              <a:rPr lang="en-US" sz="1300" dirty="0">
                <a:solidFill>
                  <a:srgbClr val="F39C12"/>
                </a:solidFill>
                <a:latin typeface="Calibri" pitchFamily="34" charset="0"/>
                <a:ea typeface="Calibri" pitchFamily="34" charset="-122"/>
                <a:cs typeface="Calibri" pitchFamily="34" charset="-120"/>
              </a:rPr>
              <a:t>🖥  Staging : http://localhost:8089</a:t>
            </a:r>
            <a:endParaRPr lang="en-US" sz="1300" dirty="0"/>
          </a:p>
        </p:txBody>
      </p:sp>
      <p:sp>
        <p:nvSpPr>
          <p:cNvPr id="8" name="Text 6"/>
          <p:cNvSpPr/>
          <p:nvPr/>
        </p:nvSpPr>
        <p:spPr>
          <a:xfrm>
            <a:off x="731520" y="5394960"/>
            <a:ext cx="9144000" cy="411480"/>
          </a:xfrm>
          <a:prstGeom prst="rect">
            <a:avLst/>
          </a:prstGeom>
          <a:noFill/>
          <a:ln/>
        </p:spPr>
        <p:txBody>
          <a:bodyPr wrap="square" rtlCol="0" anchor="ctr"/>
          <a:lstStyle/>
          <a:p>
            <a:pPr indent="0" marL="0">
              <a:buNone/>
            </a:pPr>
            <a:r>
              <a:rPr lang="en-US" sz="1300" dirty="0">
                <a:solidFill>
                  <a:srgbClr val="F39C12"/>
                </a:solidFill>
                <a:latin typeface="Calibri" pitchFamily="34" charset="0"/>
                <a:ea typeface="Calibri" pitchFamily="34" charset="-122"/>
                <a:cs typeface="Calibri" pitchFamily="34" charset="-120"/>
              </a:rPr>
              <a:t>🚀  Production : http://localhost:8088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2026-03-13T14:25:44Z</dcterms:created>
  <dcterms:modified xsi:type="dcterms:W3CDTF">2026-03-13T14:25:44Z</dcterms:modified>
</cp:coreProperties>
</file>